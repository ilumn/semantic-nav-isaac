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_rels/presentation.xml.rels" ContentType="application/vnd.openxmlformats-package.relationship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0A114833-D764-474E-9747-5B0A8021BE1E}"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 name="PlaceHolder 2"/>
          <p:cNvSpPr>
            <a:spLocks noGrp="1"/>
          </p:cNvSpPr>
          <p:nvPr>
            <p:ph type="subTitle"/>
          </p:nvPr>
        </p:nvSpPr>
        <p:spPr>
          <a:xfrm>
            <a:off x="504000" y="1326600"/>
            <a:ext cx="9071640" cy="328824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34F992D7-2167-4DB3-8111-65868A8AB64D}" type="slidenum">
              <a:t>&lt;#&gt;</a:t>
            </a:fld>
          </a:p>
        </p:txBody>
      </p:sp>
      <p:sp>
        <p:nvSpPr>
          <p:cNvPr id="6" name="PlaceHolder 5"/>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
        <p:nvSpPr>
          <p:cNvPr id="2" name="PlaceHolder 3"/>
          <p:cNvSpPr>
            <a:spLocks noGrp="1"/>
          </p:cNvSpPr>
          <p:nvPr>
            <p:ph type="dt" idx="1"/>
          </p:nvPr>
        </p:nvSpPr>
        <p:spPr>
          <a:xfrm>
            <a:off x="504000" y="5165280"/>
            <a:ext cx="2348280" cy="3906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 name="PlaceHolder 4"/>
          <p:cNvSpPr>
            <a:spLocks noGrp="1"/>
          </p:cNvSpPr>
          <p:nvPr>
            <p:ph type="ftr" idx="2"/>
          </p:nvPr>
        </p:nvSpPr>
        <p:spPr>
          <a:xfrm>
            <a:off x="3447360" y="5165280"/>
            <a:ext cx="3195000" cy="390600"/>
          </a:xfrm>
          <a:prstGeom prst="rect">
            <a:avLst/>
          </a:prstGeom>
          <a:noFill/>
          <a:ln w="0">
            <a:noFill/>
          </a:ln>
        </p:spPr>
        <p:txBody>
          <a:bodyPr lIns="0" rIns="0" tIns="0" bIns="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 name="PlaceHolder 5"/>
          <p:cNvSpPr>
            <a:spLocks noGrp="1"/>
          </p:cNvSpPr>
          <p:nvPr>
            <p:ph type="sldNum" idx="3"/>
          </p:nvPr>
        </p:nvSpPr>
        <p:spPr>
          <a:xfrm>
            <a:off x="7227360" y="5165280"/>
            <a:ext cx="2348280" cy="39060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fld id="{D4EADF03-CAA3-485E-9E1A-0E2CDDA058E1}"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
          <p:cNvSpPr/>
          <p:nvPr/>
        </p:nvSpPr>
        <p:spPr>
          <a:xfrm>
            <a:off x="0" y="0"/>
            <a:ext cx="12192120" cy="6858000"/>
          </a:xfrm>
          <a:prstGeom prst="rect">
            <a:avLst/>
          </a:prstGeom>
          <a:solidFill>
            <a:srgbClr val="17211f"/>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8" name=""/>
          <p:cNvSpPr/>
          <p:nvPr/>
        </p:nvSpPr>
        <p:spPr>
          <a:xfrm>
            <a:off x="7668000" y="0"/>
            <a:ext cx="4524120" cy="6858000"/>
          </a:xfrm>
          <a:prstGeom prst="rect">
            <a:avLst/>
          </a:prstGeom>
          <a:solidFill>
            <a:srgbClr val="22312e"/>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9" name=""/>
          <p:cNvSpPr txBox="1"/>
          <p:nvPr/>
        </p:nvSpPr>
        <p:spPr>
          <a:xfrm>
            <a:off x="540000" y="306000"/>
            <a:ext cx="3240000" cy="228600"/>
          </a:xfrm>
          <a:prstGeom prst="rect">
            <a:avLst/>
          </a:prstGeom>
          <a:noFill/>
          <a:ln w="0">
            <a:noFill/>
          </a:ln>
        </p:spPr>
        <p:txBody>
          <a:bodyPr lIns="43200" rIns="43200" tIns="43200" bIns="43200" anchor="t">
            <a:noAutofit/>
          </a:bodyPr>
          <a:p>
            <a:r>
              <a:rPr b="1" lang="en-US" sz="1000" spc="-1" strike="noStrike">
                <a:solidFill>
                  <a:srgbClr val="ddeae4"/>
                </a:solidFill>
                <a:latin typeface="Arial"/>
              </a:rPr>
              <a:t>SEMANTIC NAVIGATION</a:t>
            </a:r>
            <a:endParaRPr b="0" lang="en-US" sz="1000" spc="-1" strike="noStrike">
              <a:solidFill>
                <a:srgbClr val="000000"/>
              </a:solidFill>
              <a:latin typeface="Arial"/>
            </a:endParaRPr>
          </a:p>
        </p:txBody>
      </p:sp>
      <p:sp>
        <p:nvSpPr>
          <p:cNvPr id="10" name=""/>
          <p:cNvSpPr txBox="1"/>
          <p:nvPr/>
        </p:nvSpPr>
        <p:spPr>
          <a:xfrm>
            <a:off x="540000" y="540000"/>
            <a:ext cx="7560000" cy="998280"/>
          </a:xfrm>
          <a:prstGeom prst="rect">
            <a:avLst/>
          </a:prstGeom>
          <a:noFill/>
          <a:ln w="0">
            <a:noFill/>
          </a:ln>
        </p:spPr>
        <p:txBody>
          <a:bodyPr lIns="43200" rIns="43200" tIns="43200" bIns="43200" anchor="t">
            <a:noAutofit/>
          </a:bodyPr>
          <a:p>
            <a:r>
              <a:rPr b="1" lang="en-US" sz="3200" spc="-1" strike="noStrike">
                <a:solidFill>
                  <a:srgbClr val="ffffff"/>
                </a:solidFill>
                <a:latin typeface="Arial"/>
              </a:rPr>
              <a:t>Semantic navigation from live robot perception</a:t>
            </a:r>
            <a:endParaRPr b="0" lang="en-US" sz="3200" spc="-1" strike="noStrike">
              <a:solidFill>
                <a:srgbClr val="000000"/>
              </a:solidFill>
              <a:latin typeface="Arial"/>
            </a:endParaRPr>
          </a:p>
        </p:txBody>
      </p:sp>
      <p:sp>
        <p:nvSpPr>
          <p:cNvPr id="11" name=""/>
          <p:cNvSpPr txBox="1"/>
          <p:nvPr/>
        </p:nvSpPr>
        <p:spPr>
          <a:xfrm>
            <a:off x="547200" y="1051200"/>
            <a:ext cx="6660000" cy="510120"/>
          </a:xfrm>
          <a:prstGeom prst="rect">
            <a:avLst/>
          </a:prstGeom>
          <a:noFill/>
          <a:ln w="0">
            <a:noFill/>
          </a:ln>
        </p:spPr>
        <p:txBody>
          <a:bodyPr lIns="43200" rIns="43200" tIns="43200" bIns="43200" anchor="t">
            <a:noAutofit/>
          </a:bodyPr>
          <a:p>
            <a:r>
              <a:rPr b="0" lang="en-US" sz="1500" spc="-1" strike="noStrike">
                <a:solidFill>
                  <a:srgbClr val="c7d2ce"/>
                </a:solidFill>
                <a:latin typeface="Arial"/>
              </a:rPr>
              <a:t>A layered ROS 2 stack for building queryable semantic maps from camera, LiDAR, TF, and memory.</a:t>
            </a:r>
            <a:endParaRPr b="0" lang="en-US" sz="1500" spc="-1" strike="noStrike">
              <a:solidFill>
                <a:srgbClr val="000000"/>
              </a:solidFill>
              <a:latin typeface="Arial"/>
            </a:endParaRPr>
          </a:p>
        </p:txBody>
      </p:sp>
      <p:sp>
        <p:nvSpPr>
          <p:cNvPr id="12" name=""/>
          <p:cNvSpPr txBox="1"/>
          <p:nvPr/>
        </p:nvSpPr>
        <p:spPr>
          <a:xfrm>
            <a:off x="558000" y="1836000"/>
            <a:ext cx="1620000" cy="277200"/>
          </a:xfrm>
          <a:prstGeom prst="rect">
            <a:avLst/>
          </a:prstGeom>
          <a:solidFill>
            <a:srgbClr val="29443f"/>
          </a:solidFill>
          <a:ln w="9000">
            <a:solidFill>
              <a:srgbClr val="29443f"/>
            </a:solidFill>
            <a:round/>
          </a:ln>
        </p:spPr>
        <p:txBody>
          <a:bodyPr lIns="57600" rIns="57600" tIns="57600" bIns="57600" anchor="t">
            <a:noAutofit/>
          </a:bodyPr>
          <a:p>
            <a:r>
              <a:rPr b="1" lang="en-US" sz="1100" spc="-1" strike="noStrike">
                <a:solidFill>
                  <a:srgbClr val="ffffff"/>
                </a:solidFill>
                <a:latin typeface="Arial"/>
              </a:rPr>
              <a:t>no mock detections</a:t>
            </a:r>
            <a:endParaRPr b="0" lang="en-US" sz="1100" spc="-1" strike="noStrike">
              <a:solidFill>
                <a:srgbClr val="ffffff"/>
              </a:solidFill>
              <a:latin typeface="Arial"/>
            </a:endParaRPr>
          </a:p>
        </p:txBody>
      </p:sp>
      <p:sp>
        <p:nvSpPr>
          <p:cNvPr id="13" name=""/>
          <p:cNvSpPr txBox="1"/>
          <p:nvPr/>
        </p:nvSpPr>
        <p:spPr>
          <a:xfrm>
            <a:off x="2286000" y="1836000"/>
            <a:ext cx="1620000" cy="277200"/>
          </a:xfrm>
          <a:prstGeom prst="rect">
            <a:avLst/>
          </a:prstGeom>
          <a:solidFill>
            <a:srgbClr val="2c4058"/>
          </a:solidFill>
          <a:ln w="9000">
            <a:solidFill>
              <a:srgbClr val="2c4058"/>
            </a:solidFill>
            <a:round/>
          </a:ln>
        </p:spPr>
        <p:txBody>
          <a:bodyPr lIns="57600" rIns="57600" tIns="57600" bIns="57600" anchor="t">
            <a:noAutofit/>
          </a:bodyPr>
          <a:p>
            <a:r>
              <a:rPr b="1" lang="en-US" sz="1100" spc="-1" strike="noStrike">
                <a:solidFill>
                  <a:srgbClr val="ffffff"/>
                </a:solidFill>
                <a:latin typeface="Arial"/>
              </a:rPr>
              <a:t>semantic memory</a:t>
            </a:r>
            <a:endParaRPr b="0" lang="en-US" sz="1100" spc="-1" strike="noStrike">
              <a:solidFill>
                <a:srgbClr val="ffffff"/>
              </a:solidFill>
              <a:latin typeface="Arial"/>
            </a:endParaRPr>
          </a:p>
        </p:txBody>
      </p:sp>
      <p:sp>
        <p:nvSpPr>
          <p:cNvPr id="14" name=""/>
          <p:cNvSpPr txBox="1"/>
          <p:nvPr/>
        </p:nvSpPr>
        <p:spPr>
          <a:xfrm>
            <a:off x="4014000" y="1836000"/>
            <a:ext cx="1620000" cy="277200"/>
          </a:xfrm>
          <a:prstGeom prst="rect">
            <a:avLst/>
          </a:prstGeom>
          <a:solidFill>
            <a:srgbClr val="533b32"/>
          </a:solidFill>
          <a:ln w="9000">
            <a:solidFill>
              <a:srgbClr val="533b32"/>
            </a:solidFill>
            <a:round/>
          </a:ln>
        </p:spPr>
        <p:txBody>
          <a:bodyPr lIns="57600" rIns="57600" tIns="57600" bIns="57600" anchor="t">
            <a:noAutofit/>
          </a:bodyPr>
          <a:p>
            <a:r>
              <a:rPr b="1" lang="en-US" sz="1100" spc="-1" strike="noStrike">
                <a:solidFill>
                  <a:srgbClr val="ffffff"/>
                </a:solidFill>
                <a:latin typeface="Arial"/>
              </a:rPr>
              <a:t>Nav2 integration</a:t>
            </a:r>
            <a:endParaRPr b="0" lang="en-US" sz="1100" spc="-1" strike="noStrike">
              <a:solidFill>
                <a:srgbClr val="ffffff"/>
              </a:solidFill>
              <a:latin typeface="Arial"/>
            </a:endParaRPr>
          </a:p>
        </p:txBody>
      </p:sp>
      <p:sp>
        <p:nvSpPr>
          <p:cNvPr id="15" name=""/>
          <p:cNvSpPr/>
          <p:nvPr/>
        </p:nvSpPr>
        <p:spPr>
          <a:xfrm>
            <a:off x="8136000" y="1188000"/>
            <a:ext cx="2736000" cy="504000"/>
          </a:xfrm>
          <a:prstGeom prst="rect">
            <a:avLst/>
          </a:prstGeom>
          <a:solidFill>
            <a:srgbClr val="22312e"/>
          </a:solidFill>
          <a:ln w="7920">
            <a:solidFill>
              <a:srgbClr val="3d4d49"/>
            </a:solidFill>
            <a:round/>
          </a:ln>
        </p:spPr>
        <p:txBody>
          <a:bodyPr lIns="93960" rIns="93960" tIns="48960" bIns="48960" anchor="ctr" anchorCtr="1">
            <a:noAutofit/>
          </a:bodyPr>
          <a:p>
            <a:endParaRPr b="0" lang="en-US" sz="1800" spc="-1" strike="noStrike">
              <a:solidFill>
                <a:srgbClr val="ffffff"/>
              </a:solidFill>
              <a:latin typeface="Arial"/>
            </a:endParaRPr>
          </a:p>
        </p:txBody>
      </p:sp>
      <p:sp>
        <p:nvSpPr>
          <p:cNvPr id="16" name=""/>
          <p:cNvSpPr/>
          <p:nvPr/>
        </p:nvSpPr>
        <p:spPr>
          <a:xfrm>
            <a:off x="8254800" y="1328400"/>
            <a:ext cx="223200" cy="223200"/>
          </a:xfrm>
          <a:prstGeom prst="ellipse">
            <a:avLst/>
          </a:prstGeom>
          <a:solidFill>
            <a:srgbClr val="0f6b5d"/>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7" name=""/>
          <p:cNvSpPr txBox="1"/>
          <p:nvPr/>
        </p:nvSpPr>
        <p:spPr>
          <a:xfrm>
            <a:off x="8539200" y="1281600"/>
            <a:ext cx="2246400" cy="298440"/>
          </a:xfrm>
          <a:prstGeom prst="rect">
            <a:avLst/>
          </a:prstGeom>
          <a:noFill/>
          <a:ln w="0">
            <a:noFill/>
          </a:ln>
        </p:spPr>
        <p:txBody>
          <a:bodyPr lIns="43200" rIns="43200" tIns="43200" bIns="43200" anchor="t">
            <a:noAutofit/>
          </a:bodyPr>
          <a:p>
            <a:r>
              <a:rPr b="1" lang="en-US" sz="1500" spc="-1" strike="noStrike">
                <a:solidFill>
                  <a:srgbClr val="ffffff"/>
                </a:solidFill>
                <a:latin typeface="Arial"/>
              </a:rPr>
              <a:t>Camera</a:t>
            </a:r>
            <a:endParaRPr b="0" lang="en-US" sz="1500" spc="-1" strike="noStrike">
              <a:solidFill>
                <a:srgbClr val="000000"/>
              </a:solidFill>
              <a:latin typeface="Arial"/>
            </a:endParaRPr>
          </a:p>
        </p:txBody>
      </p:sp>
      <p:sp>
        <p:nvSpPr>
          <p:cNvPr id="18" name=""/>
          <p:cNvSpPr txBox="1"/>
          <p:nvPr/>
        </p:nvSpPr>
        <p:spPr>
          <a:xfrm>
            <a:off x="8539200" y="1447200"/>
            <a:ext cx="2246400" cy="228600"/>
          </a:xfrm>
          <a:prstGeom prst="rect">
            <a:avLst/>
          </a:prstGeom>
          <a:noFill/>
          <a:ln w="0">
            <a:noFill/>
          </a:ln>
        </p:spPr>
        <p:txBody>
          <a:bodyPr lIns="43200" rIns="43200" tIns="43200" bIns="43200" anchor="t">
            <a:noAutofit/>
          </a:bodyPr>
          <a:p>
            <a:r>
              <a:rPr b="0" lang="en-US" sz="1000" spc="-1" strike="noStrike">
                <a:solidFill>
                  <a:srgbClr val="c7d2ce"/>
                </a:solidFill>
                <a:latin typeface="Arial"/>
              </a:rPr>
              <a:t>RGB detections</a:t>
            </a:r>
            <a:endParaRPr b="0" lang="en-US" sz="1000" spc="-1" strike="noStrike">
              <a:solidFill>
                <a:srgbClr val="000000"/>
              </a:solidFill>
              <a:latin typeface="Arial"/>
            </a:endParaRPr>
          </a:p>
        </p:txBody>
      </p:sp>
      <p:sp>
        <p:nvSpPr>
          <p:cNvPr id="19" name=""/>
          <p:cNvSpPr/>
          <p:nvPr/>
        </p:nvSpPr>
        <p:spPr>
          <a:xfrm>
            <a:off x="9504000" y="1692000"/>
            <a:ext cx="0" cy="324000"/>
          </a:xfrm>
          <a:prstGeom prst="line">
            <a:avLst/>
          </a:prstGeom>
          <a:ln w="16200">
            <a:solidFill>
              <a:srgbClr val="53635f"/>
            </a:solidFill>
            <a:round/>
          </a:ln>
        </p:spPr>
        <p:style>
          <a:lnRef idx="0"/>
          <a:fillRef idx="0"/>
          <a:effectRef idx="0"/>
          <a:fontRef idx="minor"/>
        </p:style>
        <p:txBody>
          <a:bodyPr lIns="97920" rIns="97920" tIns="52920" bIns="52920" anchor="ctr" anchorCtr="1">
            <a:noAutofit/>
          </a:bodyPr>
          <a:p>
            <a:endParaRPr b="0" lang="en-US" sz="1800" spc="-1" strike="noStrike">
              <a:solidFill>
                <a:srgbClr val="000000"/>
              </a:solidFill>
              <a:latin typeface="Arial"/>
            </a:endParaRPr>
          </a:p>
        </p:txBody>
      </p:sp>
      <p:sp>
        <p:nvSpPr>
          <p:cNvPr id="20" name=""/>
          <p:cNvSpPr/>
          <p:nvPr/>
        </p:nvSpPr>
        <p:spPr>
          <a:xfrm>
            <a:off x="8136000" y="2088000"/>
            <a:ext cx="2736000" cy="504000"/>
          </a:xfrm>
          <a:prstGeom prst="rect">
            <a:avLst/>
          </a:prstGeom>
          <a:solidFill>
            <a:srgbClr val="22312e"/>
          </a:solidFill>
          <a:ln w="7920">
            <a:solidFill>
              <a:srgbClr val="3d4d49"/>
            </a:solidFill>
            <a:round/>
          </a:ln>
        </p:spPr>
        <p:txBody>
          <a:bodyPr lIns="93960" rIns="93960" tIns="48960" bIns="48960" anchor="ctr" anchorCtr="1">
            <a:noAutofit/>
          </a:bodyPr>
          <a:p>
            <a:endParaRPr b="0" lang="en-US" sz="1800" spc="-1" strike="noStrike">
              <a:solidFill>
                <a:srgbClr val="ffffff"/>
              </a:solidFill>
              <a:latin typeface="Arial"/>
            </a:endParaRPr>
          </a:p>
        </p:txBody>
      </p:sp>
      <p:sp>
        <p:nvSpPr>
          <p:cNvPr id="21" name=""/>
          <p:cNvSpPr/>
          <p:nvPr/>
        </p:nvSpPr>
        <p:spPr>
          <a:xfrm>
            <a:off x="8254800" y="2228400"/>
            <a:ext cx="223200" cy="223200"/>
          </a:xfrm>
          <a:prstGeom prst="ellipse">
            <a:avLst/>
          </a:prstGeom>
          <a:solidFill>
            <a:srgbClr val="315e8a"/>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2" name=""/>
          <p:cNvSpPr txBox="1"/>
          <p:nvPr/>
        </p:nvSpPr>
        <p:spPr>
          <a:xfrm>
            <a:off x="8539200" y="2181600"/>
            <a:ext cx="2246400" cy="298440"/>
          </a:xfrm>
          <a:prstGeom prst="rect">
            <a:avLst/>
          </a:prstGeom>
          <a:noFill/>
          <a:ln w="0">
            <a:noFill/>
          </a:ln>
        </p:spPr>
        <p:txBody>
          <a:bodyPr lIns="43200" rIns="43200" tIns="43200" bIns="43200" anchor="t">
            <a:noAutofit/>
          </a:bodyPr>
          <a:p>
            <a:r>
              <a:rPr b="1" lang="en-US" sz="1500" spc="-1" strike="noStrike">
                <a:solidFill>
                  <a:srgbClr val="ffffff"/>
                </a:solidFill>
                <a:latin typeface="Arial"/>
              </a:rPr>
              <a:t>LiDAR</a:t>
            </a:r>
            <a:endParaRPr b="0" lang="en-US" sz="1500" spc="-1" strike="noStrike">
              <a:solidFill>
                <a:srgbClr val="000000"/>
              </a:solidFill>
              <a:latin typeface="Arial"/>
            </a:endParaRPr>
          </a:p>
        </p:txBody>
      </p:sp>
      <p:sp>
        <p:nvSpPr>
          <p:cNvPr id="23" name=""/>
          <p:cNvSpPr txBox="1"/>
          <p:nvPr/>
        </p:nvSpPr>
        <p:spPr>
          <a:xfrm>
            <a:off x="8539200" y="2347200"/>
            <a:ext cx="2246400" cy="228600"/>
          </a:xfrm>
          <a:prstGeom prst="rect">
            <a:avLst/>
          </a:prstGeom>
          <a:noFill/>
          <a:ln w="0">
            <a:noFill/>
          </a:ln>
        </p:spPr>
        <p:txBody>
          <a:bodyPr lIns="43200" rIns="43200" tIns="43200" bIns="43200" anchor="t">
            <a:noAutofit/>
          </a:bodyPr>
          <a:p>
            <a:r>
              <a:rPr b="0" lang="en-US" sz="1000" spc="-1" strike="noStrike">
                <a:solidFill>
                  <a:srgbClr val="c7d2ce"/>
                </a:solidFill>
                <a:latin typeface="Arial"/>
              </a:rPr>
              <a:t>2D grounding</a:t>
            </a:r>
            <a:endParaRPr b="0" lang="en-US" sz="1000" spc="-1" strike="noStrike">
              <a:solidFill>
                <a:srgbClr val="000000"/>
              </a:solidFill>
              <a:latin typeface="Arial"/>
            </a:endParaRPr>
          </a:p>
        </p:txBody>
      </p:sp>
      <p:sp>
        <p:nvSpPr>
          <p:cNvPr id="24" name=""/>
          <p:cNvSpPr/>
          <p:nvPr/>
        </p:nvSpPr>
        <p:spPr>
          <a:xfrm>
            <a:off x="9504000" y="2592000"/>
            <a:ext cx="0" cy="324000"/>
          </a:xfrm>
          <a:prstGeom prst="line">
            <a:avLst/>
          </a:prstGeom>
          <a:ln w="16200">
            <a:solidFill>
              <a:srgbClr val="53635f"/>
            </a:solidFill>
            <a:round/>
          </a:ln>
        </p:spPr>
        <p:style>
          <a:lnRef idx="0"/>
          <a:fillRef idx="0"/>
          <a:effectRef idx="0"/>
          <a:fontRef idx="minor"/>
        </p:style>
        <p:txBody>
          <a:bodyPr lIns="97920" rIns="97920" tIns="52920" bIns="52920" anchor="ctr" anchorCtr="1">
            <a:noAutofit/>
          </a:bodyPr>
          <a:p>
            <a:endParaRPr b="0" lang="en-US" sz="1800" spc="-1" strike="noStrike">
              <a:solidFill>
                <a:srgbClr val="000000"/>
              </a:solidFill>
              <a:latin typeface="Arial"/>
            </a:endParaRPr>
          </a:p>
        </p:txBody>
      </p:sp>
      <p:sp>
        <p:nvSpPr>
          <p:cNvPr id="25" name=""/>
          <p:cNvSpPr/>
          <p:nvPr/>
        </p:nvSpPr>
        <p:spPr>
          <a:xfrm>
            <a:off x="8136000" y="2988000"/>
            <a:ext cx="2736000" cy="504000"/>
          </a:xfrm>
          <a:prstGeom prst="rect">
            <a:avLst/>
          </a:prstGeom>
          <a:solidFill>
            <a:srgbClr val="22312e"/>
          </a:solidFill>
          <a:ln w="7920">
            <a:solidFill>
              <a:srgbClr val="3d4d49"/>
            </a:solidFill>
            <a:round/>
          </a:ln>
        </p:spPr>
        <p:txBody>
          <a:bodyPr lIns="93960" rIns="93960" tIns="48960" bIns="48960" anchor="ctr" anchorCtr="1">
            <a:noAutofit/>
          </a:bodyPr>
          <a:p>
            <a:endParaRPr b="0" lang="en-US" sz="1800" spc="-1" strike="noStrike">
              <a:solidFill>
                <a:srgbClr val="ffffff"/>
              </a:solidFill>
              <a:latin typeface="Arial"/>
            </a:endParaRPr>
          </a:p>
        </p:txBody>
      </p:sp>
      <p:sp>
        <p:nvSpPr>
          <p:cNvPr id="26" name=""/>
          <p:cNvSpPr/>
          <p:nvPr/>
        </p:nvSpPr>
        <p:spPr>
          <a:xfrm>
            <a:off x="8254800" y="3128400"/>
            <a:ext cx="223200" cy="223200"/>
          </a:xfrm>
          <a:prstGeom prst="ellipse">
            <a:avLst/>
          </a:prstGeom>
          <a:solidFill>
            <a:srgbClr val="c76946"/>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7" name=""/>
          <p:cNvSpPr txBox="1"/>
          <p:nvPr/>
        </p:nvSpPr>
        <p:spPr>
          <a:xfrm>
            <a:off x="8539200" y="3081600"/>
            <a:ext cx="2246400" cy="298440"/>
          </a:xfrm>
          <a:prstGeom prst="rect">
            <a:avLst/>
          </a:prstGeom>
          <a:noFill/>
          <a:ln w="0">
            <a:noFill/>
          </a:ln>
        </p:spPr>
        <p:txBody>
          <a:bodyPr lIns="43200" rIns="43200" tIns="43200" bIns="43200" anchor="t">
            <a:noAutofit/>
          </a:bodyPr>
          <a:p>
            <a:r>
              <a:rPr b="1" lang="en-US" sz="1500" spc="-1" strike="noStrike">
                <a:solidFill>
                  <a:srgbClr val="ffffff"/>
                </a:solidFill>
                <a:latin typeface="Arial"/>
              </a:rPr>
              <a:t>Memory</a:t>
            </a:r>
            <a:endParaRPr b="0" lang="en-US" sz="1500" spc="-1" strike="noStrike">
              <a:solidFill>
                <a:srgbClr val="000000"/>
              </a:solidFill>
              <a:latin typeface="Arial"/>
            </a:endParaRPr>
          </a:p>
        </p:txBody>
      </p:sp>
      <p:sp>
        <p:nvSpPr>
          <p:cNvPr id="28" name=""/>
          <p:cNvSpPr txBox="1"/>
          <p:nvPr/>
        </p:nvSpPr>
        <p:spPr>
          <a:xfrm>
            <a:off x="8539200" y="3247200"/>
            <a:ext cx="2246400" cy="228600"/>
          </a:xfrm>
          <a:prstGeom prst="rect">
            <a:avLst/>
          </a:prstGeom>
          <a:noFill/>
          <a:ln w="0">
            <a:noFill/>
          </a:ln>
        </p:spPr>
        <p:txBody>
          <a:bodyPr lIns="43200" rIns="43200" tIns="43200" bIns="43200" anchor="t">
            <a:noAutofit/>
          </a:bodyPr>
          <a:p>
            <a:r>
              <a:rPr b="0" lang="en-US" sz="1000" spc="-1" strike="noStrike">
                <a:solidFill>
                  <a:srgbClr val="c7d2ce"/>
                </a:solidFill>
                <a:latin typeface="Arial"/>
              </a:rPr>
              <a:t>persistent map</a:t>
            </a:r>
            <a:endParaRPr b="0" lang="en-US" sz="1000" spc="-1" strike="noStrike">
              <a:solidFill>
                <a:srgbClr val="000000"/>
              </a:solidFill>
              <a:latin typeface="Arial"/>
            </a:endParaRPr>
          </a:p>
        </p:txBody>
      </p:sp>
      <p:sp>
        <p:nvSpPr>
          <p:cNvPr id="29" name=""/>
          <p:cNvSpPr/>
          <p:nvPr/>
        </p:nvSpPr>
        <p:spPr>
          <a:xfrm>
            <a:off x="9504000" y="3492000"/>
            <a:ext cx="0" cy="324000"/>
          </a:xfrm>
          <a:prstGeom prst="line">
            <a:avLst/>
          </a:prstGeom>
          <a:ln w="16200">
            <a:solidFill>
              <a:srgbClr val="53635f"/>
            </a:solidFill>
            <a:round/>
          </a:ln>
        </p:spPr>
        <p:style>
          <a:lnRef idx="0"/>
          <a:fillRef idx="0"/>
          <a:effectRef idx="0"/>
          <a:fontRef idx="minor"/>
        </p:style>
        <p:txBody>
          <a:bodyPr lIns="97920" rIns="97920" tIns="52920" bIns="52920" anchor="ctr" anchorCtr="1">
            <a:noAutofit/>
          </a:bodyPr>
          <a:p>
            <a:endParaRPr b="0" lang="en-US" sz="1800" spc="-1" strike="noStrike">
              <a:solidFill>
                <a:srgbClr val="000000"/>
              </a:solidFill>
              <a:latin typeface="Arial"/>
            </a:endParaRPr>
          </a:p>
        </p:txBody>
      </p:sp>
      <p:sp>
        <p:nvSpPr>
          <p:cNvPr id="30" name=""/>
          <p:cNvSpPr/>
          <p:nvPr/>
        </p:nvSpPr>
        <p:spPr>
          <a:xfrm>
            <a:off x="8136000" y="3888000"/>
            <a:ext cx="2736000" cy="504000"/>
          </a:xfrm>
          <a:prstGeom prst="rect">
            <a:avLst/>
          </a:prstGeom>
          <a:solidFill>
            <a:srgbClr val="22312e"/>
          </a:solidFill>
          <a:ln w="7920">
            <a:solidFill>
              <a:srgbClr val="3d4d49"/>
            </a:solidFill>
            <a:round/>
          </a:ln>
        </p:spPr>
        <p:txBody>
          <a:bodyPr lIns="93960" rIns="93960" tIns="48960" bIns="48960" anchor="ctr" anchorCtr="1">
            <a:noAutofit/>
          </a:bodyPr>
          <a:p>
            <a:endParaRPr b="0" lang="en-US" sz="1800" spc="-1" strike="noStrike">
              <a:solidFill>
                <a:srgbClr val="ffffff"/>
              </a:solidFill>
              <a:latin typeface="Arial"/>
            </a:endParaRPr>
          </a:p>
        </p:txBody>
      </p:sp>
      <p:sp>
        <p:nvSpPr>
          <p:cNvPr id="31" name=""/>
          <p:cNvSpPr/>
          <p:nvPr/>
        </p:nvSpPr>
        <p:spPr>
          <a:xfrm>
            <a:off x="8254800" y="4028400"/>
            <a:ext cx="223200" cy="223200"/>
          </a:xfrm>
          <a:prstGeom prst="ellipse">
            <a:avLst/>
          </a:prstGeom>
          <a:solidFill>
            <a:srgbClr val="0f6b5d"/>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32" name=""/>
          <p:cNvSpPr txBox="1"/>
          <p:nvPr/>
        </p:nvSpPr>
        <p:spPr>
          <a:xfrm>
            <a:off x="8539200" y="3981600"/>
            <a:ext cx="2246400" cy="298440"/>
          </a:xfrm>
          <a:prstGeom prst="rect">
            <a:avLst/>
          </a:prstGeom>
          <a:noFill/>
          <a:ln w="0">
            <a:noFill/>
          </a:ln>
        </p:spPr>
        <p:txBody>
          <a:bodyPr lIns="43200" rIns="43200" tIns="43200" bIns="43200" anchor="t">
            <a:noAutofit/>
          </a:bodyPr>
          <a:p>
            <a:r>
              <a:rPr b="1" lang="en-US" sz="1500" spc="-1" strike="noStrike">
                <a:solidFill>
                  <a:srgbClr val="ffffff"/>
                </a:solidFill>
                <a:latin typeface="Arial"/>
              </a:rPr>
              <a:t>Goal</a:t>
            </a:r>
            <a:endParaRPr b="0" lang="en-US" sz="1500" spc="-1" strike="noStrike">
              <a:solidFill>
                <a:srgbClr val="000000"/>
              </a:solidFill>
              <a:latin typeface="Arial"/>
            </a:endParaRPr>
          </a:p>
        </p:txBody>
      </p:sp>
      <p:sp>
        <p:nvSpPr>
          <p:cNvPr id="33" name=""/>
          <p:cNvSpPr txBox="1"/>
          <p:nvPr/>
        </p:nvSpPr>
        <p:spPr>
          <a:xfrm>
            <a:off x="8539200" y="4147200"/>
            <a:ext cx="2246400" cy="228600"/>
          </a:xfrm>
          <a:prstGeom prst="rect">
            <a:avLst/>
          </a:prstGeom>
          <a:noFill/>
          <a:ln w="0">
            <a:noFill/>
          </a:ln>
        </p:spPr>
        <p:txBody>
          <a:bodyPr lIns="43200" rIns="43200" tIns="43200" bIns="43200" anchor="t">
            <a:noAutofit/>
          </a:bodyPr>
          <a:p>
            <a:r>
              <a:rPr b="0" lang="en-US" sz="1000" spc="-1" strike="noStrike">
                <a:solidFill>
                  <a:srgbClr val="c7d2ce"/>
                </a:solidFill>
                <a:latin typeface="Arial"/>
              </a:rPr>
              <a:t>semantic query</a:t>
            </a:r>
            <a:endParaRPr b="0" lang="en-US" sz="1000" spc="-1" strike="noStrike">
              <a:solidFill>
                <a:srgbClr val="000000"/>
              </a:solidFill>
              <a:latin typeface="Arial"/>
            </a:endParaRPr>
          </a:p>
        </p:txBody>
      </p:sp>
      <p:sp>
        <p:nvSpPr>
          <p:cNvPr id="34" name=""/>
          <p:cNvSpPr txBox="1"/>
          <p:nvPr/>
        </p:nvSpPr>
        <p:spPr>
          <a:xfrm>
            <a:off x="576000" y="3096000"/>
            <a:ext cx="6084000" cy="1726560"/>
          </a:xfrm>
          <a:prstGeom prst="rect">
            <a:avLst/>
          </a:prstGeom>
          <a:noFill/>
          <a:ln w="0">
            <a:noFill/>
          </a:ln>
        </p:spPr>
        <p:txBody>
          <a:bodyPr lIns="43200" rIns="43200" tIns="43200" bIns="43200" anchor="t">
            <a:noAutofit/>
          </a:bodyPr>
          <a:p>
            <a:r>
              <a:rPr b="1" lang="en-US" sz="2300" spc="-1" strike="noStrike">
                <a:solidFill>
                  <a:srgbClr val="ffffff"/>
                </a:solidFill>
                <a:latin typeface="Arial"/>
              </a:rPr>
              <a:t>The system makes semantic navigation a runtime product of robot observation: what the robot sees, grounds, remembers, and relates becomes the map that downstream navigation uses.</a:t>
            </a:r>
            <a:endParaRPr b="0" lang="en-US" sz="2300" spc="-1" strike="noStrike">
              <a:solidFill>
                <a:srgbClr val="000000"/>
              </a:solidFill>
              <a:latin typeface="Arial"/>
            </a:endParaRPr>
          </a:p>
        </p:txBody>
      </p:sp>
      <p:sp>
        <p:nvSpPr>
          <p:cNvPr id="35" name=""/>
          <p:cNvSpPr/>
          <p:nvPr/>
        </p:nvSpPr>
        <p:spPr>
          <a:xfrm>
            <a:off x="540000" y="6433200"/>
            <a:ext cx="11088000" cy="0"/>
          </a:xfrm>
          <a:prstGeom prst="line">
            <a:avLst/>
          </a:prstGeom>
          <a:ln w="7200">
            <a:solidFill>
              <a:srgbClr val="52615e"/>
            </a:solidFill>
            <a:round/>
          </a:ln>
        </p:spPr>
        <p:style>
          <a:lnRef idx="0"/>
          <a:fillRef idx="0"/>
          <a:effectRef idx="0"/>
          <a:fontRef idx="minor"/>
        </p:style>
        <p:txBody>
          <a:bodyPr lIns="93600" rIns="93600" tIns="-48600" bIns="-48600" anchor="ctr" anchorCtr="1">
            <a:noAutofit/>
          </a:bodyPr>
          <a:p>
            <a:endParaRPr b="0" lang="en-US" sz="1800" spc="-1" strike="noStrike">
              <a:solidFill>
                <a:srgbClr val="000000"/>
              </a:solidFill>
              <a:latin typeface="Arial"/>
            </a:endParaRPr>
          </a:p>
        </p:txBody>
      </p:sp>
      <p:sp>
        <p:nvSpPr>
          <p:cNvPr id="36" name=""/>
          <p:cNvSpPr txBox="1"/>
          <p:nvPr/>
        </p:nvSpPr>
        <p:spPr>
          <a:xfrm>
            <a:off x="540000" y="6451200"/>
            <a:ext cx="3240000" cy="201240"/>
          </a:xfrm>
          <a:prstGeom prst="rect">
            <a:avLst/>
          </a:prstGeom>
          <a:noFill/>
          <a:ln w="0">
            <a:noFill/>
          </a:ln>
        </p:spPr>
        <p:txBody>
          <a:bodyPr lIns="43200" rIns="43200" tIns="43200" bIns="43200" anchor="t">
            <a:noAutofit/>
          </a:bodyPr>
          <a:p>
            <a:r>
              <a:rPr b="0" lang="en-US" sz="800" spc="-1" strike="noStrike">
                <a:solidFill>
                  <a:srgbClr val="aab5b1"/>
                </a:solidFill>
                <a:latin typeface="Arial"/>
              </a:rPr>
              <a:t>semantic-nav architecture</a:t>
            </a:r>
            <a:endParaRPr b="0" lang="en-US" sz="800" spc="-1" strike="noStrike">
              <a:solidFill>
                <a:srgbClr val="000000"/>
              </a:solidFill>
              <a:latin typeface="Arial"/>
            </a:endParaRPr>
          </a:p>
        </p:txBody>
      </p:sp>
      <p:sp>
        <p:nvSpPr>
          <p:cNvPr id="37" name=""/>
          <p:cNvSpPr txBox="1"/>
          <p:nvPr/>
        </p:nvSpPr>
        <p:spPr>
          <a:xfrm>
            <a:off x="11142000" y="6451200"/>
            <a:ext cx="360000" cy="201240"/>
          </a:xfrm>
          <a:prstGeom prst="rect">
            <a:avLst/>
          </a:prstGeom>
          <a:noFill/>
          <a:ln w="0">
            <a:noFill/>
          </a:ln>
        </p:spPr>
        <p:txBody>
          <a:bodyPr lIns="43200" rIns="43200" tIns="43200" bIns="43200" anchor="t">
            <a:noAutofit/>
          </a:bodyPr>
          <a:p>
            <a:r>
              <a:rPr b="0" lang="en-US" sz="800" spc="-1" strike="noStrike">
                <a:solidFill>
                  <a:srgbClr val="aab5b1"/>
                </a:solidFill>
                <a:latin typeface="Arial"/>
              </a:rPr>
              <a:t>01</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
          <p:cNvSpPr/>
          <p:nvPr/>
        </p:nvSpPr>
        <p:spPr>
          <a:xfrm>
            <a:off x="0" y="0"/>
            <a:ext cx="12192120" cy="6858000"/>
          </a:xfrm>
          <a:prstGeom prst="rect">
            <a:avLst/>
          </a:prstGeom>
          <a:solidFill>
            <a:srgbClr val="f6f1e8"/>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39" name=""/>
          <p:cNvSpPr txBox="1"/>
          <p:nvPr/>
        </p:nvSpPr>
        <p:spPr>
          <a:xfrm>
            <a:off x="540000" y="306000"/>
            <a:ext cx="3240000" cy="423720"/>
          </a:xfrm>
          <a:prstGeom prst="rect">
            <a:avLst/>
          </a:prstGeom>
          <a:noFill/>
          <a:ln w="0">
            <a:noFill/>
          </a:ln>
        </p:spPr>
        <p:txBody>
          <a:bodyPr lIns="43200" rIns="43200" tIns="43200" bIns="43200" anchor="t">
            <a:noAutofit/>
          </a:bodyPr>
          <a:p>
            <a:r>
              <a:rPr b="1" lang="en-US" sz="1000" spc="-1" strike="noStrike">
                <a:solidFill>
                  <a:srgbClr val="0f6b5d"/>
                </a:solidFill>
                <a:latin typeface="Arial"/>
              </a:rPr>
              <a:t>SEMANTIC NAVIGATION</a:t>
            </a:r>
            <a:endParaRPr b="0" lang="en-US" sz="1000" spc="-1" strike="noStrike">
              <a:solidFill>
                <a:srgbClr val="000000"/>
              </a:solidFill>
              <a:latin typeface="Arial"/>
            </a:endParaRPr>
          </a:p>
        </p:txBody>
      </p:sp>
      <p:sp>
        <p:nvSpPr>
          <p:cNvPr id="40" name=""/>
          <p:cNvSpPr txBox="1"/>
          <p:nvPr/>
        </p:nvSpPr>
        <p:spPr>
          <a:xfrm>
            <a:off x="540000" y="540000"/>
            <a:ext cx="7560000" cy="542520"/>
          </a:xfrm>
          <a:prstGeom prst="rect">
            <a:avLst/>
          </a:prstGeom>
          <a:noFill/>
          <a:ln w="0">
            <a:noFill/>
          </a:ln>
        </p:spPr>
        <p:txBody>
          <a:bodyPr lIns="43200" rIns="43200" tIns="43200" bIns="43200" anchor="t">
            <a:noAutofit/>
          </a:bodyPr>
          <a:p>
            <a:r>
              <a:rPr b="1" lang="en-US" sz="3200" spc="-1" strike="noStrike">
                <a:solidFill>
                  <a:srgbClr val="111917"/>
                </a:solidFill>
                <a:latin typeface="Arial"/>
              </a:rPr>
              <a:t>End-to-end flowchart</a:t>
            </a:r>
            <a:endParaRPr b="0" lang="en-US" sz="3200" spc="-1" strike="noStrike">
              <a:solidFill>
                <a:srgbClr val="000000"/>
              </a:solidFill>
              <a:latin typeface="Arial"/>
            </a:endParaRPr>
          </a:p>
        </p:txBody>
      </p:sp>
      <p:sp>
        <p:nvSpPr>
          <p:cNvPr id="41" name=""/>
          <p:cNvSpPr txBox="1"/>
          <p:nvPr/>
        </p:nvSpPr>
        <p:spPr>
          <a:xfrm>
            <a:off x="547200" y="1051200"/>
            <a:ext cx="6660000" cy="510120"/>
          </a:xfrm>
          <a:prstGeom prst="rect">
            <a:avLst/>
          </a:prstGeom>
          <a:noFill/>
          <a:ln w="0">
            <a:noFill/>
          </a:ln>
        </p:spPr>
        <p:txBody>
          <a:bodyPr lIns="43200" rIns="43200" tIns="43200" bIns="43200" anchor="t">
            <a:noAutofit/>
          </a:bodyPr>
          <a:p>
            <a:r>
              <a:rPr b="0" lang="en-US" sz="1500" spc="-1" strike="noStrike">
                <a:solidFill>
                  <a:srgbClr val="626c68"/>
                </a:solidFill>
                <a:latin typeface="Arial"/>
              </a:rPr>
              <a:t>The system converts pixels into semantic goals through explicit ROS 2 stages.</a:t>
            </a:r>
            <a:endParaRPr b="0" lang="en-US" sz="1500" spc="-1" strike="noStrike">
              <a:solidFill>
                <a:srgbClr val="000000"/>
              </a:solidFill>
              <a:latin typeface="Arial"/>
            </a:endParaRPr>
          </a:p>
        </p:txBody>
      </p:sp>
      <p:sp>
        <p:nvSpPr>
          <p:cNvPr id="42" name=""/>
          <p:cNvSpPr/>
          <p:nvPr/>
        </p:nvSpPr>
        <p:spPr>
          <a:xfrm>
            <a:off x="324000" y="2070000"/>
            <a:ext cx="1800000" cy="576000"/>
          </a:xfrm>
          <a:prstGeom prst="rect">
            <a:avLst/>
          </a:prstGeom>
          <a:solidFill>
            <a:srgbClr val="ffffff"/>
          </a:solidFill>
          <a:ln w="7920">
            <a:solidFill>
              <a:srgbClr val="d8d0c0"/>
            </a:solidFill>
            <a:round/>
          </a:ln>
        </p:spPr>
        <p:txBody>
          <a:bodyPr lIns="93960" rIns="93960" tIns="48960" bIns="48960" anchor="ctr" anchorCtr="1">
            <a:noAutofit/>
          </a:bodyPr>
          <a:p>
            <a:endParaRPr b="0" lang="en-US" sz="1800" spc="-1" strike="noStrike">
              <a:solidFill>
                <a:srgbClr val="000000"/>
              </a:solidFill>
              <a:latin typeface="Arial"/>
            </a:endParaRPr>
          </a:p>
        </p:txBody>
      </p:sp>
      <p:sp>
        <p:nvSpPr>
          <p:cNvPr id="43" name=""/>
          <p:cNvSpPr/>
          <p:nvPr/>
        </p:nvSpPr>
        <p:spPr>
          <a:xfrm>
            <a:off x="442800" y="2246400"/>
            <a:ext cx="223200" cy="223200"/>
          </a:xfrm>
          <a:prstGeom prst="ellipse">
            <a:avLst/>
          </a:prstGeom>
          <a:solidFill>
            <a:srgbClr val="0f6b5d"/>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4" name=""/>
          <p:cNvSpPr txBox="1"/>
          <p:nvPr/>
        </p:nvSpPr>
        <p:spPr>
          <a:xfrm>
            <a:off x="727200" y="2163600"/>
            <a:ext cx="1310400" cy="423720"/>
          </a:xfrm>
          <a:prstGeom prst="rect">
            <a:avLst/>
          </a:prstGeom>
          <a:noFill/>
          <a:ln w="0">
            <a:noFill/>
          </a:ln>
        </p:spPr>
        <p:txBody>
          <a:bodyPr lIns="43200" rIns="43200" tIns="43200" bIns="43200" anchor="t">
            <a:noAutofit/>
          </a:bodyPr>
          <a:p>
            <a:r>
              <a:rPr b="1" lang="en-US" sz="1500" spc="-1" strike="noStrike">
                <a:solidFill>
                  <a:srgbClr val="111917"/>
                </a:solidFill>
                <a:latin typeface="Arial"/>
              </a:rPr>
              <a:t>RGB image</a:t>
            </a:r>
            <a:endParaRPr b="0" lang="en-US" sz="1500" spc="-1" strike="noStrike">
              <a:solidFill>
                <a:srgbClr val="000000"/>
              </a:solidFill>
              <a:latin typeface="Arial"/>
            </a:endParaRPr>
          </a:p>
        </p:txBody>
      </p:sp>
      <p:sp>
        <p:nvSpPr>
          <p:cNvPr id="45" name=""/>
          <p:cNvSpPr txBox="1"/>
          <p:nvPr/>
        </p:nvSpPr>
        <p:spPr>
          <a:xfrm>
            <a:off x="727200" y="2329200"/>
            <a:ext cx="1310400" cy="423720"/>
          </a:xfrm>
          <a:prstGeom prst="rect">
            <a:avLst/>
          </a:prstGeom>
          <a:noFill/>
          <a:ln w="0">
            <a:noFill/>
          </a:ln>
        </p:spPr>
        <p:txBody>
          <a:bodyPr lIns="43200" rIns="43200" tIns="43200" bIns="43200" anchor="t">
            <a:noAutofit/>
          </a:bodyPr>
          <a:p>
            <a:r>
              <a:rPr b="0" lang="en-US" sz="1000" spc="-1" strike="noStrike">
                <a:solidFill>
                  <a:srgbClr val="626c68"/>
                </a:solidFill>
                <a:latin typeface="Arial"/>
              </a:rPr>
              <a:t>camera topic</a:t>
            </a:r>
            <a:endParaRPr b="0" lang="en-US" sz="1000" spc="-1" strike="noStrike">
              <a:solidFill>
                <a:srgbClr val="000000"/>
              </a:solidFill>
              <a:latin typeface="Arial"/>
            </a:endParaRPr>
          </a:p>
        </p:txBody>
      </p:sp>
      <p:sp>
        <p:nvSpPr>
          <p:cNvPr id="46" name=""/>
          <p:cNvSpPr/>
          <p:nvPr/>
        </p:nvSpPr>
        <p:spPr>
          <a:xfrm>
            <a:off x="2124000" y="2358000"/>
            <a:ext cx="162000" cy="0"/>
          </a:xfrm>
          <a:prstGeom prst="line">
            <a:avLst/>
          </a:prstGeom>
          <a:ln w="16200">
            <a:solidFill>
              <a:srgbClr val="0f6b5d"/>
            </a:solidFill>
            <a:round/>
          </a:ln>
        </p:spPr>
        <p:style>
          <a:lnRef idx="0"/>
          <a:fillRef idx="0"/>
          <a:effectRef idx="0"/>
          <a:fontRef idx="minor"/>
        </p:style>
        <p:txBody>
          <a:bodyPr lIns="97920" rIns="97920" tIns="-52920" bIns="-52920" anchor="ctr" anchorCtr="1">
            <a:noAutofit/>
          </a:bodyPr>
          <a:p>
            <a:endParaRPr b="0" lang="en-US" sz="1800" spc="-1" strike="noStrike">
              <a:solidFill>
                <a:srgbClr val="000000"/>
              </a:solidFill>
              <a:latin typeface="Arial"/>
            </a:endParaRPr>
          </a:p>
        </p:txBody>
      </p:sp>
      <p:sp>
        <p:nvSpPr>
          <p:cNvPr id="47" name=""/>
          <p:cNvSpPr/>
          <p:nvPr/>
        </p:nvSpPr>
        <p:spPr>
          <a:xfrm>
            <a:off x="2286000" y="2070000"/>
            <a:ext cx="1800000" cy="576000"/>
          </a:xfrm>
          <a:prstGeom prst="rect">
            <a:avLst/>
          </a:prstGeom>
          <a:solidFill>
            <a:srgbClr val="ffffff"/>
          </a:solidFill>
          <a:ln w="7920">
            <a:solidFill>
              <a:srgbClr val="d8d0c0"/>
            </a:solidFill>
            <a:round/>
          </a:ln>
        </p:spPr>
        <p:txBody>
          <a:bodyPr lIns="93960" rIns="93960" tIns="48960" bIns="48960" anchor="ctr" anchorCtr="1">
            <a:noAutofit/>
          </a:bodyPr>
          <a:p>
            <a:endParaRPr b="0" lang="en-US" sz="1800" spc="-1" strike="noStrike">
              <a:solidFill>
                <a:srgbClr val="000000"/>
              </a:solidFill>
              <a:latin typeface="Arial"/>
            </a:endParaRPr>
          </a:p>
        </p:txBody>
      </p:sp>
      <p:sp>
        <p:nvSpPr>
          <p:cNvPr id="48" name=""/>
          <p:cNvSpPr/>
          <p:nvPr/>
        </p:nvSpPr>
        <p:spPr>
          <a:xfrm>
            <a:off x="2404800" y="2246400"/>
            <a:ext cx="223200" cy="223200"/>
          </a:xfrm>
          <a:prstGeom prst="ellipse">
            <a:avLst/>
          </a:prstGeom>
          <a:solidFill>
            <a:srgbClr val="0f6b5d"/>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49" name=""/>
          <p:cNvSpPr txBox="1"/>
          <p:nvPr/>
        </p:nvSpPr>
        <p:spPr>
          <a:xfrm>
            <a:off x="2689200" y="2163600"/>
            <a:ext cx="1310400" cy="423720"/>
          </a:xfrm>
          <a:prstGeom prst="rect">
            <a:avLst/>
          </a:prstGeom>
          <a:noFill/>
          <a:ln w="0">
            <a:noFill/>
          </a:ln>
        </p:spPr>
        <p:txBody>
          <a:bodyPr lIns="43200" rIns="43200" tIns="43200" bIns="43200" anchor="t">
            <a:noAutofit/>
          </a:bodyPr>
          <a:p>
            <a:r>
              <a:rPr b="1" lang="en-US" sz="1500" spc="-1" strike="noStrike">
                <a:solidFill>
                  <a:srgbClr val="111917"/>
                </a:solidFill>
                <a:latin typeface="Arial"/>
              </a:rPr>
              <a:t>Detector</a:t>
            </a:r>
            <a:endParaRPr b="0" lang="en-US" sz="1500" spc="-1" strike="noStrike">
              <a:solidFill>
                <a:srgbClr val="000000"/>
              </a:solidFill>
              <a:latin typeface="Arial"/>
            </a:endParaRPr>
          </a:p>
        </p:txBody>
      </p:sp>
      <p:sp>
        <p:nvSpPr>
          <p:cNvPr id="50" name=""/>
          <p:cNvSpPr txBox="1"/>
          <p:nvPr/>
        </p:nvSpPr>
        <p:spPr>
          <a:xfrm>
            <a:off x="2689200" y="2329200"/>
            <a:ext cx="1310400" cy="423720"/>
          </a:xfrm>
          <a:prstGeom prst="rect">
            <a:avLst/>
          </a:prstGeom>
          <a:noFill/>
          <a:ln w="0">
            <a:noFill/>
          </a:ln>
        </p:spPr>
        <p:txBody>
          <a:bodyPr lIns="43200" rIns="43200" tIns="43200" bIns="43200" anchor="t">
            <a:noAutofit/>
          </a:bodyPr>
          <a:p>
            <a:r>
              <a:rPr b="0" lang="en-US" sz="1000" spc="-1" strike="noStrike">
                <a:solidFill>
                  <a:srgbClr val="626c68"/>
                </a:solidFill>
                <a:latin typeface="Arial"/>
              </a:rPr>
              <a:t>YOLO labels</a:t>
            </a:r>
            <a:endParaRPr b="0" lang="en-US" sz="1000" spc="-1" strike="noStrike">
              <a:solidFill>
                <a:srgbClr val="000000"/>
              </a:solidFill>
              <a:latin typeface="Arial"/>
            </a:endParaRPr>
          </a:p>
        </p:txBody>
      </p:sp>
      <p:sp>
        <p:nvSpPr>
          <p:cNvPr id="51" name=""/>
          <p:cNvSpPr/>
          <p:nvPr/>
        </p:nvSpPr>
        <p:spPr>
          <a:xfrm>
            <a:off x="4086000" y="2358000"/>
            <a:ext cx="162000" cy="0"/>
          </a:xfrm>
          <a:prstGeom prst="line">
            <a:avLst/>
          </a:prstGeom>
          <a:ln w="16200">
            <a:solidFill>
              <a:srgbClr val="0f6b5d"/>
            </a:solidFill>
            <a:round/>
          </a:ln>
        </p:spPr>
        <p:style>
          <a:lnRef idx="0"/>
          <a:fillRef idx="0"/>
          <a:effectRef idx="0"/>
          <a:fontRef idx="minor"/>
        </p:style>
        <p:txBody>
          <a:bodyPr lIns="97920" rIns="97920" tIns="-52920" bIns="-52920" anchor="ctr" anchorCtr="1">
            <a:noAutofit/>
          </a:bodyPr>
          <a:p>
            <a:endParaRPr b="0" lang="en-US" sz="1800" spc="-1" strike="noStrike">
              <a:solidFill>
                <a:srgbClr val="000000"/>
              </a:solidFill>
              <a:latin typeface="Arial"/>
            </a:endParaRPr>
          </a:p>
        </p:txBody>
      </p:sp>
      <p:sp>
        <p:nvSpPr>
          <p:cNvPr id="52" name=""/>
          <p:cNvSpPr/>
          <p:nvPr/>
        </p:nvSpPr>
        <p:spPr>
          <a:xfrm>
            <a:off x="4248000" y="2070000"/>
            <a:ext cx="1800000" cy="576000"/>
          </a:xfrm>
          <a:prstGeom prst="rect">
            <a:avLst/>
          </a:prstGeom>
          <a:solidFill>
            <a:srgbClr val="ffffff"/>
          </a:solidFill>
          <a:ln w="7920">
            <a:solidFill>
              <a:srgbClr val="d8d0c0"/>
            </a:solidFill>
            <a:round/>
          </a:ln>
        </p:spPr>
        <p:txBody>
          <a:bodyPr lIns="93960" rIns="93960" tIns="48960" bIns="48960" anchor="ctr" anchorCtr="1">
            <a:noAutofit/>
          </a:bodyPr>
          <a:p>
            <a:endParaRPr b="0" lang="en-US" sz="1800" spc="-1" strike="noStrike">
              <a:solidFill>
                <a:srgbClr val="000000"/>
              </a:solidFill>
              <a:latin typeface="Arial"/>
            </a:endParaRPr>
          </a:p>
        </p:txBody>
      </p:sp>
      <p:sp>
        <p:nvSpPr>
          <p:cNvPr id="53" name=""/>
          <p:cNvSpPr/>
          <p:nvPr/>
        </p:nvSpPr>
        <p:spPr>
          <a:xfrm>
            <a:off x="4366800" y="2246400"/>
            <a:ext cx="223200" cy="223200"/>
          </a:xfrm>
          <a:prstGeom prst="ellipse">
            <a:avLst/>
          </a:prstGeom>
          <a:solidFill>
            <a:srgbClr val="315e8a"/>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4" name=""/>
          <p:cNvSpPr txBox="1"/>
          <p:nvPr/>
        </p:nvSpPr>
        <p:spPr>
          <a:xfrm>
            <a:off x="4651200" y="2163600"/>
            <a:ext cx="1310400" cy="423720"/>
          </a:xfrm>
          <a:prstGeom prst="rect">
            <a:avLst/>
          </a:prstGeom>
          <a:noFill/>
          <a:ln w="0">
            <a:noFill/>
          </a:ln>
        </p:spPr>
        <p:txBody>
          <a:bodyPr lIns="43200" rIns="43200" tIns="43200" bIns="43200" anchor="t">
            <a:noAutofit/>
          </a:bodyPr>
          <a:p>
            <a:r>
              <a:rPr b="1" lang="en-US" sz="1500" spc="-1" strike="noStrike">
                <a:solidFill>
                  <a:srgbClr val="111917"/>
                </a:solidFill>
                <a:latin typeface="Arial"/>
              </a:rPr>
              <a:t>Localizer</a:t>
            </a:r>
            <a:endParaRPr b="0" lang="en-US" sz="1500" spc="-1" strike="noStrike">
              <a:solidFill>
                <a:srgbClr val="000000"/>
              </a:solidFill>
              <a:latin typeface="Arial"/>
            </a:endParaRPr>
          </a:p>
        </p:txBody>
      </p:sp>
      <p:sp>
        <p:nvSpPr>
          <p:cNvPr id="55" name=""/>
          <p:cNvSpPr txBox="1"/>
          <p:nvPr/>
        </p:nvSpPr>
        <p:spPr>
          <a:xfrm>
            <a:off x="4651200" y="2329200"/>
            <a:ext cx="1310400" cy="423720"/>
          </a:xfrm>
          <a:prstGeom prst="rect">
            <a:avLst/>
          </a:prstGeom>
          <a:noFill/>
          <a:ln w="0">
            <a:noFill/>
          </a:ln>
        </p:spPr>
        <p:txBody>
          <a:bodyPr lIns="43200" rIns="43200" tIns="43200" bIns="43200" anchor="t">
            <a:noAutofit/>
          </a:bodyPr>
          <a:p>
            <a:r>
              <a:rPr b="0" lang="en-US" sz="1000" spc="-1" strike="noStrike">
                <a:solidFill>
                  <a:srgbClr val="626c68"/>
                </a:solidFill>
                <a:latin typeface="Arial"/>
              </a:rPr>
              <a:t>bearing + LDS range</a:t>
            </a:r>
            <a:endParaRPr b="0" lang="en-US" sz="1000" spc="-1" strike="noStrike">
              <a:solidFill>
                <a:srgbClr val="000000"/>
              </a:solidFill>
              <a:latin typeface="Arial"/>
            </a:endParaRPr>
          </a:p>
        </p:txBody>
      </p:sp>
      <p:sp>
        <p:nvSpPr>
          <p:cNvPr id="56" name=""/>
          <p:cNvSpPr/>
          <p:nvPr/>
        </p:nvSpPr>
        <p:spPr>
          <a:xfrm>
            <a:off x="6048000" y="2358000"/>
            <a:ext cx="162000" cy="0"/>
          </a:xfrm>
          <a:prstGeom prst="line">
            <a:avLst/>
          </a:prstGeom>
          <a:ln w="16200">
            <a:solidFill>
              <a:srgbClr val="315e8a"/>
            </a:solidFill>
            <a:round/>
          </a:ln>
        </p:spPr>
        <p:style>
          <a:lnRef idx="0"/>
          <a:fillRef idx="0"/>
          <a:effectRef idx="0"/>
          <a:fontRef idx="minor"/>
        </p:style>
        <p:txBody>
          <a:bodyPr lIns="97920" rIns="97920" tIns="-52920" bIns="-52920" anchor="ctr" anchorCtr="1">
            <a:noAutofit/>
          </a:bodyPr>
          <a:p>
            <a:endParaRPr b="0" lang="en-US" sz="1800" spc="-1" strike="noStrike">
              <a:solidFill>
                <a:srgbClr val="000000"/>
              </a:solidFill>
              <a:latin typeface="Arial"/>
            </a:endParaRPr>
          </a:p>
        </p:txBody>
      </p:sp>
      <p:sp>
        <p:nvSpPr>
          <p:cNvPr id="57" name=""/>
          <p:cNvSpPr/>
          <p:nvPr/>
        </p:nvSpPr>
        <p:spPr>
          <a:xfrm>
            <a:off x="6210000" y="2070000"/>
            <a:ext cx="1800000" cy="576000"/>
          </a:xfrm>
          <a:prstGeom prst="rect">
            <a:avLst/>
          </a:prstGeom>
          <a:solidFill>
            <a:srgbClr val="ffffff"/>
          </a:solidFill>
          <a:ln w="7920">
            <a:solidFill>
              <a:srgbClr val="d8d0c0"/>
            </a:solidFill>
            <a:round/>
          </a:ln>
        </p:spPr>
        <p:txBody>
          <a:bodyPr lIns="93960" rIns="93960" tIns="48960" bIns="48960" anchor="ctr" anchorCtr="1">
            <a:noAutofit/>
          </a:bodyPr>
          <a:p>
            <a:endParaRPr b="0" lang="en-US" sz="1800" spc="-1" strike="noStrike">
              <a:solidFill>
                <a:srgbClr val="000000"/>
              </a:solidFill>
              <a:latin typeface="Arial"/>
            </a:endParaRPr>
          </a:p>
        </p:txBody>
      </p:sp>
      <p:sp>
        <p:nvSpPr>
          <p:cNvPr id="58" name=""/>
          <p:cNvSpPr/>
          <p:nvPr/>
        </p:nvSpPr>
        <p:spPr>
          <a:xfrm>
            <a:off x="6328800" y="2246400"/>
            <a:ext cx="223200" cy="223200"/>
          </a:xfrm>
          <a:prstGeom prst="ellipse">
            <a:avLst/>
          </a:prstGeom>
          <a:solidFill>
            <a:srgbClr val="c76946"/>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59" name=""/>
          <p:cNvSpPr txBox="1"/>
          <p:nvPr/>
        </p:nvSpPr>
        <p:spPr>
          <a:xfrm>
            <a:off x="6613200" y="2163600"/>
            <a:ext cx="1310400" cy="510120"/>
          </a:xfrm>
          <a:prstGeom prst="rect">
            <a:avLst/>
          </a:prstGeom>
          <a:noFill/>
          <a:ln w="0">
            <a:noFill/>
          </a:ln>
        </p:spPr>
        <p:txBody>
          <a:bodyPr lIns="43200" rIns="43200" tIns="43200" bIns="43200" anchor="t">
            <a:noAutofit/>
          </a:bodyPr>
          <a:p>
            <a:r>
              <a:rPr b="1" lang="en-US" sz="1500" spc="-1" strike="noStrike">
                <a:solidFill>
                  <a:srgbClr val="111917"/>
                </a:solidFill>
                <a:latin typeface="Arial"/>
              </a:rPr>
              <a:t>Semantic memory</a:t>
            </a:r>
            <a:endParaRPr b="0" lang="en-US" sz="1500" spc="-1" strike="noStrike">
              <a:solidFill>
                <a:srgbClr val="000000"/>
              </a:solidFill>
              <a:latin typeface="Arial"/>
            </a:endParaRPr>
          </a:p>
        </p:txBody>
      </p:sp>
      <p:sp>
        <p:nvSpPr>
          <p:cNvPr id="60" name=""/>
          <p:cNvSpPr txBox="1"/>
          <p:nvPr/>
        </p:nvSpPr>
        <p:spPr>
          <a:xfrm>
            <a:off x="6613200" y="2329200"/>
            <a:ext cx="1310400" cy="423720"/>
          </a:xfrm>
          <a:prstGeom prst="rect">
            <a:avLst/>
          </a:prstGeom>
          <a:noFill/>
          <a:ln w="0">
            <a:noFill/>
          </a:ln>
        </p:spPr>
        <p:txBody>
          <a:bodyPr lIns="43200" rIns="43200" tIns="43200" bIns="43200" anchor="t">
            <a:noAutofit/>
          </a:bodyPr>
          <a:p>
            <a:r>
              <a:rPr b="0" lang="en-US" sz="1000" spc="-1" strike="noStrike">
                <a:solidFill>
                  <a:srgbClr val="626c68"/>
                </a:solidFill>
                <a:latin typeface="Arial"/>
              </a:rPr>
              <a:t>merge + promote</a:t>
            </a:r>
            <a:endParaRPr b="0" lang="en-US" sz="1000" spc="-1" strike="noStrike">
              <a:solidFill>
                <a:srgbClr val="000000"/>
              </a:solidFill>
              <a:latin typeface="Arial"/>
            </a:endParaRPr>
          </a:p>
        </p:txBody>
      </p:sp>
      <p:sp>
        <p:nvSpPr>
          <p:cNvPr id="61" name=""/>
          <p:cNvSpPr/>
          <p:nvPr/>
        </p:nvSpPr>
        <p:spPr>
          <a:xfrm>
            <a:off x="8010000" y="2358000"/>
            <a:ext cx="162000" cy="0"/>
          </a:xfrm>
          <a:prstGeom prst="line">
            <a:avLst/>
          </a:prstGeom>
          <a:ln w="16200">
            <a:solidFill>
              <a:srgbClr val="c76946"/>
            </a:solidFill>
            <a:round/>
          </a:ln>
        </p:spPr>
        <p:style>
          <a:lnRef idx="0"/>
          <a:fillRef idx="0"/>
          <a:effectRef idx="0"/>
          <a:fontRef idx="minor"/>
        </p:style>
        <p:txBody>
          <a:bodyPr lIns="97920" rIns="97920" tIns="-52920" bIns="-52920" anchor="ctr" anchorCtr="1">
            <a:noAutofit/>
          </a:bodyPr>
          <a:p>
            <a:endParaRPr b="0" lang="en-US" sz="1800" spc="-1" strike="noStrike">
              <a:solidFill>
                <a:srgbClr val="000000"/>
              </a:solidFill>
              <a:latin typeface="Arial"/>
            </a:endParaRPr>
          </a:p>
        </p:txBody>
      </p:sp>
      <p:sp>
        <p:nvSpPr>
          <p:cNvPr id="62" name=""/>
          <p:cNvSpPr/>
          <p:nvPr/>
        </p:nvSpPr>
        <p:spPr>
          <a:xfrm>
            <a:off x="8172000" y="2070000"/>
            <a:ext cx="1800000" cy="576000"/>
          </a:xfrm>
          <a:prstGeom prst="rect">
            <a:avLst/>
          </a:prstGeom>
          <a:solidFill>
            <a:srgbClr val="ffffff"/>
          </a:solidFill>
          <a:ln w="7920">
            <a:solidFill>
              <a:srgbClr val="d8d0c0"/>
            </a:solidFill>
            <a:round/>
          </a:ln>
        </p:spPr>
        <p:txBody>
          <a:bodyPr lIns="93960" rIns="93960" tIns="48960" bIns="48960" anchor="ctr" anchorCtr="1">
            <a:noAutofit/>
          </a:bodyPr>
          <a:p>
            <a:endParaRPr b="0" lang="en-US" sz="1800" spc="-1" strike="noStrike">
              <a:solidFill>
                <a:srgbClr val="000000"/>
              </a:solidFill>
              <a:latin typeface="Arial"/>
            </a:endParaRPr>
          </a:p>
        </p:txBody>
      </p:sp>
      <p:sp>
        <p:nvSpPr>
          <p:cNvPr id="63" name=""/>
          <p:cNvSpPr/>
          <p:nvPr/>
        </p:nvSpPr>
        <p:spPr>
          <a:xfrm>
            <a:off x="8290800" y="2246400"/>
            <a:ext cx="223200" cy="223200"/>
          </a:xfrm>
          <a:prstGeom prst="ellipse">
            <a:avLst/>
          </a:prstGeom>
          <a:solidFill>
            <a:srgbClr val="0f6b5d"/>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4" name=""/>
          <p:cNvSpPr txBox="1"/>
          <p:nvPr/>
        </p:nvSpPr>
        <p:spPr>
          <a:xfrm>
            <a:off x="8575200" y="2163600"/>
            <a:ext cx="1310400" cy="510120"/>
          </a:xfrm>
          <a:prstGeom prst="rect">
            <a:avLst/>
          </a:prstGeom>
          <a:noFill/>
          <a:ln w="0">
            <a:noFill/>
          </a:ln>
        </p:spPr>
        <p:txBody>
          <a:bodyPr lIns="43200" rIns="43200" tIns="43200" bIns="43200" anchor="t">
            <a:noAutofit/>
          </a:bodyPr>
          <a:p>
            <a:r>
              <a:rPr b="1" lang="en-US" sz="1500" spc="-1" strike="noStrike">
                <a:solidFill>
                  <a:srgbClr val="111917"/>
                </a:solidFill>
                <a:latin typeface="Arial"/>
              </a:rPr>
              <a:t>SemanticMapState</a:t>
            </a:r>
            <a:endParaRPr b="0" lang="en-US" sz="1500" spc="-1" strike="noStrike">
              <a:solidFill>
                <a:srgbClr val="000000"/>
              </a:solidFill>
              <a:latin typeface="Arial"/>
            </a:endParaRPr>
          </a:p>
        </p:txBody>
      </p:sp>
      <p:sp>
        <p:nvSpPr>
          <p:cNvPr id="65" name=""/>
          <p:cNvSpPr txBox="1"/>
          <p:nvPr/>
        </p:nvSpPr>
        <p:spPr>
          <a:xfrm>
            <a:off x="8575200" y="2329200"/>
            <a:ext cx="1310400" cy="423720"/>
          </a:xfrm>
          <a:prstGeom prst="rect">
            <a:avLst/>
          </a:prstGeom>
          <a:noFill/>
          <a:ln w="0">
            <a:noFill/>
          </a:ln>
        </p:spPr>
        <p:txBody>
          <a:bodyPr lIns="43200" rIns="43200" tIns="43200" bIns="43200" anchor="t">
            <a:noAutofit/>
          </a:bodyPr>
          <a:p>
            <a:r>
              <a:rPr b="0" lang="en-US" sz="1000" spc="-1" strike="noStrike">
                <a:solidFill>
                  <a:srgbClr val="626c68"/>
                </a:solidFill>
                <a:latin typeface="Arial"/>
              </a:rPr>
              <a:t>entities + relations</a:t>
            </a:r>
            <a:endParaRPr b="0" lang="en-US" sz="1000" spc="-1" strike="noStrike">
              <a:solidFill>
                <a:srgbClr val="000000"/>
              </a:solidFill>
              <a:latin typeface="Arial"/>
            </a:endParaRPr>
          </a:p>
        </p:txBody>
      </p:sp>
      <p:sp>
        <p:nvSpPr>
          <p:cNvPr id="66" name=""/>
          <p:cNvSpPr/>
          <p:nvPr/>
        </p:nvSpPr>
        <p:spPr>
          <a:xfrm>
            <a:off x="9972000" y="2358000"/>
            <a:ext cx="162000" cy="0"/>
          </a:xfrm>
          <a:prstGeom prst="line">
            <a:avLst/>
          </a:prstGeom>
          <a:ln w="16200">
            <a:solidFill>
              <a:srgbClr val="0f6b5d"/>
            </a:solidFill>
            <a:round/>
          </a:ln>
        </p:spPr>
        <p:style>
          <a:lnRef idx="0"/>
          <a:fillRef idx="0"/>
          <a:effectRef idx="0"/>
          <a:fontRef idx="minor"/>
        </p:style>
        <p:txBody>
          <a:bodyPr lIns="97920" rIns="97920" tIns="-52920" bIns="-52920" anchor="ctr" anchorCtr="1">
            <a:noAutofit/>
          </a:bodyPr>
          <a:p>
            <a:endParaRPr b="0" lang="en-US" sz="1800" spc="-1" strike="noStrike">
              <a:solidFill>
                <a:srgbClr val="000000"/>
              </a:solidFill>
              <a:latin typeface="Arial"/>
            </a:endParaRPr>
          </a:p>
        </p:txBody>
      </p:sp>
      <p:sp>
        <p:nvSpPr>
          <p:cNvPr id="67" name=""/>
          <p:cNvSpPr/>
          <p:nvPr/>
        </p:nvSpPr>
        <p:spPr>
          <a:xfrm>
            <a:off x="10134000" y="2070000"/>
            <a:ext cx="1800000" cy="576000"/>
          </a:xfrm>
          <a:prstGeom prst="rect">
            <a:avLst/>
          </a:prstGeom>
          <a:solidFill>
            <a:srgbClr val="ffffff"/>
          </a:solidFill>
          <a:ln w="7920">
            <a:solidFill>
              <a:srgbClr val="d8d0c0"/>
            </a:solidFill>
            <a:round/>
          </a:ln>
        </p:spPr>
        <p:txBody>
          <a:bodyPr lIns="93960" rIns="93960" tIns="48960" bIns="48960" anchor="ctr" anchorCtr="1">
            <a:noAutofit/>
          </a:bodyPr>
          <a:p>
            <a:endParaRPr b="0" lang="en-US" sz="1800" spc="-1" strike="noStrike">
              <a:solidFill>
                <a:srgbClr val="000000"/>
              </a:solidFill>
              <a:latin typeface="Arial"/>
            </a:endParaRPr>
          </a:p>
        </p:txBody>
      </p:sp>
      <p:sp>
        <p:nvSpPr>
          <p:cNvPr id="68" name=""/>
          <p:cNvSpPr/>
          <p:nvPr/>
        </p:nvSpPr>
        <p:spPr>
          <a:xfrm>
            <a:off x="10252800" y="2246400"/>
            <a:ext cx="223200" cy="223200"/>
          </a:xfrm>
          <a:prstGeom prst="ellipse">
            <a:avLst/>
          </a:prstGeom>
          <a:solidFill>
            <a:srgbClr val="315e8a"/>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69" name=""/>
          <p:cNvSpPr txBox="1"/>
          <p:nvPr/>
        </p:nvSpPr>
        <p:spPr>
          <a:xfrm>
            <a:off x="10537200" y="2163600"/>
            <a:ext cx="1310400" cy="423720"/>
          </a:xfrm>
          <a:prstGeom prst="rect">
            <a:avLst/>
          </a:prstGeom>
          <a:noFill/>
          <a:ln w="0">
            <a:noFill/>
          </a:ln>
        </p:spPr>
        <p:txBody>
          <a:bodyPr lIns="43200" rIns="43200" tIns="43200" bIns="43200" anchor="t">
            <a:noAutofit/>
          </a:bodyPr>
          <a:p>
            <a:r>
              <a:rPr b="1" lang="en-US" sz="1500" spc="-1" strike="noStrike">
                <a:solidFill>
                  <a:srgbClr val="111917"/>
                </a:solidFill>
                <a:latin typeface="Arial"/>
              </a:rPr>
              <a:t>Query/Nav2</a:t>
            </a:r>
            <a:endParaRPr b="0" lang="en-US" sz="1500" spc="-1" strike="noStrike">
              <a:solidFill>
                <a:srgbClr val="000000"/>
              </a:solidFill>
              <a:latin typeface="Arial"/>
            </a:endParaRPr>
          </a:p>
        </p:txBody>
      </p:sp>
      <p:sp>
        <p:nvSpPr>
          <p:cNvPr id="70" name=""/>
          <p:cNvSpPr txBox="1"/>
          <p:nvPr/>
        </p:nvSpPr>
        <p:spPr>
          <a:xfrm>
            <a:off x="10537200" y="2329200"/>
            <a:ext cx="1310400" cy="423720"/>
          </a:xfrm>
          <a:prstGeom prst="rect">
            <a:avLst/>
          </a:prstGeom>
          <a:noFill/>
          <a:ln w="0">
            <a:noFill/>
          </a:ln>
        </p:spPr>
        <p:txBody>
          <a:bodyPr lIns="43200" rIns="43200" tIns="43200" bIns="43200" anchor="t">
            <a:noAutofit/>
          </a:bodyPr>
          <a:p>
            <a:r>
              <a:rPr b="0" lang="en-US" sz="1000" spc="-1" strike="noStrike">
                <a:solidFill>
                  <a:srgbClr val="626c68"/>
                </a:solidFill>
                <a:latin typeface="Arial"/>
              </a:rPr>
              <a:t>goal selection</a:t>
            </a:r>
            <a:endParaRPr b="0" lang="en-US" sz="1000" spc="-1" strike="noStrike">
              <a:solidFill>
                <a:srgbClr val="000000"/>
              </a:solidFill>
              <a:latin typeface="Arial"/>
            </a:endParaRPr>
          </a:p>
        </p:txBody>
      </p:sp>
      <p:sp>
        <p:nvSpPr>
          <p:cNvPr id="71" name=""/>
          <p:cNvSpPr/>
          <p:nvPr/>
        </p:nvSpPr>
        <p:spPr>
          <a:xfrm>
            <a:off x="1368000" y="3816000"/>
            <a:ext cx="9432000" cy="1188000"/>
          </a:xfrm>
          <a:prstGeom prst="rect">
            <a:avLst/>
          </a:prstGeom>
          <a:solidFill>
            <a:srgbClr val="fbf8f1"/>
          </a:solidFill>
          <a:ln w="7920">
            <a:solidFill>
              <a:srgbClr val="d8d0c0"/>
            </a:solidFill>
            <a:round/>
          </a:ln>
        </p:spPr>
        <p:txBody>
          <a:bodyPr lIns="93960" rIns="93960" tIns="48960" bIns="48960" anchor="ctr" anchorCtr="1">
            <a:noAutofit/>
          </a:bodyPr>
          <a:p>
            <a:endParaRPr b="0" lang="en-US" sz="1800" spc="-1" strike="noStrike">
              <a:solidFill>
                <a:srgbClr val="000000"/>
              </a:solidFill>
              <a:latin typeface="Arial"/>
            </a:endParaRPr>
          </a:p>
        </p:txBody>
      </p:sp>
      <p:sp>
        <p:nvSpPr>
          <p:cNvPr id="72" name=""/>
          <p:cNvSpPr txBox="1"/>
          <p:nvPr/>
        </p:nvSpPr>
        <p:spPr>
          <a:xfrm>
            <a:off x="1620000" y="4032000"/>
            <a:ext cx="2016000" cy="423720"/>
          </a:xfrm>
          <a:prstGeom prst="rect">
            <a:avLst/>
          </a:prstGeom>
          <a:noFill/>
          <a:ln w="0">
            <a:noFill/>
          </a:ln>
        </p:spPr>
        <p:txBody>
          <a:bodyPr lIns="43200" rIns="43200" tIns="43200" bIns="43200" anchor="t">
            <a:noAutofit/>
          </a:bodyPr>
          <a:p>
            <a:r>
              <a:rPr b="1" lang="en-US" sz="1700" spc="-1" strike="noStrike">
                <a:solidFill>
                  <a:srgbClr val="0f6b5d"/>
                </a:solidFill>
                <a:latin typeface="Arial"/>
              </a:rPr>
              <a:t>Feedback loop</a:t>
            </a:r>
            <a:endParaRPr b="0" lang="en-US" sz="1700" spc="-1" strike="noStrike">
              <a:solidFill>
                <a:srgbClr val="000000"/>
              </a:solidFill>
              <a:latin typeface="Arial"/>
            </a:endParaRPr>
          </a:p>
        </p:txBody>
      </p:sp>
      <p:sp>
        <p:nvSpPr>
          <p:cNvPr id="73" name=""/>
          <p:cNvSpPr txBox="1"/>
          <p:nvPr/>
        </p:nvSpPr>
        <p:spPr>
          <a:xfrm>
            <a:off x="1620000" y="4320000"/>
            <a:ext cx="8460000" cy="538200"/>
          </a:xfrm>
          <a:prstGeom prst="rect">
            <a:avLst/>
          </a:prstGeom>
          <a:noFill/>
          <a:ln w="0">
            <a:noFill/>
          </a:ln>
        </p:spPr>
        <p:txBody>
          <a:bodyPr lIns="43200" rIns="43200" tIns="43200" bIns="43200" anchor="t">
            <a:noAutofit/>
          </a:bodyPr>
          <a:p>
            <a:r>
              <a:rPr b="0" lang="en-US" sz="1600" spc="-1" strike="noStrike">
                <a:solidFill>
                  <a:srgbClr val="111917"/>
                </a:solidFill>
                <a:latin typeface="Arial"/>
              </a:rPr>
              <a:t>SLAM and TF continuously update the map frame. Semantic memory can refine entity validation when the occupancy grid catches up.</a:t>
            </a:r>
            <a:endParaRPr b="0" lang="en-US" sz="1600" spc="-1" strike="noStrike">
              <a:solidFill>
                <a:srgbClr val="000000"/>
              </a:solidFill>
              <a:latin typeface="Arial"/>
            </a:endParaRPr>
          </a:p>
        </p:txBody>
      </p:sp>
      <p:sp>
        <p:nvSpPr>
          <p:cNvPr id="74" name=""/>
          <p:cNvSpPr/>
          <p:nvPr/>
        </p:nvSpPr>
        <p:spPr>
          <a:xfrm flipV="1">
            <a:off x="8928000" y="2736000"/>
            <a:ext cx="0" cy="1080000"/>
          </a:xfrm>
          <a:prstGeom prst="line">
            <a:avLst/>
          </a:prstGeom>
          <a:ln w="16200">
            <a:solidFill>
              <a:srgbClr val="315e8a"/>
            </a:solidFill>
            <a:round/>
          </a:ln>
        </p:spPr>
        <p:style>
          <a:lnRef idx="0"/>
          <a:fillRef idx="0"/>
          <a:effectRef idx="0"/>
          <a:fontRef idx="minor"/>
        </p:style>
        <p:txBody>
          <a:bodyPr lIns="97920" rIns="97920" tIns="52920" bIns="52920" anchor="ctr" anchorCtr="1">
            <a:noAutofit/>
          </a:bodyPr>
          <a:p>
            <a:endParaRPr b="0" lang="en-US" sz="1800" spc="-1" strike="noStrike">
              <a:solidFill>
                <a:srgbClr val="000000"/>
              </a:solidFill>
              <a:latin typeface="Arial"/>
            </a:endParaRPr>
          </a:p>
        </p:txBody>
      </p:sp>
      <p:sp>
        <p:nvSpPr>
          <p:cNvPr id="75" name=""/>
          <p:cNvSpPr txBox="1"/>
          <p:nvPr/>
        </p:nvSpPr>
        <p:spPr>
          <a:xfrm>
            <a:off x="8316000" y="3139200"/>
            <a:ext cx="1224000" cy="394920"/>
          </a:xfrm>
          <a:prstGeom prst="rect">
            <a:avLst/>
          </a:prstGeom>
          <a:solidFill>
            <a:srgbClr val="f6f1e8"/>
          </a:solidFill>
          <a:ln w="9000">
            <a:solidFill>
              <a:srgbClr val="f6f1e8"/>
            </a:solidFill>
            <a:round/>
          </a:ln>
        </p:spPr>
        <p:txBody>
          <a:bodyPr lIns="28800" rIns="28800" tIns="28800" bIns="28800" anchor="t">
            <a:noAutofit/>
          </a:bodyPr>
          <a:p>
            <a:r>
              <a:rPr b="0" lang="en-US" sz="900" spc="-1" strike="noStrike">
                <a:solidFill>
                  <a:srgbClr val="626c68"/>
                </a:solidFill>
                <a:latin typeface="Arial"/>
              </a:rPr>
              <a:t>map / TF</a:t>
            </a:r>
            <a:endParaRPr b="0" lang="en-US" sz="900" spc="-1" strike="noStrike">
              <a:solidFill>
                <a:srgbClr val="000000"/>
              </a:solidFill>
              <a:latin typeface="Arial"/>
            </a:endParaRPr>
          </a:p>
        </p:txBody>
      </p:sp>
      <p:sp>
        <p:nvSpPr>
          <p:cNvPr id="76" name=""/>
          <p:cNvSpPr/>
          <p:nvPr/>
        </p:nvSpPr>
        <p:spPr>
          <a:xfrm>
            <a:off x="540000" y="6433200"/>
            <a:ext cx="11088000" cy="0"/>
          </a:xfrm>
          <a:prstGeom prst="line">
            <a:avLst/>
          </a:prstGeom>
          <a:ln w="7200">
            <a:solidFill>
              <a:srgbClr val="d8d0c0"/>
            </a:solidFill>
            <a:round/>
          </a:ln>
        </p:spPr>
        <p:style>
          <a:lnRef idx="0"/>
          <a:fillRef idx="0"/>
          <a:effectRef idx="0"/>
          <a:fontRef idx="minor"/>
        </p:style>
        <p:txBody>
          <a:bodyPr lIns="93600" rIns="93600" tIns="-48600" bIns="-48600" anchor="ctr" anchorCtr="1">
            <a:noAutofit/>
          </a:bodyPr>
          <a:p>
            <a:endParaRPr b="0" lang="en-US" sz="1800" spc="-1" strike="noStrike">
              <a:solidFill>
                <a:srgbClr val="000000"/>
              </a:solidFill>
              <a:latin typeface="Arial"/>
            </a:endParaRPr>
          </a:p>
        </p:txBody>
      </p:sp>
      <p:sp>
        <p:nvSpPr>
          <p:cNvPr id="77" name=""/>
          <p:cNvSpPr txBox="1"/>
          <p:nvPr/>
        </p:nvSpPr>
        <p:spPr>
          <a:xfrm>
            <a:off x="540000" y="6451200"/>
            <a:ext cx="3240000" cy="423720"/>
          </a:xfrm>
          <a:prstGeom prst="rect">
            <a:avLst/>
          </a:prstGeom>
          <a:noFill/>
          <a:ln w="0">
            <a:noFill/>
          </a:ln>
        </p:spPr>
        <p:txBody>
          <a:bodyPr lIns="43200" rIns="43200" tIns="43200" bIns="43200" anchor="t">
            <a:noAutofit/>
          </a:bodyPr>
          <a:p>
            <a:r>
              <a:rPr b="0" lang="en-US" sz="800" spc="-1" strike="noStrike">
                <a:solidFill>
                  <a:srgbClr val="626c68"/>
                </a:solidFill>
                <a:latin typeface="Arial"/>
              </a:rPr>
              <a:t>semantic-nav architecture</a:t>
            </a:r>
            <a:endParaRPr b="0" lang="en-US" sz="800" spc="-1" strike="noStrike">
              <a:solidFill>
                <a:srgbClr val="000000"/>
              </a:solidFill>
              <a:latin typeface="Arial"/>
            </a:endParaRPr>
          </a:p>
        </p:txBody>
      </p:sp>
      <p:sp>
        <p:nvSpPr>
          <p:cNvPr id="78" name=""/>
          <p:cNvSpPr txBox="1"/>
          <p:nvPr/>
        </p:nvSpPr>
        <p:spPr>
          <a:xfrm>
            <a:off x="11142000" y="6451200"/>
            <a:ext cx="360000" cy="423720"/>
          </a:xfrm>
          <a:prstGeom prst="rect">
            <a:avLst/>
          </a:prstGeom>
          <a:noFill/>
          <a:ln w="0">
            <a:noFill/>
          </a:ln>
        </p:spPr>
        <p:txBody>
          <a:bodyPr lIns="43200" rIns="43200" tIns="43200" bIns="43200" anchor="t">
            <a:noAutofit/>
          </a:bodyPr>
          <a:p>
            <a:r>
              <a:rPr b="0" lang="en-US" sz="800" spc="-1" strike="noStrike">
                <a:solidFill>
                  <a:srgbClr val="626c68"/>
                </a:solidFill>
                <a:latin typeface="Arial"/>
              </a:rPr>
              <a:t>02</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
          <p:cNvSpPr/>
          <p:nvPr/>
        </p:nvSpPr>
        <p:spPr>
          <a:xfrm>
            <a:off x="0" y="0"/>
            <a:ext cx="12192120" cy="6858000"/>
          </a:xfrm>
          <a:prstGeom prst="rect">
            <a:avLst/>
          </a:prstGeom>
          <a:solidFill>
            <a:srgbClr val="f6f1e8"/>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80" name=""/>
          <p:cNvSpPr txBox="1"/>
          <p:nvPr/>
        </p:nvSpPr>
        <p:spPr>
          <a:xfrm>
            <a:off x="540000" y="306000"/>
            <a:ext cx="3240000" cy="423720"/>
          </a:xfrm>
          <a:prstGeom prst="rect">
            <a:avLst/>
          </a:prstGeom>
          <a:noFill/>
          <a:ln w="0">
            <a:noFill/>
          </a:ln>
        </p:spPr>
        <p:txBody>
          <a:bodyPr lIns="43200" rIns="43200" tIns="43200" bIns="43200" anchor="t">
            <a:noAutofit/>
          </a:bodyPr>
          <a:p>
            <a:r>
              <a:rPr b="1" lang="en-US" sz="1000" spc="-1" strike="noStrike">
                <a:solidFill>
                  <a:srgbClr val="0f6b5d"/>
                </a:solidFill>
                <a:latin typeface="Arial"/>
              </a:rPr>
              <a:t>SEMANTIC NAVIGATION</a:t>
            </a:r>
            <a:endParaRPr b="0" lang="en-US" sz="1000" spc="-1" strike="noStrike">
              <a:solidFill>
                <a:srgbClr val="000000"/>
              </a:solidFill>
              <a:latin typeface="Arial"/>
            </a:endParaRPr>
          </a:p>
        </p:txBody>
      </p:sp>
      <p:sp>
        <p:nvSpPr>
          <p:cNvPr id="81" name=""/>
          <p:cNvSpPr txBox="1"/>
          <p:nvPr/>
        </p:nvSpPr>
        <p:spPr>
          <a:xfrm>
            <a:off x="540000" y="540000"/>
            <a:ext cx="7560000" cy="542520"/>
          </a:xfrm>
          <a:prstGeom prst="rect">
            <a:avLst/>
          </a:prstGeom>
          <a:noFill/>
          <a:ln w="0">
            <a:noFill/>
          </a:ln>
        </p:spPr>
        <p:txBody>
          <a:bodyPr lIns="43200" rIns="43200" tIns="43200" bIns="43200" anchor="t">
            <a:noAutofit/>
          </a:bodyPr>
          <a:p>
            <a:r>
              <a:rPr b="1" lang="en-US" sz="3200" spc="-1" strike="noStrike">
                <a:solidFill>
                  <a:srgbClr val="111917"/>
                </a:solidFill>
                <a:latin typeface="Arial"/>
              </a:rPr>
              <a:t>Semantic map data model</a:t>
            </a:r>
            <a:endParaRPr b="0" lang="en-US" sz="3200" spc="-1" strike="noStrike">
              <a:solidFill>
                <a:srgbClr val="000000"/>
              </a:solidFill>
              <a:latin typeface="Arial"/>
            </a:endParaRPr>
          </a:p>
        </p:txBody>
      </p:sp>
      <p:sp>
        <p:nvSpPr>
          <p:cNvPr id="82" name=""/>
          <p:cNvSpPr txBox="1"/>
          <p:nvPr/>
        </p:nvSpPr>
        <p:spPr>
          <a:xfrm>
            <a:off x="547200" y="1051200"/>
            <a:ext cx="6660000" cy="510120"/>
          </a:xfrm>
          <a:prstGeom prst="rect">
            <a:avLst/>
          </a:prstGeom>
          <a:noFill/>
          <a:ln w="0">
            <a:noFill/>
          </a:ln>
        </p:spPr>
        <p:txBody>
          <a:bodyPr lIns="43200" rIns="43200" tIns="43200" bIns="43200" anchor="t">
            <a:noAutofit/>
          </a:bodyPr>
          <a:p>
            <a:r>
              <a:rPr b="0" lang="en-US" sz="1500" spc="-1" strike="noStrike">
                <a:solidFill>
                  <a:srgbClr val="626c68"/>
                </a:solidFill>
                <a:latin typeface="Arial"/>
              </a:rPr>
              <a:t>The semantic nav dependency is structured around a hierarchy of map concepts.</a:t>
            </a:r>
            <a:endParaRPr b="0" lang="en-US" sz="1500" spc="-1" strike="noStrike">
              <a:solidFill>
                <a:srgbClr val="000000"/>
              </a:solidFill>
              <a:latin typeface="Arial"/>
            </a:endParaRPr>
          </a:p>
        </p:txBody>
      </p:sp>
      <p:sp>
        <p:nvSpPr>
          <p:cNvPr id="83" name=""/>
          <p:cNvSpPr/>
          <p:nvPr/>
        </p:nvSpPr>
        <p:spPr>
          <a:xfrm>
            <a:off x="5040000" y="2844000"/>
            <a:ext cx="2016000" cy="1008000"/>
          </a:xfrm>
          <a:prstGeom prst="ellipse">
            <a:avLst/>
          </a:prstGeom>
          <a:solidFill>
            <a:srgbClr val="0f6b5d"/>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84" name=""/>
          <p:cNvSpPr txBox="1"/>
          <p:nvPr/>
        </p:nvSpPr>
        <p:spPr>
          <a:xfrm>
            <a:off x="5184000" y="3182400"/>
            <a:ext cx="1728000" cy="598680"/>
          </a:xfrm>
          <a:prstGeom prst="rect">
            <a:avLst/>
          </a:prstGeom>
          <a:noFill/>
          <a:ln w="0">
            <a:noFill/>
          </a:ln>
        </p:spPr>
        <p:txBody>
          <a:bodyPr lIns="43200" rIns="43200" tIns="43200" bIns="43200" anchor="t">
            <a:noAutofit/>
          </a:bodyPr>
          <a:p>
            <a:r>
              <a:rPr b="1" lang="en-US" sz="1800" spc="-1" strike="noStrike">
                <a:solidFill>
                  <a:srgbClr val="ffffff"/>
                </a:solidFill>
                <a:latin typeface="Arial"/>
              </a:rPr>
              <a:t>SemanticMapState</a:t>
            </a:r>
            <a:endParaRPr b="0" lang="en-US" sz="1800" spc="-1" strike="noStrike">
              <a:solidFill>
                <a:srgbClr val="000000"/>
              </a:solidFill>
              <a:latin typeface="Arial"/>
            </a:endParaRPr>
          </a:p>
        </p:txBody>
      </p:sp>
      <p:sp>
        <p:nvSpPr>
          <p:cNvPr id="85" name=""/>
          <p:cNvSpPr/>
          <p:nvPr/>
        </p:nvSpPr>
        <p:spPr>
          <a:xfrm flipH="1" flipV="1">
            <a:off x="2844000" y="2232000"/>
            <a:ext cx="3204000" cy="1116000"/>
          </a:xfrm>
          <a:prstGeom prst="line">
            <a:avLst/>
          </a:prstGeom>
          <a:ln w="16200">
            <a:solidFill>
              <a:srgbClr val="0f6b5d"/>
            </a:solidFill>
            <a:round/>
          </a:ln>
        </p:spPr>
        <p:style>
          <a:lnRef idx="0"/>
          <a:fillRef idx="0"/>
          <a:effectRef idx="0"/>
          <a:fontRef idx="minor"/>
        </p:style>
        <p:txBody>
          <a:bodyPr lIns="97920" rIns="97920" tIns="52920" bIns="52920" anchor="ctr" anchorCtr="1">
            <a:noAutofit/>
          </a:bodyPr>
          <a:p>
            <a:endParaRPr b="0" lang="en-US" sz="1800" spc="-1" strike="noStrike">
              <a:solidFill>
                <a:srgbClr val="000000"/>
              </a:solidFill>
              <a:latin typeface="Arial"/>
            </a:endParaRPr>
          </a:p>
        </p:txBody>
      </p:sp>
      <p:sp>
        <p:nvSpPr>
          <p:cNvPr id="86" name=""/>
          <p:cNvSpPr/>
          <p:nvPr/>
        </p:nvSpPr>
        <p:spPr>
          <a:xfrm>
            <a:off x="1764000" y="1908000"/>
            <a:ext cx="2160000" cy="648000"/>
          </a:xfrm>
          <a:prstGeom prst="rect">
            <a:avLst/>
          </a:prstGeom>
          <a:solidFill>
            <a:srgbClr val="ffffff"/>
          </a:solidFill>
          <a:ln w="7920">
            <a:solidFill>
              <a:srgbClr val="d8d0c0"/>
            </a:solidFill>
            <a:round/>
          </a:ln>
        </p:spPr>
        <p:txBody>
          <a:bodyPr lIns="93960" rIns="93960" tIns="48960" bIns="48960" anchor="ctr" anchorCtr="1">
            <a:noAutofit/>
          </a:bodyPr>
          <a:p>
            <a:endParaRPr b="0" lang="en-US" sz="1800" spc="-1" strike="noStrike">
              <a:solidFill>
                <a:srgbClr val="000000"/>
              </a:solidFill>
              <a:latin typeface="Arial"/>
            </a:endParaRPr>
          </a:p>
        </p:txBody>
      </p:sp>
      <p:sp>
        <p:nvSpPr>
          <p:cNvPr id="87" name=""/>
          <p:cNvSpPr/>
          <p:nvPr/>
        </p:nvSpPr>
        <p:spPr>
          <a:xfrm>
            <a:off x="1882800" y="2120400"/>
            <a:ext cx="223200" cy="223200"/>
          </a:xfrm>
          <a:prstGeom prst="ellipse">
            <a:avLst/>
          </a:prstGeom>
          <a:solidFill>
            <a:srgbClr val="0f6b5d"/>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88" name=""/>
          <p:cNvSpPr txBox="1"/>
          <p:nvPr/>
        </p:nvSpPr>
        <p:spPr>
          <a:xfrm>
            <a:off x="2167200" y="2001600"/>
            <a:ext cx="1670400" cy="423720"/>
          </a:xfrm>
          <a:prstGeom prst="rect">
            <a:avLst/>
          </a:prstGeom>
          <a:noFill/>
          <a:ln w="0">
            <a:noFill/>
          </a:ln>
        </p:spPr>
        <p:txBody>
          <a:bodyPr lIns="43200" rIns="43200" tIns="43200" bIns="43200" anchor="t">
            <a:noAutofit/>
          </a:bodyPr>
          <a:p>
            <a:r>
              <a:rPr b="1" lang="en-US" sz="1500" spc="-1" strike="noStrike">
                <a:solidFill>
                  <a:srgbClr val="111917"/>
                </a:solidFill>
                <a:latin typeface="Arial"/>
              </a:rPr>
              <a:t>SemanticEntity</a:t>
            </a:r>
            <a:endParaRPr b="0" lang="en-US" sz="1500" spc="-1" strike="noStrike">
              <a:solidFill>
                <a:srgbClr val="000000"/>
              </a:solidFill>
              <a:latin typeface="Arial"/>
            </a:endParaRPr>
          </a:p>
        </p:txBody>
      </p:sp>
      <p:sp>
        <p:nvSpPr>
          <p:cNvPr id="89" name=""/>
          <p:cNvSpPr txBox="1"/>
          <p:nvPr/>
        </p:nvSpPr>
        <p:spPr>
          <a:xfrm>
            <a:off x="2167200" y="2167200"/>
            <a:ext cx="1670400" cy="423720"/>
          </a:xfrm>
          <a:prstGeom prst="rect">
            <a:avLst/>
          </a:prstGeom>
          <a:noFill/>
          <a:ln w="0">
            <a:noFill/>
          </a:ln>
        </p:spPr>
        <p:txBody>
          <a:bodyPr lIns="43200" rIns="43200" tIns="43200" bIns="43200" anchor="t">
            <a:noAutofit/>
          </a:bodyPr>
          <a:p>
            <a:r>
              <a:rPr b="0" lang="en-US" sz="1000" spc="-1" strike="noStrike">
                <a:solidFill>
                  <a:srgbClr val="626c68"/>
                </a:solidFill>
                <a:latin typeface="Arial"/>
              </a:rPr>
              <a:t>object identity</a:t>
            </a:r>
            <a:endParaRPr b="0" lang="en-US" sz="1000" spc="-1" strike="noStrike">
              <a:solidFill>
                <a:srgbClr val="000000"/>
              </a:solidFill>
              <a:latin typeface="Arial"/>
            </a:endParaRPr>
          </a:p>
          <a:p>
            <a:r>
              <a:rPr b="0" lang="en-US" sz="1000" spc="-1" strike="noStrike">
                <a:solidFill>
                  <a:srgbClr val="626c68"/>
                </a:solidFill>
                <a:latin typeface="Arial"/>
              </a:rPr>
              <a:t>pose + confidence</a:t>
            </a:r>
            <a:endParaRPr b="0" lang="en-US" sz="1000" spc="-1" strike="noStrike">
              <a:solidFill>
                <a:srgbClr val="000000"/>
              </a:solidFill>
              <a:latin typeface="Arial"/>
            </a:endParaRPr>
          </a:p>
        </p:txBody>
      </p:sp>
      <p:sp>
        <p:nvSpPr>
          <p:cNvPr id="90" name=""/>
          <p:cNvSpPr/>
          <p:nvPr/>
        </p:nvSpPr>
        <p:spPr>
          <a:xfrm flipV="1">
            <a:off x="6048000" y="2232000"/>
            <a:ext cx="3744000" cy="1116000"/>
          </a:xfrm>
          <a:prstGeom prst="line">
            <a:avLst/>
          </a:prstGeom>
          <a:ln w="16200">
            <a:solidFill>
              <a:srgbClr val="315e8a"/>
            </a:solidFill>
            <a:round/>
          </a:ln>
        </p:spPr>
        <p:style>
          <a:lnRef idx="0"/>
          <a:fillRef idx="0"/>
          <a:effectRef idx="0"/>
          <a:fontRef idx="minor"/>
        </p:style>
        <p:txBody>
          <a:bodyPr lIns="97920" rIns="97920" tIns="52920" bIns="52920" anchor="ctr" anchorCtr="1">
            <a:noAutofit/>
          </a:bodyPr>
          <a:p>
            <a:endParaRPr b="0" lang="en-US" sz="1800" spc="-1" strike="noStrike">
              <a:solidFill>
                <a:srgbClr val="000000"/>
              </a:solidFill>
              <a:latin typeface="Arial"/>
            </a:endParaRPr>
          </a:p>
        </p:txBody>
      </p:sp>
      <p:sp>
        <p:nvSpPr>
          <p:cNvPr id="91" name=""/>
          <p:cNvSpPr/>
          <p:nvPr/>
        </p:nvSpPr>
        <p:spPr>
          <a:xfrm>
            <a:off x="8712000" y="1908000"/>
            <a:ext cx="2160000" cy="648000"/>
          </a:xfrm>
          <a:prstGeom prst="rect">
            <a:avLst/>
          </a:prstGeom>
          <a:solidFill>
            <a:srgbClr val="ffffff"/>
          </a:solidFill>
          <a:ln w="7920">
            <a:solidFill>
              <a:srgbClr val="d8d0c0"/>
            </a:solidFill>
            <a:round/>
          </a:ln>
        </p:spPr>
        <p:txBody>
          <a:bodyPr lIns="93960" rIns="93960" tIns="48960" bIns="48960" anchor="ctr" anchorCtr="1">
            <a:noAutofit/>
          </a:bodyPr>
          <a:p>
            <a:endParaRPr b="0" lang="en-US" sz="1800" spc="-1" strike="noStrike">
              <a:solidFill>
                <a:srgbClr val="000000"/>
              </a:solidFill>
              <a:latin typeface="Arial"/>
            </a:endParaRPr>
          </a:p>
        </p:txBody>
      </p:sp>
      <p:sp>
        <p:nvSpPr>
          <p:cNvPr id="92" name=""/>
          <p:cNvSpPr/>
          <p:nvPr/>
        </p:nvSpPr>
        <p:spPr>
          <a:xfrm>
            <a:off x="8830800" y="2120400"/>
            <a:ext cx="223200" cy="223200"/>
          </a:xfrm>
          <a:prstGeom prst="ellipse">
            <a:avLst/>
          </a:prstGeom>
          <a:solidFill>
            <a:srgbClr val="315e8a"/>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93" name=""/>
          <p:cNvSpPr txBox="1"/>
          <p:nvPr/>
        </p:nvSpPr>
        <p:spPr>
          <a:xfrm>
            <a:off x="9115200" y="2001600"/>
            <a:ext cx="1670400" cy="423720"/>
          </a:xfrm>
          <a:prstGeom prst="rect">
            <a:avLst/>
          </a:prstGeom>
          <a:noFill/>
          <a:ln w="0">
            <a:noFill/>
          </a:ln>
        </p:spPr>
        <p:txBody>
          <a:bodyPr lIns="43200" rIns="43200" tIns="43200" bIns="43200" anchor="t">
            <a:noAutofit/>
          </a:bodyPr>
          <a:p>
            <a:r>
              <a:rPr b="1" lang="en-US" sz="1500" spc="-1" strike="noStrike">
                <a:solidFill>
                  <a:srgbClr val="111917"/>
                </a:solidFill>
                <a:latin typeface="Arial"/>
              </a:rPr>
              <a:t>SemanticPlace</a:t>
            </a:r>
            <a:endParaRPr b="0" lang="en-US" sz="1500" spc="-1" strike="noStrike">
              <a:solidFill>
                <a:srgbClr val="000000"/>
              </a:solidFill>
              <a:latin typeface="Arial"/>
            </a:endParaRPr>
          </a:p>
        </p:txBody>
      </p:sp>
      <p:sp>
        <p:nvSpPr>
          <p:cNvPr id="94" name=""/>
          <p:cNvSpPr txBox="1"/>
          <p:nvPr/>
        </p:nvSpPr>
        <p:spPr>
          <a:xfrm>
            <a:off x="9115200" y="2167200"/>
            <a:ext cx="1670400" cy="423720"/>
          </a:xfrm>
          <a:prstGeom prst="rect">
            <a:avLst/>
          </a:prstGeom>
          <a:noFill/>
          <a:ln w="0">
            <a:noFill/>
          </a:ln>
        </p:spPr>
        <p:txBody>
          <a:bodyPr lIns="43200" rIns="43200" tIns="43200" bIns="43200" anchor="t">
            <a:noAutofit/>
          </a:bodyPr>
          <a:p>
            <a:r>
              <a:rPr b="0" lang="en-US" sz="1000" spc="-1" strike="noStrike">
                <a:solidFill>
                  <a:srgbClr val="626c68"/>
                </a:solidFill>
                <a:latin typeface="Arial"/>
              </a:rPr>
              <a:t>spatial grouping</a:t>
            </a:r>
            <a:endParaRPr b="0" lang="en-US" sz="1000" spc="-1" strike="noStrike">
              <a:solidFill>
                <a:srgbClr val="000000"/>
              </a:solidFill>
              <a:latin typeface="Arial"/>
            </a:endParaRPr>
          </a:p>
          <a:p>
            <a:r>
              <a:rPr b="0" lang="en-US" sz="1000" spc="-1" strike="noStrike">
                <a:solidFill>
                  <a:srgbClr val="626c68"/>
                </a:solidFill>
                <a:latin typeface="Arial"/>
              </a:rPr>
              <a:t>region context</a:t>
            </a:r>
            <a:endParaRPr b="0" lang="en-US" sz="1000" spc="-1" strike="noStrike">
              <a:solidFill>
                <a:srgbClr val="000000"/>
              </a:solidFill>
              <a:latin typeface="Arial"/>
            </a:endParaRPr>
          </a:p>
        </p:txBody>
      </p:sp>
      <p:sp>
        <p:nvSpPr>
          <p:cNvPr id="95" name=""/>
          <p:cNvSpPr/>
          <p:nvPr/>
        </p:nvSpPr>
        <p:spPr>
          <a:xfrm flipH="1">
            <a:off x="2844000" y="3348000"/>
            <a:ext cx="3204000" cy="1512000"/>
          </a:xfrm>
          <a:prstGeom prst="line">
            <a:avLst/>
          </a:prstGeom>
          <a:ln w="16200">
            <a:solidFill>
              <a:srgbClr val="c76946"/>
            </a:solidFill>
            <a:round/>
          </a:ln>
        </p:spPr>
        <p:style>
          <a:lnRef idx="0"/>
          <a:fillRef idx="0"/>
          <a:effectRef idx="0"/>
          <a:fontRef idx="minor"/>
        </p:style>
        <p:txBody>
          <a:bodyPr lIns="97920" rIns="97920" tIns="52920" bIns="52920" anchor="ctr" anchorCtr="1">
            <a:noAutofit/>
          </a:bodyPr>
          <a:p>
            <a:endParaRPr b="0" lang="en-US" sz="1800" spc="-1" strike="noStrike">
              <a:solidFill>
                <a:srgbClr val="000000"/>
              </a:solidFill>
              <a:latin typeface="Arial"/>
            </a:endParaRPr>
          </a:p>
        </p:txBody>
      </p:sp>
      <p:sp>
        <p:nvSpPr>
          <p:cNvPr id="96" name=""/>
          <p:cNvSpPr/>
          <p:nvPr/>
        </p:nvSpPr>
        <p:spPr>
          <a:xfrm>
            <a:off x="1764000" y="4536000"/>
            <a:ext cx="2160000" cy="648000"/>
          </a:xfrm>
          <a:prstGeom prst="rect">
            <a:avLst/>
          </a:prstGeom>
          <a:solidFill>
            <a:srgbClr val="ffffff"/>
          </a:solidFill>
          <a:ln w="7920">
            <a:solidFill>
              <a:srgbClr val="d8d0c0"/>
            </a:solidFill>
            <a:round/>
          </a:ln>
        </p:spPr>
        <p:txBody>
          <a:bodyPr lIns="93960" rIns="93960" tIns="48960" bIns="48960" anchor="ctr" anchorCtr="1">
            <a:noAutofit/>
          </a:bodyPr>
          <a:p>
            <a:endParaRPr b="0" lang="en-US" sz="1800" spc="-1" strike="noStrike">
              <a:solidFill>
                <a:srgbClr val="000000"/>
              </a:solidFill>
              <a:latin typeface="Arial"/>
            </a:endParaRPr>
          </a:p>
        </p:txBody>
      </p:sp>
      <p:sp>
        <p:nvSpPr>
          <p:cNvPr id="97" name=""/>
          <p:cNvSpPr/>
          <p:nvPr/>
        </p:nvSpPr>
        <p:spPr>
          <a:xfrm>
            <a:off x="1882800" y="4748400"/>
            <a:ext cx="223200" cy="223200"/>
          </a:xfrm>
          <a:prstGeom prst="ellipse">
            <a:avLst/>
          </a:prstGeom>
          <a:solidFill>
            <a:srgbClr val="c76946"/>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98" name=""/>
          <p:cNvSpPr txBox="1"/>
          <p:nvPr/>
        </p:nvSpPr>
        <p:spPr>
          <a:xfrm>
            <a:off x="2167200" y="4629600"/>
            <a:ext cx="1670400" cy="423720"/>
          </a:xfrm>
          <a:prstGeom prst="rect">
            <a:avLst/>
          </a:prstGeom>
          <a:noFill/>
          <a:ln w="0">
            <a:noFill/>
          </a:ln>
        </p:spPr>
        <p:txBody>
          <a:bodyPr lIns="43200" rIns="43200" tIns="43200" bIns="43200" anchor="t">
            <a:noAutofit/>
          </a:bodyPr>
          <a:p>
            <a:r>
              <a:rPr b="1" lang="en-US" sz="1500" spc="-1" strike="noStrike">
                <a:solidFill>
                  <a:srgbClr val="111917"/>
                </a:solidFill>
                <a:latin typeface="Arial"/>
              </a:rPr>
              <a:t>SemanticAnchor</a:t>
            </a:r>
            <a:endParaRPr b="0" lang="en-US" sz="1500" spc="-1" strike="noStrike">
              <a:solidFill>
                <a:srgbClr val="000000"/>
              </a:solidFill>
              <a:latin typeface="Arial"/>
            </a:endParaRPr>
          </a:p>
        </p:txBody>
      </p:sp>
      <p:sp>
        <p:nvSpPr>
          <p:cNvPr id="99" name=""/>
          <p:cNvSpPr txBox="1"/>
          <p:nvPr/>
        </p:nvSpPr>
        <p:spPr>
          <a:xfrm>
            <a:off x="2167200" y="4795200"/>
            <a:ext cx="1670400" cy="423720"/>
          </a:xfrm>
          <a:prstGeom prst="rect">
            <a:avLst/>
          </a:prstGeom>
          <a:noFill/>
          <a:ln w="0">
            <a:noFill/>
          </a:ln>
        </p:spPr>
        <p:txBody>
          <a:bodyPr lIns="43200" rIns="43200" tIns="43200" bIns="43200" anchor="t">
            <a:noAutofit/>
          </a:bodyPr>
          <a:p>
            <a:r>
              <a:rPr b="0" lang="en-US" sz="1000" spc="-1" strike="noStrike">
                <a:solidFill>
                  <a:srgbClr val="626c68"/>
                </a:solidFill>
                <a:latin typeface="Arial"/>
              </a:rPr>
              <a:t>stable reference</a:t>
            </a:r>
            <a:endParaRPr b="0" lang="en-US" sz="1000" spc="-1" strike="noStrike">
              <a:solidFill>
                <a:srgbClr val="000000"/>
              </a:solidFill>
              <a:latin typeface="Arial"/>
            </a:endParaRPr>
          </a:p>
          <a:p>
            <a:r>
              <a:rPr b="0" lang="en-US" sz="1000" spc="-1" strike="noStrike">
                <a:solidFill>
                  <a:srgbClr val="626c68"/>
                </a:solidFill>
                <a:latin typeface="Arial"/>
              </a:rPr>
              <a:t>for approach goals</a:t>
            </a:r>
            <a:endParaRPr b="0" lang="en-US" sz="1000" spc="-1" strike="noStrike">
              <a:solidFill>
                <a:srgbClr val="000000"/>
              </a:solidFill>
              <a:latin typeface="Arial"/>
            </a:endParaRPr>
          </a:p>
        </p:txBody>
      </p:sp>
      <p:sp>
        <p:nvSpPr>
          <p:cNvPr id="100" name=""/>
          <p:cNvSpPr/>
          <p:nvPr/>
        </p:nvSpPr>
        <p:spPr>
          <a:xfrm>
            <a:off x="6048000" y="3348000"/>
            <a:ext cx="3744000" cy="1512000"/>
          </a:xfrm>
          <a:prstGeom prst="line">
            <a:avLst/>
          </a:prstGeom>
          <a:ln w="16200">
            <a:solidFill>
              <a:srgbClr val="315e8a"/>
            </a:solidFill>
            <a:round/>
          </a:ln>
        </p:spPr>
        <p:style>
          <a:lnRef idx="0"/>
          <a:fillRef idx="0"/>
          <a:effectRef idx="0"/>
          <a:fontRef idx="minor"/>
        </p:style>
        <p:txBody>
          <a:bodyPr lIns="97920" rIns="97920" tIns="52920" bIns="52920" anchor="ctr" anchorCtr="1">
            <a:noAutofit/>
          </a:bodyPr>
          <a:p>
            <a:endParaRPr b="0" lang="en-US" sz="1800" spc="-1" strike="noStrike">
              <a:solidFill>
                <a:srgbClr val="000000"/>
              </a:solidFill>
              <a:latin typeface="Arial"/>
            </a:endParaRPr>
          </a:p>
        </p:txBody>
      </p:sp>
      <p:sp>
        <p:nvSpPr>
          <p:cNvPr id="101" name=""/>
          <p:cNvSpPr/>
          <p:nvPr/>
        </p:nvSpPr>
        <p:spPr>
          <a:xfrm>
            <a:off x="8712000" y="4536000"/>
            <a:ext cx="2160000" cy="648000"/>
          </a:xfrm>
          <a:prstGeom prst="rect">
            <a:avLst/>
          </a:prstGeom>
          <a:solidFill>
            <a:srgbClr val="ffffff"/>
          </a:solidFill>
          <a:ln w="7920">
            <a:solidFill>
              <a:srgbClr val="d8d0c0"/>
            </a:solidFill>
            <a:round/>
          </a:ln>
        </p:spPr>
        <p:txBody>
          <a:bodyPr lIns="93960" rIns="93960" tIns="48960" bIns="48960" anchor="ctr" anchorCtr="1">
            <a:noAutofit/>
          </a:bodyPr>
          <a:p>
            <a:endParaRPr b="0" lang="en-US" sz="1800" spc="-1" strike="noStrike">
              <a:solidFill>
                <a:srgbClr val="000000"/>
              </a:solidFill>
              <a:latin typeface="Arial"/>
            </a:endParaRPr>
          </a:p>
        </p:txBody>
      </p:sp>
      <p:sp>
        <p:nvSpPr>
          <p:cNvPr id="102" name=""/>
          <p:cNvSpPr/>
          <p:nvPr/>
        </p:nvSpPr>
        <p:spPr>
          <a:xfrm>
            <a:off x="8830800" y="4748400"/>
            <a:ext cx="223200" cy="223200"/>
          </a:xfrm>
          <a:prstGeom prst="ellipse">
            <a:avLst/>
          </a:prstGeom>
          <a:solidFill>
            <a:srgbClr val="315e8a"/>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03" name=""/>
          <p:cNvSpPr txBox="1"/>
          <p:nvPr/>
        </p:nvSpPr>
        <p:spPr>
          <a:xfrm>
            <a:off x="9115200" y="4629600"/>
            <a:ext cx="1670400" cy="510120"/>
          </a:xfrm>
          <a:prstGeom prst="rect">
            <a:avLst/>
          </a:prstGeom>
          <a:noFill/>
          <a:ln w="0">
            <a:noFill/>
          </a:ln>
        </p:spPr>
        <p:txBody>
          <a:bodyPr lIns="43200" rIns="43200" tIns="43200" bIns="43200" anchor="t">
            <a:noAutofit/>
          </a:bodyPr>
          <a:p>
            <a:r>
              <a:rPr b="1" lang="en-US" sz="1500" spc="-1" strike="noStrike">
                <a:solidFill>
                  <a:srgbClr val="111917"/>
                </a:solidFill>
                <a:latin typeface="Arial"/>
              </a:rPr>
              <a:t>SemanticRelation</a:t>
            </a:r>
            <a:endParaRPr b="0" lang="en-US" sz="1500" spc="-1" strike="noStrike">
              <a:solidFill>
                <a:srgbClr val="000000"/>
              </a:solidFill>
              <a:latin typeface="Arial"/>
            </a:endParaRPr>
          </a:p>
        </p:txBody>
      </p:sp>
      <p:sp>
        <p:nvSpPr>
          <p:cNvPr id="104" name=""/>
          <p:cNvSpPr txBox="1"/>
          <p:nvPr/>
        </p:nvSpPr>
        <p:spPr>
          <a:xfrm>
            <a:off x="9115200" y="4795200"/>
            <a:ext cx="1670400" cy="423720"/>
          </a:xfrm>
          <a:prstGeom prst="rect">
            <a:avLst/>
          </a:prstGeom>
          <a:noFill/>
          <a:ln w="0">
            <a:noFill/>
          </a:ln>
        </p:spPr>
        <p:txBody>
          <a:bodyPr lIns="43200" rIns="43200" tIns="43200" bIns="43200" anchor="t">
            <a:noAutofit/>
          </a:bodyPr>
          <a:p>
            <a:r>
              <a:rPr b="0" lang="en-US" sz="1000" spc="-1" strike="noStrike">
                <a:solidFill>
                  <a:srgbClr val="626c68"/>
                </a:solidFill>
                <a:latin typeface="Arial"/>
              </a:rPr>
              <a:t>near / next_to</a:t>
            </a:r>
            <a:endParaRPr b="0" lang="en-US" sz="1000" spc="-1" strike="noStrike">
              <a:solidFill>
                <a:srgbClr val="000000"/>
              </a:solidFill>
              <a:latin typeface="Arial"/>
            </a:endParaRPr>
          </a:p>
          <a:p>
            <a:r>
              <a:rPr b="0" lang="en-US" sz="1000" spc="-1" strike="noStrike">
                <a:solidFill>
                  <a:srgbClr val="626c68"/>
                </a:solidFill>
                <a:latin typeface="Arial"/>
              </a:rPr>
              <a:t>contains / supports</a:t>
            </a:r>
            <a:endParaRPr b="0" lang="en-US" sz="1000" spc="-1" strike="noStrike">
              <a:solidFill>
                <a:srgbClr val="000000"/>
              </a:solidFill>
              <a:latin typeface="Arial"/>
            </a:endParaRPr>
          </a:p>
        </p:txBody>
      </p:sp>
      <p:sp>
        <p:nvSpPr>
          <p:cNvPr id="105" name=""/>
          <p:cNvSpPr txBox="1"/>
          <p:nvPr/>
        </p:nvSpPr>
        <p:spPr>
          <a:xfrm>
            <a:off x="1764000" y="5562000"/>
            <a:ext cx="8676000" cy="571320"/>
          </a:xfrm>
          <a:prstGeom prst="rect">
            <a:avLst/>
          </a:prstGeom>
          <a:noFill/>
          <a:ln w="0">
            <a:noFill/>
          </a:ln>
        </p:spPr>
        <p:txBody>
          <a:bodyPr lIns="43200" rIns="43200" tIns="43200" bIns="43200" anchor="t">
            <a:noAutofit/>
          </a:bodyPr>
          <a:p>
            <a:r>
              <a:rPr b="1" lang="en-US" sz="1700" spc="-1" strike="noStrike">
                <a:solidFill>
                  <a:srgbClr val="111917"/>
                </a:solidFill>
                <a:latin typeface="Arial"/>
              </a:rPr>
              <a:t>Entities are not isolated points; they are connected into places, anchors, and relations that queries can reason over.</a:t>
            </a:r>
            <a:endParaRPr b="0" lang="en-US" sz="1700" spc="-1" strike="noStrike">
              <a:solidFill>
                <a:srgbClr val="000000"/>
              </a:solidFill>
              <a:latin typeface="Arial"/>
            </a:endParaRPr>
          </a:p>
        </p:txBody>
      </p:sp>
      <p:sp>
        <p:nvSpPr>
          <p:cNvPr id="106" name=""/>
          <p:cNvSpPr/>
          <p:nvPr/>
        </p:nvSpPr>
        <p:spPr>
          <a:xfrm>
            <a:off x="540000" y="6433200"/>
            <a:ext cx="11088000" cy="0"/>
          </a:xfrm>
          <a:prstGeom prst="line">
            <a:avLst/>
          </a:prstGeom>
          <a:ln w="7200">
            <a:solidFill>
              <a:srgbClr val="d8d0c0"/>
            </a:solidFill>
            <a:round/>
          </a:ln>
        </p:spPr>
        <p:style>
          <a:lnRef idx="0"/>
          <a:fillRef idx="0"/>
          <a:effectRef idx="0"/>
          <a:fontRef idx="minor"/>
        </p:style>
        <p:txBody>
          <a:bodyPr lIns="93600" rIns="93600" tIns="-48600" bIns="-48600" anchor="ctr" anchorCtr="1">
            <a:noAutofit/>
          </a:bodyPr>
          <a:p>
            <a:endParaRPr b="0" lang="en-US" sz="1800" spc="-1" strike="noStrike">
              <a:solidFill>
                <a:srgbClr val="000000"/>
              </a:solidFill>
              <a:latin typeface="Arial"/>
            </a:endParaRPr>
          </a:p>
        </p:txBody>
      </p:sp>
      <p:sp>
        <p:nvSpPr>
          <p:cNvPr id="107" name=""/>
          <p:cNvSpPr txBox="1"/>
          <p:nvPr/>
        </p:nvSpPr>
        <p:spPr>
          <a:xfrm>
            <a:off x="540000" y="6451200"/>
            <a:ext cx="3240000" cy="423720"/>
          </a:xfrm>
          <a:prstGeom prst="rect">
            <a:avLst/>
          </a:prstGeom>
          <a:noFill/>
          <a:ln w="0">
            <a:noFill/>
          </a:ln>
        </p:spPr>
        <p:txBody>
          <a:bodyPr lIns="43200" rIns="43200" tIns="43200" bIns="43200" anchor="t">
            <a:noAutofit/>
          </a:bodyPr>
          <a:p>
            <a:r>
              <a:rPr b="0" lang="en-US" sz="800" spc="-1" strike="noStrike">
                <a:solidFill>
                  <a:srgbClr val="626c68"/>
                </a:solidFill>
                <a:latin typeface="Arial"/>
              </a:rPr>
              <a:t>semantic-nav architecture</a:t>
            </a:r>
            <a:endParaRPr b="0" lang="en-US" sz="800" spc="-1" strike="noStrike">
              <a:solidFill>
                <a:srgbClr val="000000"/>
              </a:solidFill>
              <a:latin typeface="Arial"/>
            </a:endParaRPr>
          </a:p>
        </p:txBody>
      </p:sp>
      <p:sp>
        <p:nvSpPr>
          <p:cNvPr id="108" name=""/>
          <p:cNvSpPr txBox="1"/>
          <p:nvPr/>
        </p:nvSpPr>
        <p:spPr>
          <a:xfrm>
            <a:off x="11142000" y="6451200"/>
            <a:ext cx="360000" cy="423720"/>
          </a:xfrm>
          <a:prstGeom prst="rect">
            <a:avLst/>
          </a:prstGeom>
          <a:noFill/>
          <a:ln w="0">
            <a:noFill/>
          </a:ln>
        </p:spPr>
        <p:txBody>
          <a:bodyPr lIns="43200" rIns="43200" tIns="43200" bIns="43200" anchor="t">
            <a:noAutofit/>
          </a:bodyPr>
          <a:p>
            <a:r>
              <a:rPr b="0" lang="en-US" sz="800" spc="-1" strike="noStrike">
                <a:solidFill>
                  <a:srgbClr val="626c68"/>
                </a:solidFill>
                <a:latin typeface="Arial"/>
              </a:rPr>
              <a:t>03</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 name=""/>
          <p:cNvSpPr/>
          <p:nvPr/>
        </p:nvSpPr>
        <p:spPr>
          <a:xfrm>
            <a:off x="0" y="0"/>
            <a:ext cx="12192120" cy="6858000"/>
          </a:xfrm>
          <a:prstGeom prst="rect">
            <a:avLst/>
          </a:prstGeom>
          <a:solidFill>
            <a:srgbClr val="f6f1e8"/>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10" name=""/>
          <p:cNvSpPr txBox="1"/>
          <p:nvPr/>
        </p:nvSpPr>
        <p:spPr>
          <a:xfrm>
            <a:off x="540000" y="306000"/>
            <a:ext cx="3240000" cy="423720"/>
          </a:xfrm>
          <a:prstGeom prst="rect">
            <a:avLst/>
          </a:prstGeom>
          <a:noFill/>
          <a:ln w="0">
            <a:noFill/>
          </a:ln>
        </p:spPr>
        <p:txBody>
          <a:bodyPr lIns="43200" rIns="43200" tIns="43200" bIns="43200" anchor="t">
            <a:noAutofit/>
          </a:bodyPr>
          <a:p>
            <a:r>
              <a:rPr b="1" lang="en-US" sz="1000" spc="-1" strike="noStrike">
                <a:solidFill>
                  <a:srgbClr val="0f6b5d"/>
                </a:solidFill>
                <a:latin typeface="Arial"/>
              </a:rPr>
              <a:t>SEMANTIC NAVIGATION</a:t>
            </a:r>
            <a:endParaRPr b="0" lang="en-US" sz="1000" spc="-1" strike="noStrike">
              <a:solidFill>
                <a:srgbClr val="000000"/>
              </a:solidFill>
              <a:latin typeface="Arial"/>
            </a:endParaRPr>
          </a:p>
        </p:txBody>
      </p:sp>
      <p:sp>
        <p:nvSpPr>
          <p:cNvPr id="111" name=""/>
          <p:cNvSpPr txBox="1"/>
          <p:nvPr/>
        </p:nvSpPr>
        <p:spPr>
          <a:xfrm>
            <a:off x="540000" y="540000"/>
            <a:ext cx="7560000" cy="542520"/>
          </a:xfrm>
          <a:prstGeom prst="rect">
            <a:avLst/>
          </a:prstGeom>
          <a:noFill/>
          <a:ln w="0">
            <a:noFill/>
          </a:ln>
        </p:spPr>
        <p:txBody>
          <a:bodyPr lIns="43200" rIns="43200" tIns="43200" bIns="43200" anchor="t">
            <a:noAutofit/>
          </a:bodyPr>
          <a:p>
            <a:r>
              <a:rPr b="1" lang="en-US" sz="3200" spc="-1" strike="noStrike">
                <a:solidFill>
                  <a:srgbClr val="111917"/>
                </a:solidFill>
                <a:latin typeface="Arial"/>
              </a:rPr>
              <a:t>Grounding real detections</a:t>
            </a:r>
            <a:endParaRPr b="0" lang="en-US" sz="3200" spc="-1" strike="noStrike">
              <a:solidFill>
                <a:srgbClr val="000000"/>
              </a:solidFill>
              <a:latin typeface="Arial"/>
            </a:endParaRPr>
          </a:p>
        </p:txBody>
      </p:sp>
      <p:sp>
        <p:nvSpPr>
          <p:cNvPr id="112" name=""/>
          <p:cNvSpPr txBox="1"/>
          <p:nvPr/>
        </p:nvSpPr>
        <p:spPr>
          <a:xfrm>
            <a:off x="547200" y="1051200"/>
            <a:ext cx="6660000" cy="423720"/>
          </a:xfrm>
          <a:prstGeom prst="rect">
            <a:avLst/>
          </a:prstGeom>
          <a:noFill/>
          <a:ln w="0">
            <a:noFill/>
          </a:ln>
        </p:spPr>
        <p:txBody>
          <a:bodyPr lIns="43200" rIns="43200" tIns="43200" bIns="43200" anchor="t">
            <a:noAutofit/>
          </a:bodyPr>
          <a:p>
            <a:r>
              <a:rPr b="0" lang="en-US" sz="1500" spc="-1" strike="noStrike">
                <a:solidFill>
                  <a:srgbClr val="626c68"/>
                </a:solidFill>
                <a:latin typeface="Arial"/>
              </a:rPr>
              <a:t>Camera detections become usable only after robot-native spatial grounding.</a:t>
            </a:r>
            <a:endParaRPr b="0" lang="en-US" sz="1500" spc="-1" strike="noStrike">
              <a:solidFill>
                <a:srgbClr val="000000"/>
              </a:solidFill>
              <a:latin typeface="Arial"/>
            </a:endParaRPr>
          </a:p>
        </p:txBody>
      </p:sp>
      <p:sp>
        <p:nvSpPr>
          <p:cNvPr id="113" name=""/>
          <p:cNvSpPr/>
          <p:nvPr/>
        </p:nvSpPr>
        <p:spPr>
          <a:xfrm>
            <a:off x="612000" y="1836000"/>
            <a:ext cx="5184000" cy="3240000"/>
          </a:xfrm>
          <a:prstGeom prst="rect">
            <a:avLst/>
          </a:prstGeom>
          <a:solidFill>
            <a:srgbClr val="ffffff"/>
          </a:solidFill>
          <a:ln w="7920">
            <a:solidFill>
              <a:srgbClr val="d8d0c0"/>
            </a:solidFill>
            <a:round/>
          </a:ln>
        </p:spPr>
        <p:txBody>
          <a:bodyPr lIns="93960" rIns="93960" tIns="48960" bIns="48960" anchor="ctr" anchorCtr="1">
            <a:noAutofit/>
          </a:bodyPr>
          <a:p>
            <a:endParaRPr b="0" lang="en-US" sz="1800" spc="-1" strike="noStrike">
              <a:solidFill>
                <a:srgbClr val="000000"/>
              </a:solidFill>
              <a:latin typeface="Arial"/>
            </a:endParaRPr>
          </a:p>
        </p:txBody>
      </p:sp>
      <p:sp>
        <p:nvSpPr>
          <p:cNvPr id="114" name=""/>
          <p:cNvSpPr txBox="1"/>
          <p:nvPr/>
        </p:nvSpPr>
        <p:spPr>
          <a:xfrm>
            <a:off x="864000" y="2088000"/>
            <a:ext cx="2520000" cy="423720"/>
          </a:xfrm>
          <a:prstGeom prst="rect">
            <a:avLst/>
          </a:prstGeom>
          <a:noFill/>
          <a:ln w="0">
            <a:noFill/>
          </a:ln>
        </p:spPr>
        <p:txBody>
          <a:bodyPr lIns="43200" rIns="43200" tIns="43200" bIns="43200" anchor="t">
            <a:noAutofit/>
          </a:bodyPr>
          <a:p>
            <a:r>
              <a:rPr b="1" lang="en-US" sz="1800" spc="-1" strike="noStrike">
                <a:solidFill>
                  <a:srgbClr val="0f6b5d"/>
                </a:solidFill>
                <a:latin typeface="Arial"/>
              </a:rPr>
              <a:t>Perception geometry</a:t>
            </a:r>
            <a:endParaRPr b="0" lang="en-US" sz="1800" spc="-1" strike="noStrike">
              <a:solidFill>
                <a:srgbClr val="000000"/>
              </a:solidFill>
              <a:latin typeface="Arial"/>
            </a:endParaRPr>
          </a:p>
        </p:txBody>
      </p:sp>
      <p:sp>
        <p:nvSpPr>
          <p:cNvPr id="115" name=""/>
          <p:cNvSpPr/>
          <p:nvPr/>
        </p:nvSpPr>
        <p:spPr>
          <a:xfrm>
            <a:off x="2934000" y="3636000"/>
            <a:ext cx="396000" cy="396000"/>
          </a:xfrm>
          <a:prstGeom prst="ellipse">
            <a:avLst/>
          </a:prstGeom>
          <a:solidFill>
            <a:srgbClr val="17211f"/>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16" name=""/>
          <p:cNvSpPr txBox="1"/>
          <p:nvPr/>
        </p:nvSpPr>
        <p:spPr>
          <a:xfrm>
            <a:off x="2736000" y="4068000"/>
            <a:ext cx="828000" cy="423720"/>
          </a:xfrm>
          <a:prstGeom prst="rect">
            <a:avLst/>
          </a:prstGeom>
          <a:noFill/>
          <a:ln w="0">
            <a:noFill/>
          </a:ln>
        </p:spPr>
        <p:txBody>
          <a:bodyPr lIns="43200" rIns="43200" tIns="43200" bIns="43200" anchor="t">
            <a:noAutofit/>
          </a:bodyPr>
          <a:p>
            <a:r>
              <a:rPr b="0" lang="en-US" sz="1100" spc="-1" strike="noStrike">
                <a:solidFill>
                  <a:srgbClr val="626c68"/>
                </a:solidFill>
                <a:latin typeface="Arial"/>
              </a:rPr>
              <a:t>robot</a:t>
            </a:r>
            <a:endParaRPr b="0" lang="en-US" sz="1100" spc="-1" strike="noStrike">
              <a:solidFill>
                <a:srgbClr val="000000"/>
              </a:solidFill>
              <a:latin typeface="Arial"/>
            </a:endParaRPr>
          </a:p>
        </p:txBody>
      </p:sp>
      <p:sp>
        <p:nvSpPr>
          <p:cNvPr id="117" name=""/>
          <p:cNvSpPr/>
          <p:nvPr/>
        </p:nvSpPr>
        <p:spPr>
          <a:xfrm flipH="1" flipV="1">
            <a:off x="2196000" y="2556000"/>
            <a:ext cx="936000" cy="1080000"/>
          </a:xfrm>
          <a:prstGeom prst="line">
            <a:avLst/>
          </a:prstGeom>
          <a:ln w="12600">
            <a:solidFill>
              <a:srgbClr val="0f6b5d"/>
            </a:solidFill>
            <a:round/>
          </a:ln>
        </p:spPr>
        <p:style>
          <a:lnRef idx="0"/>
          <a:fillRef idx="0"/>
          <a:effectRef idx="0"/>
          <a:fontRef idx="minor"/>
        </p:style>
        <p:txBody>
          <a:bodyPr lIns="96120" rIns="96120" tIns="51120" bIns="51120" anchor="ctr" anchorCtr="1">
            <a:noAutofit/>
          </a:bodyPr>
          <a:p>
            <a:endParaRPr b="0" lang="en-US" sz="1800" spc="-1" strike="noStrike">
              <a:solidFill>
                <a:srgbClr val="000000"/>
              </a:solidFill>
              <a:latin typeface="Arial"/>
            </a:endParaRPr>
          </a:p>
        </p:txBody>
      </p:sp>
      <p:sp>
        <p:nvSpPr>
          <p:cNvPr id="118" name=""/>
          <p:cNvSpPr/>
          <p:nvPr/>
        </p:nvSpPr>
        <p:spPr>
          <a:xfrm flipV="1">
            <a:off x="3132000" y="2556000"/>
            <a:ext cx="972000" cy="1080000"/>
          </a:xfrm>
          <a:prstGeom prst="line">
            <a:avLst/>
          </a:prstGeom>
          <a:ln w="12600">
            <a:solidFill>
              <a:srgbClr val="0f6b5d"/>
            </a:solidFill>
            <a:round/>
          </a:ln>
        </p:spPr>
        <p:style>
          <a:lnRef idx="0"/>
          <a:fillRef idx="0"/>
          <a:effectRef idx="0"/>
          <a:fontRef idx="minor"/>
        </p:style>
        <p:txBody>
          <a:bodyPr lIns="96120" rIns="96120" tIns="51120" bIns="51120" anchor="ctr" anchorCtr="1">
            <a:noAutofit/>
          </a:bodyPr>
          <a:p>
            <a:endParaRPr b="0" lang="en-US" sz="1800" spc="-1" strike="noStrike">
              <a:solidFill>
                <a:srgbClr val="000000"/>
              </a:solidFill>
              <a:latin typeface="Arial"/>
            </a:endParaRPr>
          </a:p>
        </p:txBody>
      </p:sp>
      <p:sp>
        <p:nvSpPr>
          <p:cNvPr id="119" name=""/>
          <p:cNvSpPr/>
          <p:nvPr/>
        </p:nvSpPr>
        <p:spPr>
          <a:xfrm flipV="1">
            <a:off x="3132000" y="3348000"/>
            <a:ext cx="1404000" cy="288000"/>
          </a:xfrm>
          <a:prstGeom prst="line">
            <a:avLst/>
          </a:prstGeom>
          <a:ln w="19800">
            <a:solidFill>
              <a:srgbClr val="315e8a"/>
            </a:solidFill>
            <a:round/>
          </a:ln>
        </p:spPr>
        <p:style>
          <a:lnRef idx="0"/>
          <a:fillRef idx="0"/>
          <a:effectRef idx="0"/>
          <a:fontRef idx="minor"/>
        </p:style>
        <p:txBody>
          <a:bodyPr lIns="99720" rIns="99720" tIns="54720" bIns="54720" anchor="ctr" anchorCtr="1">
            <a:noAutofit/>
          </a:bodyPr>
          <a:p>
            <a:endParaRPr b="0" lang="en-US" sz="1800" spc="-1" strike="noStrike">
              <a:solidFill>
                <a:srgbClr val="000000"/>
              </a:solidFill>
              <a:latin typeface="Arial"/>
            </a:endParaRPr>
          </a:p>
        </p:txBody>
      </p:sp>
      <p:sp>
        <p:nvSpPr>
          <p:cNvPr id="120" name=""/>
          <p:cNvSpPr/>
          <p:nvPr/>
        </p:nvSpPr>
        <p:spPr>
          <a:xfrm>
            <a:off x="4536000" y="3240000"/>
            <a:ext cx="306000" cy="306000"/>
          </a:xfrm>
          <a:prstGeom prst="ellipse">
            <a:avLst/>
          </a:prstGeom>
          <a:solidFill>
            <a:srgbClr val="c76946"/>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21" name=""/>
          <p:cNvSpPr txBox="1"/>
          <p:nvPr/>
        </p:nvSpPr>
        <p:spPr>
          <a:xfrm>
            <a:off x="4248000" y="3546000"/>
            <a:ext cx="936000" cy="423720"/>
          </a:xfrm>
          <a:prstGeom prst="rect">
            <a:avLst/>
          </a:prstGeom>
          <a:noFill/>
          <a:ln w="0">
            <a:noFill/>
          </a:ln>
        </p:spPr>
        <p:txBody>
          <a:bodyPr lIns="43200" rIns="43200" tIns="43200" bIns="43200" anchor="t">
            <a:noAutofit/>
          </a:bodyPr>
          <a:p>
            <a:r>
              <a:rPr b="0" lang="en-US" sz="1000" spc="-1" strike="noStrike">
                <a:solidFill>
                  <a:srgbClr val="626c68"/>
                </a:solidFill>
                <a:latin typeface="Arial"/>
              </a:rPr>
              <a:t>detected object</a:t>
            </a:r>
            <a:endParaRPr b="0" lang="en-US" sz="1000" spc="-1" strike="noStrike">
              <a:solidFill>
                <a:srgbClr val="000000"/>
              </a:solidFill>
              <a:latin typeface="Arial"/>
            </a:endParaRPr>
          </a:p>
        </p:txBody>
      </p:sp>
      <p:sp>
        <p:nvSpPr>
          <p:cNvPr id="122" name=""/>
          <p:cNvSpPr/>
          <p:nvPr/>
        </p:nvSpPr>
        <p:spPr>
          <a:xfrm>
            <a:off x="6588000" y="1926000"/>
            <a:ext cx="4500000" cy="792000"/>
          </a:xfrm>
          <a:prstGeom prst="rect">
            <a:avLst/>
          </a:prstGeom>
          <a:solidFill>
            <a:srgbClr val="ffffff"/>
          </a:solidFill>
          <a:ln w="7920">
            <a:solidFill>
              <a:srgbClr val="d8d0c0"/>
            </a:solidFill>
            <a:round/>
          </a:ln>
        </p:spPr>
        <p:txBody>
          <a:bodyPr lIns="93960" rIns="93960" tIns="48960" bIns="48960" anchor="ctr" anchorCtr="1">
            <a:noAutofit/>
          </a:bodyPr>
          <a:p>
            <a:endParaRPr b="0" lang="en-US" sz="1800" spc="-1" strike="noStrike">
              <a:solidFill>
                <a:srgbClr val="000000"/>
              </a:solidFill>
              <a:latin typeface="Arial"/>
            </a:endParaRPr>
          </a:p>
        </p:txBody>
      </p:sp>
      <p:sp>
        <p:nvSpPr>
          <p:cNvPr id="123" name=""/>
          <p:cNvSpPr/>
          <p:nvPr/>
        </p:nvSpPr>
        <p:spPr>
          <a:xfrm>
            <a:off x="6588000" y="1926000"/>
            <a:ext cx="93600" cy="792000"/>
          </a:xfrm>
          <a:prstGeom prst="rect">
            <a:avLst/>
          </a:prstGeom>
          <a:solidFill>
            <a:srgbClr val="0f6b5d"/>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24" name=""/>
          <p:cNvSpPr txBox="1"/>
          <p:nvPr/>
        </p:nvSpPr>
        <p:spPr>
          <a:xfrm>
            <a:off x="6757200" y="2034000"/>
            <a:ext cx="4248000" cy="423720"/>
          </a:xfrm>
          <a:prstGeom prst="rect">
            <a:avLst/>
          </a:prstGeom>
          <a:noFill/>
          <a:ln w="0">
            <a:noFill/>
          </a:ln>
        </p:spPr>
        <p:txBody>
          <a:bodyPr lIns="43200" rIns="43200" tIns="43200" bIns="43200" anchor="t">
            <a:noAutofit/>
          </a:bodyPr>
          <a:p>
            <a:r>
              <a:rPr b="1" lang="en-US" sz="1600" spc="-1" strike="noStrike">
                <a:solidFill>
                  <a:srgbClr val="0f6b5d"/>
                </a:solidFill>
                <a:latin typeface="Arial"/>
              </a:rPr>
              <a:t>occupancy_grid_validated</a:t>
            </a:r>
            <a:endParaRPr b="0" lang="en-US" sz="1600" spc="-1" strike="noStrike">
              <a:solidFill>
                <a:srgbClr val="000000"/>
              </a:solidFill>
              <a:latin typeface="Arial"/>
            </a:endParaRPr>
          </a:p>
        </p:txBody>
      </p:sp>
      <p:sp>
        <p:nvSpPr>
          <p:cNvPr id="125" name=""/>
          <p:cNvSpPr txBox="1"/>
          <p:nvPr/>
        </p:nvSpPr>
        <p:spPr>
          <a:xfrm>
            <a:off x="6757200" y="2221200"/>
            <a:ext cx="4212000" cy="423720"/>
          </a:xfrm>
          <a:prstGeom prst="rect">
            <a:avLst/>
          </a:prstGeom>
          <a:noFill/>
          <a:ln w="0">
            <a:noFill/>
          </a:ln>
        </p:spPr>
        <p:txBody>
          <a:bodyPr lIns="43200" rIns="43200" tIns="43200" bIns="43200" anchor="t">
            <a:noAutofit/>
          </a:bodyPr>
          <a:p>
            <a:r>
              <a:rPr b="0" lang="en-US" sz="1100" spc="-1" strike="noStrike">
                <a:solidFill>
                  <a:srgbClr val="111917"/>
                </a:solidFill>
                <a:latin typeface="Arial"/>
              </a:rPr>
              <a:t>object point is inside the map and attached to obstacle evidence</a:t>
            </a:r>
            <a:endParaRPr b="0" lang="en-US" sz="1100" spc="-1" strike="noStrike">
              <a:solidFill>
                <a:srgbClr val="000000"/>
              </a:solidFill>
              <a:latin typeface="Arial"/>
            </a:endParaRPr>
          </a:p>
        </p:txBody>
      </p:sp>
      <p:sp>
        <p:nvSpPr>
          <p:cNvPr id="126" name=""/>
          <p:cNvSpPr/>
          <p:nvPr/>
        </p:nvSpPr>
        <p:spPr>
          <a:xfrm>
            <a:off x="6588000" y="3006000"/>
            <a:ext cx="4500000" cy="792000"/>
          </a:xfrm>
          <a:prstGeom prst="rect">
            <a:avLst/>
          </a:prstGeom>
          <a:solidFill>
            <a:srgbClr val="ffffff"/>
          </a:solidFill>
          <a:ln w="7920">
            <a:solidFill>
              <a:srgbClr val="d8d0c0"/>
            </a:solidFill>
            <a:round/>
          </a:ln>
        </p:spPr>
        <p:txBody>
          <a:bodyPr lIns="93960" rIns="93960" tIns="48960" bIns="48960" anchor="ctr" anchorCtr="1">
            <a:noAutofit/>
          </a:bodyPr>
          <a:p>
            <a:endParaRPr b="0" lang="en-US" sz="1800" spc="-1" strike="noStrike">
              <a:solidFill>
                <a:srgbClr val="000000"/>
              </a:solidFill>
              <a:latin typeface="Arial"/>
            </a:endParaRPr>
          </a:p>
        </p:txBody>
      </p:sp>
      <p:sp>
        <p:nvSpPr>
          <p:cNvPr id="127" name=""/>
          <p:cNvSpPr/>
          <p:nvPr/>
        </p:nvSpPr>
        <p:spPr>
          <a:xfrm>
            <a:off x="6588000" y="3006000"/>
            <a:ext cx="93600" cy="792000"/>
          </a:xfrm>
          <a:prstGeom prst="rect">
            <a:avLst/>
          </a:prstGeom>
          <a:solidFill>
            <a:srgbClr val="c76946"/>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28" name=""/>
          <p:cNvSpPr txBox="1"/>
          <p:nvPr/>
        </p:nvSpPr>
        <p:spPr>
          <a:xfrm>
            <a:off x="6757200" y="3114000"/>
            <a:ext cx="4248000" cy="423720"/>
          </a:xfrm>
          <a:prstGeom prst="rect">
            <a:avLst/>
          </a:prstGeom>
          <a:noFill/>
          <a:ln w="0">
            <a:noFill/>
          </a:ln>
        </p:spPr>
        <p:txBody>
          <a:bodyPr lIns="43200" rIns="43200" tIns="43200" bIns="43200" anchor="t">
            <a:noAutofit/>
          </a:bodyPr>
          <a:p>
            <a:r>
              <a:rPr b="1" lang="en-US" sz="1600" spc="-1" strike="noStrike">
                <a:solidFill>
                  <a:srgbClr val="c76946"/>
                </a:solidFill>
                <a:latin typeface="Arial"/>
              </a:rPr>
              <a:t>occupancy_grid_pending</a:t>
            </a:r>
            <a:endParaRPr b="0" lang="en-US" sz="1600" spc="-1" strike="noStrike">
              <a:solidFill>
                <a:srgbClr val="000000"/>
              </a:solidFill>
              <a:latin typeface="Arial"/>
            </a:endParaRPr>
          </a:p>
        </p:txBody>
      </p:sp>
      <p:sp>
        <p:nvSpPr>
          <p:cNvPr id="129" name=""/>
          <p:cNvSpPr txBox="1"/>
          <p:nvPr/>
        </p:nvSpPr>
        <p:spPr>
          <a:xfrm>
            <a:off x="6757200" y="3301200"/>
            <a:ext cx="4212000" cy="423720"/>
          </a:xfrm>
          <a:prstGeom prst="rect">
            <a:avLst/>
          </a:prstGeom>
          <a:noFill/>
          <a:ln w="0">
            <a:noFill/>
          </a:ln>
        </p:spPr>
        <p:txBody>
          <a:bodyPr lIns="43200" rIns="43200" tIns="43200" bIns="43200" anchor="t">
            <a:noAutofit/>
          </a:bodyPr>
          <a:p>
            <a:r>
              <a:rPr b="0" lang="en-US" sz="1100" spc="-1" strike="noStrike">
                <a:solidFill>
                  <a:srgbClr val="111917"/>
                </a:solidFill>
                <a:latin typeface="Arial"/>
              </a:rPr>
              <a:t>real LiDAR-grounded object, but local obstacle evidence is not ready yet</a:t>
            </a:r>
            <a:endParaRPr b="0" lang="en-US" sz="1100" spc="-1" strike="noStrike">
              <a:solidFill>
                <a:srgbClr val="000000"/>
              </a:solidFill>
              <a:latin typeface="Arial"/>
            </a:endParaRPr>
          </a:p>
        </p:txBody>
      </p:sp>
      <p:sp>
        <p:nvSpPr>
          <p:cNvPr id="130" name=""/>
          <p:cNvSpPr/>
          <p:nvPr/>
        </p:nvSpPr>
        <p:spPr>
          <a:xfrm>
            <a:off x="6588000" y="4086000"/>
            <a:ext cx="4500000" cy="792000"/>
          </a:xfrm>
          <a:prstGeom prst="rect">
            <a:avLst/>
          </a:prstGeom>
          <a:solidFill>
            <a:srgbClr val="ffffff"/>
          </a:solidFill>
          <a:ln w="7920">
            <a:solidFill>
              <a:srgbClr val="d8d0c0"/>
            </a:solidFill>
            <a:round/>
          </a:ln>
        </p:spPr>
        <p:txBody>
          <a:bodyPr lIns="93960" rIns="93960" tIns="48960" bIns="48960" anchor="ctr" anchorCtr="1">
            <a:noAutofit/>
          </a:bodyPr>
          <a:p>
            <a:endParaRPr b="0" lang="en-US" sz="1800" spc="-1" strike="noStrike">
              <a:solidFill>
                <a:srgbClr val="000000"/>
              </a:solidFill>
              <a:latin typeface="Arial"/>
            </a:endParaRPr>
          </a:p>
        </p:txBody>
      </p:sp>
      <p:sp>
        <p:nvSpPr>
          <p:cNvPr id="131" name=""/>
          <p:cNvSpPr/>
          <p:nvPr/>
        </p:nvSpPr>
        <p:spPr>
          <a:xfrm>
            <a:off x="6588000" y="4086000"/>
            <a:ext cx="93600" cy="792000"/>
          </a:xfrm>
          <a:prstGeom prst="rect">
            <a:avLst/>
          </a:prstGeom>
          <a:solidFill>
            <a:srgbClr val="315e8a"/>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32" name=""/>
          <p:cNvSpPr txBox="1"/>
          <p:nvPr/>
        </p:nvSpPr>
        <p:spPr>
          <a:xfrm>
            <a:off x="6757200" y="4194000"/>
            <a:ext cx="4248000" cy="423720"/>
          </a:xfrm>
          <a:prstGeom prst="rect">
            <a:avLst/>
          </a:prstGeom>
          <a:noFill/>
          <a:ln w="0">
            <a:noFill/>
          </a:ln>
        </p:spPr>
        <p:txBody>
          <a:bodyPr lIns="43200" rIns="43200" tIns="43200" bIns="43200" anchor="t">
            <a:noAutofit/>
          </a:bodyPr>
          <a:p>
            <a:r>
              <a:rPr b="1" lang="en-US" sz="1600" spc="-1" strike="noStrike">
                <a:solidFill>
                  <a:srgbClr val="315e8a"/>
                </a:solidFill>
                <a:latin typeface="Arial"/>
              </a:rPr>
              <a:t>map_bounds_pending</a:t>
            </a:r>
            <a:endParaRPr b="0" lang="en-US" sz="1600" spc="-1" strike="noStrike">
              <a:solidFill>
                <a:srgbClr val="000000"/>
              </a:solidFill>
              <a:latin typeface="Arial"/>
            </a:endParaRPr>
          </a:p>
        </p:txBody>
      </p:sp>
      <p:sp>
        <p:nvSpPr>
          <p:cNvPr id="133" name=""/>
          <p:cNvSpPr txBox="1"/>
          <p:nvPr/>
        </p:nvSpPr>
        <p:spPr>
          <a:xfrm>
            <a:off x="6757200" y="4381200"/>
            <a:ext cx="4212000" cy="423720"/>
          </a:xfrm>
          <a:prstGeom prst="rect">
            <a:avLst/>
          </a:prstGeom>
          <a:noFill/>
          <a:ln w="0">
            <a:noFill/>
          </a:ln>
        </p:spPr>
        <p:txBody>
          <a:bodyPr lIns="43200" rIns="43200" tIns="43200" bIns="43200" anchor="t">
            <a:noAutofit/>
          </a:bodyPr>
          <a:p>
            <a:r>
              <a:rPr b="0" lang="en-US" sz="1100" spc="-1" strike="noStrike">
                <a:solidFill>
                  <a:srgbClr val="111917"/>
                </a:solidFill>
                <a:latin typeface="Arial"/>
              </a:rPr>
              <a:t>object is real and grounded, but SLAM bounds have not expanded to it yet</a:t>
            </a:r>
            <a:endParaRPr b="0" lang="en-US" sz="1100" spc="-1" strike="noStrike">
              <a:solidFill>
                <a:srgbClr val="000000"/>
              </a:solidFill>
              <a:latin typeface="Arial"/>
            </a:endParaRPr>
          </a:p>
        </p:txBody>
      </p:sp>
      <p:sp>
        <p:nvSpPr>
          <p:cNvPr id="134" name=""/>
          <p:cNvSpPr/>
          <p:nvPr/>
        </p:nvSpPr>
        <p:spPr>
          <a:xfrm>
            <a:off x="540000" y="6433200"/>
            <a:ext cx="11088000" cy="0"/>
          </a:xfrm>
          <a:prstGeom prst="line">
            <a:avLst/>
          </a:prstGeom>
          <a:ln w="7200">
            <a:solidFill>
              <a:srgbClr val="d8d0c0"/>
            </a:solidFill>
            <a:round/>
          </a:ln>
        </p:spPr>
        <p:style>
          <a:lnRef idx="0"/>
          <a:fillRef idx="0"/>
          <a:effectRef idx="0"/>
          <a:fontRef idx="minor"/>
        </p:style>
        <p:txBody>
          <a:bodyPr lIns="93600" rIns="93600" tIns="-48600" bIns="-48600" anchor="ctr" anchorCtr="1">
            <a:noAutofit/>
          </a:bodyPr>
          <a:p>
            <a:endParaRPr b="0" lang="en-US" sz="1800" spc="-1" strike="noStrike">
              <a:solidFill>
                <a:srgbClr val="000000"/>
              </a:solidFill>
              <a:latin typeface="Arial"/>
            </a:endParaRPr>
          </a:p>
        </p:txBody>
      </p:sp>
      <p:sp>
        <p:nvSpPr>
          <p:cNvPr id="135" name=""/>
          <p:cNvSpPr txBox="1"/>
          <p:nvPr/>
        </p:nvSpPr>
        <p:spPr>
          <a:xfrm>
            <a:off x="540000" y="6451200"/>
            <a:ext cx="3240000" cy="423720"/>
          </a:xfrm>
          <a:prstGeom prst="rect">
            <a:avLst/>
          </a:prstGeom>
          <a:noFill/>
          <a:ln w="0">
            <a:noFill/>
          </a:ln>
        </p:spPr>
        <p:txBody>
          <a:bodyPr lIns="43200" rIns="43200" tIns="43200" bIns="43200" anchor="t">
            <a:noAutofit/>
          </a:bodyPr>
          <a:p>
            <a:r>
              <a:rPr b="0" lang="en-US" sz="800" spc="-1" strike="noStrike">
                <a:solidFill>
                  <a:srgbClr val="626c68"/>
                </a:solidFill>
                <a:latin typeface="Arial"/>
              </a:rPr>
              <a:t>semantic-nav architecture</a:t>
            </a:r>
            <a:endParaRPr b="0" lang="en-US" sz="800" spc="-1" strike="noStrike">
              <a:solidFill>
                <a:srgbClr val="000000"/>
              </a:solidFill>
              <a:latin typeface="Arial"/>
            </a:endParaRPr>
          </a:p>
        </p:txBody>
      </p:sp>
      <p:sp>
        <p:nvSpPr>
          <p:cNvPr id="136" name=""/>
          <p:cNvSpPr txBox="1"/>
          <p:nvPr/>
        </p:nvSpPr>
        <p:spPr>
          <a:xfrm>
            <a:off x="11142000" y="6451200"/>
            <a:ext cx="360000" cy="423720"/>
          </a:xfrm>
          <a:prstGeom prst="rect">
            <a:avLst/>
          </a:prstGeom>
          <a:noFill/>
          <a:ln w="0">
            <a:noFill/>
          </a:ln>
        </p:spPr>
        <p:txBody>
          <a:bodyPr lIns="43200" rIns="43200" tIns="43200" bIns="43200" anchor="t">
            <a:noAutofit/>
          </a:bodyPr>
          <a:p>
            <a:r>
              <a:rPr b="0" lang="en-US" sz="800" spc="-1" strike="noStrike">
                <a:solidFill>
                  <a:srgbClr val="626c68"/>
                </a:solidFill>
                <a:latin typeface="Arial"/>
              </a:rPr>
              <a:t>04</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
          <p:cNvSpPr/>
          <p:nvPr/>
        </p:nvSpPr>
        <p:spPr>
          <a:xfrm>
            <a:off x="0" y="0"/>
            <a:ext cx="12192120" cy="6858000"/>
          </a:xfrm>
          <a:prstGeom prst="rect">
            <a:avLst/>
          </a:prstGeom>
          <a:solidFill>
            <a:srgbClr val="f6f1e8"/>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38" name=""/>
          <p:cNvSpPr txBox="1"/>
          <p:nvPr/>
        </p:nvSpPr>
        <p:spPr>
          <a:xfrm>
            <a:off x="540000" y="306000"/>
            <a:ext cx="3240000" cy="423720"/>
          </a:xfrm>
          <a:prstGeom prst="rect">
            <a:avLst/>
          </a:prstGeom>
          <a:noFill/>
          <a:ln w="0">
            <a:noFill/>
          </a:ln>
        </p:spPr>
        <p:txBody>
          <a:bodyPr lIns="43200" rIns="43200" tIns="43200" bIns="43200" anchor="t">
            <a:noAutofit/>
          </a:bodyPr>
          <a:p>
            <a:r>
              <a:rPr b="1" lang="en-US" sz="1000" spc="-1" strike="noStrike">
                <a:solidFill>
                  <a:srgbClr val="0f6b5d"/>
                </a:solidFill>
                <a:latin typeface="Arial"/>
              </a:rPr>
              <a:t>SEMANTIC NAVIGATION</a:t>
            </a:r>
            <a:endParaRPr b="0" lang="en-US" sz="1000" spc="-1" strike="noStrike">
              <a:solidFill>
                <a:srgbClr val="000000"/>
              </a:solidFill>
              <a:latin typeface="Arial"/>
            </a:endParaRPr>
          </a:p>
        </p:txBody>
      </p:sp>
      <p:sp>
        <p:nvSpPr>
          <p:cNvPr id="139" name=""/>
          <p:cNvSpPr txBox="1"/>
          <p:nvPr/>
        </p:nvSpPr>
        <p:spPr>
          <a:xfrm>
            <a:off x="540000" y="540000"/>
            <a:ext cx="7560000" cy="542520"/>
          </a:xfrm>
          <a:prstGeom prst="rect">
            <a:avLst/>
          </a:prstGeom>
          <a:noFill/>
          <a:ln w="0">
            <a:noFill/>
          </a:ln>
        </p:spPr>
        <p:txBody>
          <a:bodyPr lIns="43200" rIns="43200" tIns="43200" bIns="43200" anchor="t">
            <a:noAutofit/>
          </a:bodyPr>
          <a:p>
            <a:r>
              <a:rPr b="1" lang="en-US" sz="3200" spc="-1" strike="noStrike">
                <a:solidFill>
                  <a:srgbClr val="111917"/>
                </a:solidFill>
                <a:latin typeface="Arial"/>
              </a:rPr>
              <a:t>Semantic memory state machine</a:t>
            </a:r>
            <a:endParaRPr b="0" lang="en-US" sz="3200" spc="-1" strike="noStrike">
              <a:solidFill>
                <a:srgbClr val="000000"/>
              </a:solidFill>
              <a:latin typeface="Arial"/>
            </a:endParaRPr>
          </a:p>
        </p:txBody>
      </p:sp>
      <p:sp>
        <p:nvSpPr>
          <p:cNvPr id="140" name=""/>
          <p:cNvSpPr txBox="1"/>
          <p:nvPr/>
        </p:nvSpPr>
        <p:spPr>
          <a:xfrm>
            <a:off x="547200" y="1051200"/>
            <a:ext cx="6660000" cy="423720"/>
          </a:xfrm>
          <a:prstGeom prst="rect">
            <a:avLst/>
          </a:prstGeom>
          <a:noFill/>
          <a:ln w="0">
            <a:noFill/>
          </a:ln>
        </p:spPr>
        <p:txBody>
          <a:bodyPr lIns="43200" rIns="43200" tIns="43200" bIns="43200" anchor="t">
            <a:noAutofit/>
          </a:bodyPr>
          <a:p>
            <a:r>
              <a:rPr b="0" lang="en-US" sz="1500" spc="-1" strike="noStrike">
                <a:solidFill>
                  <a:srgbClr val="626c68"/>
                </a:solidFill>
                <a:latin typeface="Arial"/>
              </a:rPr>
              <a:t>Repeated real observations are merged before becoming navigation targets.</a:t>
            </a:r>
            <a:endParaRPr b="0" lang="en-US" sz="1500" spc="-1" strike="noStrike">
              <a:solidFill>
                <a:srgbClr val="000000"/>
              </a:solidFill>
              <a:latin typeface="Arial"/>
            </a:endParaRPr>
          </a:p>
        </p:txBody>
      </p:sp>
      <p:sp>
        <p:nvSpPr>
          <p:cNvPr id="141" name=""/>
          <p:cNvSpPr/>
          <p:nvPr/>
        </p:nvSpPr>
        <p:spPr>
          <a:xfrm>
            <a:off x="1080000" y="2556000"/>
            <a:ext cx="2232000" cy="648000"/>
          </a:xfrm>
          <a:prstGeom prst="rect">
            <a:avLst/>
          </a:prstGeom>
          <a:solidFill>
            <a:srgbClr val="ffffff"/>
          </a:solidFill>
          <a:ln w="7920">
            <a:solidFill>
              <a:srgbClr val="d8d0c0"/>
            </a:solidFill>
            <a:round/>
          </a:ln>
        </p:spPr>
        <p:txBody>
          <a:bodyPr lIns="93960" rIns="93960" tIns="48960" bIns="48960" anchor="ctr" anchorCtr="1">
            <a:noAutofit/>
          </a:bodyPr>
          <a:p>
            <a:endParaRPr b="0" lang="en-US" sz="1800" spc="-1" strike="noStrike">
              <a:solidFill>
                <a:srgbClr val="000000"/>
              </a:solidFill>
              <a:latin typeface="Arial"/>
            </a:endParaRPr>
          </a:p>
        </p:txBody>
      </p:sp>
      <p:sp>
        <p:nvSpPr>
          <p:cNvPr id="142" name=""/>
          <p:cNvSpPr/>
          <p:nvPr/>
        </p:nvSpPr>
        <p:spPr>
          <a:xfrm>
            <a:off x="1198800" y="2768400"/>
            <a:ext cx="223200" cy="223200"/>
          </a:xfrm>
          <a:prstGeom prst="ellipse">
            <a:avLst/>
          </a:prstGeom>
          <a:solidFill>
            <a:srgbClr val="0f6b5d"/>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43" name=""/>
          <p:cNvSpPr txBox="1"/>
          <p:nvPr/>
        </p:nvSpPr>
        <p:spPr>
          <a:xfrm>
            <a:off x="1483200" y="2649600"/>
            <a:ext cx="1742400" cy="423720"/>
          </a:xfrm>
          <a:prstGeom prst="rect">
            <a:avLst/>
          </a:prstGeom>
          <a:noFill/>
          <a:ln w="0">
            <a:noFill/>
          </a:ln>
        </p:spPr>
        <p:txBody>
          <a:bodyPr lIns="43200" rIns="43200" tIns="43200" bIns="43200" anchor="t">
            <a:noAutofit/>
          </a:bodyPr>
          <a:p>
            <a:r>
              <a:rPr b="1" lang="en-US" sz="1500" spc="-1" strike="noStrike">
                <a:solidFill>
                  <a:srgbClr val="111917"/>
                </a:solidFill>
                <a:latin typeface="Arial"/>
              </a:rPr>
              <a:t>Observation</a:t>
            </a:r>
            <a:endParaRPr b="0" lang="en-US" sz="1500" spc="-1" strike="noStrike">
              <a:solidFill>
                <a:srgbClr val="000000"/>
              </a:solidFill>
              <a:latin typeface="Arial"/>
            </a:endParaRPr>
          </a:p>
        </p:txBody>
      </p:sp>
      <p:sp>
        <p:nvSpPr>
          <p:cNvPr id="144" name=""/>
          <p:cNvSpPr txBox="1"/>
          <p:nvPr/>
        </p:nvSpPr>
        <p:spPr>
          <a:xfrm>
            <a:off x="1483200" y="2815200"/>
            <a:ext cx="1742400" cy="423720"/>
          </a:xfrm>
          <a:prstGeom prst="rect">
            <a:avLst/>
          </a:prstGeom>
          <a:noFill/>
          <a:ln w="0">
            <a:noFill/>
          </a:ln>
        </p:spPr>
        <p:txBody>
          <a:bodyPr lIns="43200" rIns="43200" tIns="43200" bIns="43200" anchor="t">
            <a:noAutofit/>
          </a:bodyPr>
          <a:p>
            <a:r>
              <a:rPr b="0" lang="en-US" sz="1000" spc="-1" strike="noStrike">
                <a:solidFill>
                  <a:srgbClr val="626c68"/>
                </a:solidFill>
                <a:latin typeface="Arial"/>
              </a:rPr>
              <a:t>single grounded detection</a:t>
            </a:r>
            <a:endParaRPr b="0" lang="en-US" sz="1000" spc="-1" strike="noStrike">
              <a:solidFill>
                <a:srgbClr val="000000"/>
              </a:solidFill>
              <a:latin typeface="Arial"/>
            </a:endParaRPr>
          </a:p>
        </p:txBody>
      </p:sp>
      <p:sp>
        <p:nvSpPr>
          <p:cNvPr id="145" name=""/>
          <p:cNvSpPr/>
          <p:nvPr/>
        </p:nvSpPr>
        <p:spPr>
          <a:xfrm>
            <a:off x="3312000" y="2880000"/>
            <a:ext cx="504000" cy="0"/>
          </a:xfrm>
          <a:prstGeom prst="line">
            <a:avLst/>
          </a:prstGeom>
          <a:ln w="16200">
            <a:solidFill>
              <a:srgbClr val="0f6b5d"/>
            </a:solidFill>
            <a:round/>
          </a:ln>
        </p:spPr>
        <p:style>
          <a:lnRef idx="0"/>
          <a:fillRef idx="0"/>
          <a:effectRef idx="0"/>
          <a:fontRef idx="minor"/>
        </p:style>
        <p:txBody>
          <a:bodyPr lIns="97920" rIns="97920" tIns="-52920" bIns="-52920" anchor="ctr" anchorCtr="1">
            <a:noAutofit/>
          </a:bodyPr>
          <a:p>
            <a:endParaRPr b="0" lang="en-US" sz="1800" spc="-1" strike="noStrike">
              <a:solidFill>
                <a:srgbClr val="000000"/>
              </a:solidFill>
              <a:latin typeface="Arial"/>
            </a:endParaRPr>
          </a:p>
        </p:txBody>
      </p:sp>
      <p:sp>
        <p:nvSpPr>
          <p:cNvPr id="146" name=""/>
          <p:cNvSpPr txBox="1"/>
          <p:nvPr/>
        </p:nvSpPr>
        <p:spPr>
          <a:xfrm>
            <a:off x="2952000" y="2743200"/>
            <a:ext cx="1224000" cy="394920"/>
          </a:xfrm>
          <a:prstGeom prst="rect">
            <a:avLst/>
          </a:prstGeom>
          <a:solidFill>
            <a:srgbClr val="f6f1e8"/>
          </a:solidFill>
          <a:ln w="9000">
            <a:solidFill>
              <a:srgbClr val="f6f1e8"/>
            </a:solidFill>
            <a:round/>
          </a:ln>
        </p:spPr>
        <p:txBody>
          <a:bodyPr lIns="28800" rIns="28800" tIns="28800" bIns="28800" anchor="t">
            <a:noAutofit/>
          </a:bodyPr>
          <a:p>
            <a:r>
              <a:rPr b="0" lang="en-US" sz="900" spc="-1" strike="noStrike">
                <a:solidFill>
                  <a:srgbClr val="626c68"/>
                </a:solidFill>
                <a:latin typeface="Arial"/>
              </a:rPr>
              <a:t>merge</a:t>
            </a:r>
            <a:endParaRPr b="0" lang="en-US" sz="900" spc="-1" strike="noStrike">
              <a:solidFill>
                <a:srgbClr val="000000"/>
              </a:solidFill>
              <a:latin typeface="Arial"/>
            </a:endParaRPr>
          </a:p>
        </p:txBody>
      </p:sp>
      <p:sp>
        <p:nvSpPr>
          <p:cNvPr id="147" name=""/>
          <p:cNvSpPr/>
          <p:nvPr/>
        </p:nvSpPr>
        <p:spPr>
          <a:xfrm>
            <a:off x="3816000" y="2556000"/>
            <a:ext cx="2232000" cy="648000"/>
          </a:xfrm>
          <a:prstGeom prst="rect">
            <a:avLst/>
          </a:prstGeom>
          <a:solidFill>
            <a:srgbClr val="ffffff"/>
          </a:solidFill>
          <a:ln w="7920">
            <a:solidFill>
              <a:srgbClr val="d8d0c0"/>
            </a:solidFill>
            <a:round/>
          </a:ln>
        </p:spPr>
        <p:txBody>
          <a:bodyPr lIns="93960" rIns="93960" tIns="48960" bIns="48960" anchor="ctr" anchorCtr="1">
            <a:noAutofit/>
          </a:bodyPr>
          <a:p>
            <a:endParaRPr b="0" lang="en-US" sz="1800" spc="-1" strike="noStrike">
              <a:solidFill>
                <a:srgbClr val="000000"/>
              </a:solidFill>
              <a:latin typeface="Arial"/>
            </a:endParaRPr>
          </a:p>
        </p:txBody>
      </p:sp>
      <p:sp>
        <p:nvSpPr>
          <p:cNvPr id="148" name=""/>
          <p:cNvSpPr/>
          <p:nvPr/>
        </p:nvSpPr>
        <p:spPr>
          <a:xfrm>
            <a:off x="3934800" y="2768400"/>
            <a:ext cx="223200" cy="223200"/>
          </a:xfrm>
          <a:prstGeom prst="ellipse">
            <a:avLst/>
          </a:prstGeom>
          <a:solidFill>
            <a:srgbClr val="315e8a"/>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49" name=""/>
          <p:cNvSpPr txBox="1"/>
          <p:nvPr/>
        </p:nvSpPr>
        <p:spPr>
          <a:xfrm>
            <a:off x="4219200" y="2649600"/>
            <a:ext cx="1742400" cy="423720"/>
          </a:xfrm>
          <a:prstGeom prst="rect">
            <a:avLst/>
          </a:prstGeom>
          <a:noFill/>
          <a:ln w="0">
            <a:noFill/>
          </a:ln>
        </p:spPr>
        <p:txBody>
          <a:bodyPr lIns="43200" rIns="43200" tIns="43200" bIns="43200" anchor="t">
            <a:noAutofit/>
          </a:bodyPr>
          <a:p>
            <a:r>
              <a:rPr b="1" lang="en-US" sz="1500" spc="-1" strike="noStrike">
                <a:solidFill>
                  <a:srgbClr val="111917"/>
                </a:solidFill>
                <a:latin typeface="Arial"/>
              </a:rPr>
              <a:t>Candidate</a:t>
            </a:r>
            <a:endParaRPr b="0" lang="en-US" sz="1500" spc="-1" strike="noStrike">
              <a:solidFill>
                <a:srgbClr val="000000"/>
              </a:solidFill>
              <a:latin typeface="Arial"/>
            </a:endParaRPr>
          </a:p>
        </p:txBody>
      </p:sp>
      <p:sp>
        <p:nvSpPr>
          <p:cNvPr id="150" name=""/>
          <p:cNvSpPr txBox="1"/>
          <p:nvPr/>
        </p:nvSpPr>
        <p:spPr>
          <a:xfrm>
            <a:off x="4219200" y="2815200"/>
            <a:ext cx="1742400" cy="423720"/>
          </a:xfrm>
          <a:prstGeom prst="rect">
            <a:avLst/>
          </a:prstGeom>
          <a:noFill/>
          <a:ln w="0">
            <a:noFill/>
          </a:ln>
        </p:spPr>
        <p:txBody>
          <a:bodyPr lIns="43200" rIns="43200" tIns="43200" bIns="43200" anchor="t">
            <a:noAutofit/>
          </a:bodyPr>
          <a:p>
            <a:r>
              <a:rPr b="0" lang="en-US" sz="1000" spc="-1" strike="noStrike">
                <a:solidFill>
                  <a:srgbClr val="626c68"/>
                </a:solidFill>
                <a:latin typeface="Arial"/>
              </a:rPr>
              <a:t>merged over time</a:t>
            </a:r>
            <a:endParaRPr b="0" lang="en-US" sz="1000" spc="-1" strike="noStrike">
              <a:solidFill>
                <a:srgbClr val="000000"/>
              </a:solidFill>
              <a:latin typeface="Arial"/>
            </a:endParaRPr>
          </a:p>
        </p:txBody>
      </p:sp>
      <p:sp>
        <p:nvSpPr>
          <p:cNvPr id="151" name=""/>
          <p:cNvSpPr/>
          <p:nvPr/>
        </p:nvSpPr>
        <p:spPr>
          <a:xfrm>
            <a:off x="6048000" y="2880000"/>
            <a:ext cx="504000" cy="0"/>
          </a:xfrm>
          <a:prstGeom prst="line">
            <a:avLst/>
          </a:prstGeom>
          <a:ln w="16200">
            <a:solidFill>
              <a:srgbClr val="315e8a"/>
            </a:solidFill>
            <a:round/>
          </a:ln>
        </p:spPr>
        <p:style>
          <a:lnRef idx="0"/>
          <a:fillRef idx="0"/>
          <a:effectRef idx="0"/>
          <a:fontRef idx="minor"/>
        </p:style>
        <p:txBody>
          <a:bodyPr lIns="97920" rIns="97920" tIns="-52920" bIns="-52920" anchor="ctr" anchorCtr="1">
            <a:noAutofit/>
          </a:bodyPr>
          <a:p>
            <a:endParaRPr b="0" lang="en-US" sz="1800" spc="-1" strike="noStrike">
              <a:solidFill>
                <a:srgbClr val="000000"/>
              </a:solidFill>
              <a:latin typeface="Arial"/>
            </a:endParaRPr>
          </a:p>
        </p:txBody>
      </p:sp>
      <p:sp>
        <p:nvSpPr>
          <p:cNvPr id="152" name=""/>
          <p:cNvSpPr txBox="1"/>
          <p:nvPr/>
        </p:nvSpPr>
        <p:spPr>
          <a:xfrm>
            <a:off x="5688000" y="2743200"/>
            <a:ext cx="1224000" cy="394920"/>
          </a:xfrm>
          <a:prstGeom prst="rect">
            <a:avLst/>
          </a:prstGeom>
          <a:solidFill>
            <a:srgbClr val="f6f1e8"/>
          </a:solidFill>
          <a:ln w="9000">
            <a:solidFill>
              <a:srgbClr val="f6f1e8"/>
            </a:solidFill>
            <a:round/>
          </a:ln>
        </p:spPr>
        <p:txBody>
          <a:bodyPr lIns="28800" rIns="28800" tIns="28800" bIns="28800" anchor="t">
            <a:noAutofit/>
          </a:bodyPr>
          <a:p>
            <a:r>
              <a:rPr b="0" lang="en-US" sz="900" spc="-1" strike="noStrike">
                <a:solidFill>
                  <a:srgbClr val="626c68"/>
                </a:solidFill>
                <a:latin typeface="Arial"/>
              </a:rPr>
              <a:t>min observations</a:t>
            </a:r>
            <a:endParaRPr b="0" lang="en-US" sz="900" spc="-1" strike="noStrike">
              <a:solidFill>
                <a:srgbClr val="000000"/>
              </a:solidFill>
              <a:latin typeface="Arial"/>
            </a:endParaRPr>
          </a:p>
        </p:txBody>
      </p:sp>
      <p:sp>
        <p:nvSpPr>
          <p:cNvPr id="153" name=""/>
          <p:cNvSpPr/>
          <p:nvPr/>
        </p:nvSpPr>
        <p:spPr>
          <a:xfrm>
            <a:off x="6552000" y="2556000"/>
            <a:ext cx="2232000" cy="648000"/>
          </a:xfrm>
          <a:prstGeom prst="rect">
            <a:avLst/>
          </a:prstGeom>
          <a:solidFill>
            <a:srgbClr val="ffffff"/>
          </a:solidFill>
          <a:ln w="7920">
            <a:solidFill>
              <a:srgbClr val="d8d0c0"/>
            </a:solidFill>
            <a:round/>
          </a:ln>
        </p:spPr>
        <p:txBody>
          <a:bodyPr lIns="93960" rIns="93960" tIns="48960" bIns="48960" anchor="ctr" anchorCtr="1">
            <a:noAutofit/>
          </a:bodyPr>
          <a:p>
            <a:endParaRPr b="0" lang="en-US" sz="1800" spc="-1" strike="noStrike">
              <a:solidFill>
                <a:srgbClr val="000000"/>
              </a:solidFill>
              <a:latin typeface="Arial"/>
            </a:endParaRPr>
          </a:p>
        </p:txBody>
      </p:sp>
      <p:sp>
        <p:nvSpPr>
          <p:cNvPr id="154" name=""/>
          <p:cNvSpPr/>
          <p:nvPr/>
        </p:nvSpPr>
        <p:spPr>
          <a:xfrm>
            <a:off x="6670800" y="2768400"/>
            <a:ext cx="223200" cy="223200"/>
          </a:xfrm>
          <a:prstGeom prst="ellipse">
            <a:avLst/>
          </a:prstGeom>
          <a:solidFill>
            <a:srgbClr val="c76946"/>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55" name=""/>
          <p:cNvSpPr txBox="1"/>
          <p:nvPr/>
        </p:nvSpPr>
        <p:spPr>
          <a:xfrm>
            <a:off x="6955200" y="2649600"/>
            <a:ext cx="1742400" cy="423720"/>
          </a:xfrm>
          <a:prstGeom prst="rect">
            <a:avLst/>
          </a:prstGeom>
          <a:noFill/>
          <a:ln w="0">
            <a:noFill/>
          </a:ln>
        </p:spPr>
        <p:txBody>
          <a:bodyPr lIns="43200" rIns="43200" tIns="43200" bIns="43200" anchor="t">
            <a:noAutofit/>
          </a:bodyPr>
          <a:p>
            <a:r>
              <a:rPr b="1" lang="en-US" sz="1500" spc="-1" strike="noStrike">
                <a:solidFill>
                  <a:srgbClr val="111917"/>
                </a:solidFill>
                <a:latin typeface="Arial"/>
              </a:rPr>
              <a:t>Landmark</a:t>
            </a:r>
            <a:endParaRPr b="0" lang="en-US" sz="1500" spc="-1" strike="noStrike">
              <a:solidFill>
                <a:srgbClr val="000000"/>
              </a:solidFill>
              <a:latin typeface="Arial"/>
            </a:endParaRPr>
          </a:p>
        </p:txBody>
      </p:sp>
      <p:sp>
        <p:nvSpPr>
          <p:cNvPr id="156" name=""/>
          <p:cNvSpPr txBox="1"/>
          <p:nvPr/>
        </p:nvSpPr>
        <p:spPr>
          <a:xfrm>
            <a:off x="6955200" y="2815200"/>
            <a:ext cx="1742400" cy="423720"/>
          </a:xfrm>
          <a:prstGeom prst="rect">
            <a:avLst/>
          </a:prstGeom>
          <a:noFill/>
          <a:ln w="0">
            <a:noFill/>
          </a:ln>
        </p:spPr>
        <p:txBody>
          <a:bodyPr lIns="43200" rIns="43200" tIns="43200" bIns="43200" anchor="t">
            <a:noAutofit/>
          </a:bodyPr>
          <a:p>
            <a:r>
              <a:rPr b="0" lang="en-US" sz="1000" spc="-1" strike="noStrike">
                <a:solidFill>
                  <a:srgbClr val="626c68"/>
                </a:solidFill>
                <a:latin typeface="Arial"/>
              </a:rPr>
              <a:t>persistent semantic entity</a:t>
            </a:r>
            <a:endParaRPr b="0" lang="en-US" sz="1000" spc="-1" strike="noStrike">
              <a:solidFill>
                <a:srgbClr val="000000"/>
              </a:solidFill>
              <a:latin typeface="Arial"/>
            </a:endParaRPr>
          </a:p>
        </p:txBody>
      </p:sp>
      <p:sp>
        <p:nvSpPr>
          <p:cNvPr id="157" name=""/>
          <p:cNvSpPr/>
          <p:nvPr/>
        </p:nvSpPr>
        <p:spPr>
          <a:xfrm>
            <a:off x="8784000" y="2880000"/>
            <a:ext cx="504000" cy="0"/>
          </a:xfrm>
          <a:prstGeom prst="line">
            <a:avLst/>
          </a:prstGeom>
          <a:ln w="16200">
            <a:solidFill>
              <a:srgbClr val="c76946"/>
            </a:solidFill>
            <a:round/>
          </a:ln>
        </p:spPr>
        <p:style>
          <a:lnRef idx="0"/>
          <a:fillRef idx="0"/>
          <a:effectRef idx="0"/>
          <a:fontRef idx="minor"/>
        </p:style>
        <p:txBody>
          <a:bodyPr lIns="97920" rIns="97920" tIns="-52920" bIns="-52920" anchor="ctr" anchorCtr="1">
            <a:noAutofit/>
          </a:bodyPr>
          <a:p>
            <a:endParaRPr b="0" lang="en-US" sz="1800" spc="-1" strike="noStrike">
              <a:solidFill>
                <a:srgbClr val="000000"/>
              </a:solidFill>
              <a:latin typeface="Arial"/>
            </a:endParaRPr>
          </a:p>
        </p:txBody>
      </p:sp>
      <p:sp>
        <p:nvSpPr>
          <p:cNvPr id="158" name=""/>
          <p:cNvSpPr txBox="1"/>
          <p:nvPr/>
        </p:nvSpPr>
        <p:spPr>
          <a:xfrm>
            <a:off x="8424000" y="2743200"/>
            <a:ext cx="1224000" cy="394920"/>
          </a:xfrm>
          <a:prstGeom prst="rect">
            <a:avLst/>
          </a:prstGeom>
          <a:solidFill>
            <a:srgbClr val="f6f1e8"/>
          </a:solidFill>
          <a:ln w="9000">
            <a:solidFill>
              <a:srgbClr val="f6f1e8"/>
            </a:solidFill>
            <a:round/>
          </a:ln>
        </p:spPr>
        <p:txBody>
          <a:bodyPr lIns="28800" rIns="28800" tIns="28800" bIns="28800" anchor="t">
            <a:noAutofit/>
          </a:bodyPr>
          <a:p>
            <a:r>
              <a:rPr b="0" lang="en-US" sz="900" spc="-1" strike="noStrike">
                <a:solidFill>
                  <a:srgbClr val="626c68"/>
                </a:solidFill>
                <a:latin typeface="Arial"/>
              </a:rPr>
              <a:t>publish</a:t>
            </a:r>
            <a:endParaRPr b="0" lang="en-US" sz="900" spc="-1" strike="noStrike">
              <a:solidFill>
                <a:srgbClr val="000000"/>
              </a:solidFill>
              <a:latin typeface="Arial"/>
            </a:endParaRPr>
          </a:p>
        </p:txBody>
      </p:sp>
      <p:sp>
        <p:nvSpPr>
          <p:cNvPr id="159" name=""/>
          <p:cNvSpPr/>
          <p:nvPr/>
        </p:nvSpPr>
        <p:spPr>
          <a:xfrm>
            <a:off x="9288000" y="2556000"/>
            <a:ext cx="2232000" cy="648000"/>
          </a:xfrm>
          <a:prstGeom prst="rect">
            <a:avLst/>
          </a:prstGeom>
          <a:solidFill>
            <a:srgbClr val="ffffff"/>
          </a:solidFill>
          <a:ln w="7920">
            <a:solidFill>
              <a:srgbClr val="d8d0c0"/>
            </a:solidFill>
            <a:round/>
          </a:ln>
        </p:spPr>
        <p:txBody>
          <a:bodyPr lIns="93960" rIns="93960" tIns="48960" bIns="48960" anchor="ctr" anchorCtr="1">
            <a:noAutofit/>
          </a:bodyPr>
          <a:p>
            <a:endParaRPr b="0" lang="en-US" sz="1800" spc="-1" strike="noStrike">
              <a:solidFill>
                <a:srgbClr val="000000"/>
              </a:solidFill>
              <a:latin typeface="Arial"/>
            </a:endParaRPr>
          </a:p>
        </p:txBody>
      </p:sp>
      <p:sp>
        <p:nvSpPr>
          <p:cNvPr id="160" name=""/>
          <p:cNvSpPr/>
          <p:nvPr/>
        </p:nvSpPr>
        <p:spPr>
          <a:xfrm>
            <a:off x="9406800" y="2768400"/>
            <a:ext cx="223200" cy="223200"/>
          </a:xfrm>
          <a:prstGeom prst="ellipse">
            <a:avLst/>
          </a:prstGeom>
          <a:solidFill>
            <a:srgbClr val="0f6b5d"/>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61" name=""/>
          <p:cNvSpPr txBox="1"/>
          <p:nvPr/>
        </p:nvSpPr>
        <p:spPr>
          <a:xfrm>
            <a:off x="9691200" y="2649600"/>
            <a:ext cx="1742400" cy="510120"/>
          </a:xfrm>
          <a:prstGeom prst="rect">
            <a:avLst/>
          </a:prstGeom>
          <a:noFill/>
          <a:ln w="0">
            <a:noFill/>
          </a:ln>
        </p:spPr>
        <p:txBody>
          <a:bodyPr lIns="43200" rIns="43200" tIns="43200" bIns="43200" anchor="t">
            <a:noAutofit/>
          </a:bodyPr>
          <a:p>
            <a:r>
              <a:rPr b="1" lang="en-US" sz="1500" spc="-1" strike="noStrike">
                <a:solidFill>
                  <a:srgbClr val="111917"/>
                </a:solidFill>
                <a:latin typeface="Arial"/>
              </a:rPr>
              <a:t>SemanticMapState</a:t>
            </a:r>
            <a:endParaRPr b="0" lang="en-US" sz="1500" spc="-1" strike="noStrike">
              <a:solidFill>
                <a:srgbClr val="000000"/>
              </a:solidFill>
              <a:latin typeface="Arial"/>
            </a:endParaRPr>
          </a:p>
        </p:txBody>
      </p:sp>
      <p:sp>
        <p:nvSpPr>
          <p:cNvPr id="162" name=""/>
          <p:cNvSpPr txBox="1"/>
          <p:nvPr/>
        </p:nvSpPr>
        <p:spPr>
          <a:xfrm>
            <a:off x="9691200" y="2815200"/>
            <a:ext cx="1742400" cy="423720"/>
          </a:xfrm>
          <a:prstGeom prst="rect">
            <a:avLst/>
          </a:prstGeom>
          <a:noFill/>
          <a:ln w="0">
            <a:noFill/>
          </a:ln>
        </p:spPr>
        <p:txBody>
          <a:bodyPr lIns="43200" rIns="43200" tIns="43200" bIns="43200" anchor="t">
            <a:noAutofit/>
          </a:bodyPr>
          <a:p>
            <a:r>
              <a:rPr b="0" lang="en-US" sz="1000" spc="-1" strike="noStrike">
                <a:solidFill>
                  <a:srgbClr val="626c68"/>
                </a:solidFill>
                <a:latin typeface="Arial"/>
              </a:rPr>
              <a:t>published query snapshot</a:t>
            </a:r>
            <a:endParaRPr b="0" lang="en-US" sz="1000" spc="-1" strike="noStrike">
              <a:solidFill>
                <a:srgbClr val="000000"/>
              </a:solidFill>
              <a:latin typeface="Arial"/>
            </a:endParaRPr>
          </a:p>
        </p:txBody>
      </p:sp>
      <p:sp>
        <p:nvSpPr>
          <p:cNvPr id="163" name=""/>
          <p:cNvSpPr/>
          <p:nvPr/>
        </p:nvSpPr>
        <p:spPr>
          <a:xfrm>
            <a:off x="1476000" y="4086000"/>
            <a:ext cx="9180000" cy="936000"/>
          </a:xfrm>
          <a:prstGeom prst="rect">
            <a:avLst/>
          </a:prstGeom>
          <a:solidFill>
            <a:srgbClr val="fbf8f1"/>
          </a:solidFill>
          <a:ln w="7920">
            <a:solidFill>
              <a:srgbClr val="d8d0c0"/>
            </a:solidFill>
            <a:round/>
          </a:ln>
        </p:spPr>
        <p:txBody>
          <a:bodyPr lIns="93960" rIns="93960" tIns="48960" bIns="48960" anchor="ctr" anchorCtr="1">
            <a:noAutofit/>
          </a:bodyPr>
          <a:p>
            <a:endParaRPr b="0" lang="en-US" sz="1800" spc="-1" strike="noStrike">
              <a:solidFill>
                <a:srgbClr val="000000"/>
              </a:solidFill>
              <a:latin typeface="Arial"/>
            </a:endParaRPr>
          </a:p>
        </p:txBody>
      </p:sp>
      <p:sp>
        <p:nvSpPr>
          <p:cNvPr id="164" name=""/>
          <p:cNvSpPr txBox="1"/>
          <p:nvPr/>
        </p:nvSpPr>
        <p:spPr>
          <a:xfrm>
            <a:off x="1728000" y="4284000"/>
            <a:ext cx="8460000" cy="854640"/>
          </a:xfrm>
          <a:prstGeom prst="rect">
            <a:avLst/>
          </a:prstGeom>
          <a:noFill/>
          <a:ln w="0">
            <a:noFill/>
          </a:ln>
        </p:spPr>
        <p:txBody>
          <a:bodyPr lIns="43200" rIns="43200" tIns="43200" bIns="43200" anchor="t">
            <a:noAutofit/>
          </a:bodyPr>
          <a:p>
            <a:r>
              <a:rPr b="1" lang="en-US" sz="1800" spc="-1" strike="noStrike">
                <a:solidFill>
                  <a:srgbClr val="111917"/>
                </a:solidFill>
                <a:latin typeface="Arial"/>
              </a:rPr>
              <a:t>The memory node keeps provenance with each promoted landmark, so downstream navigation can distinguish validated entities from provisional ones.</a:t>
            </a:r>
            <a:endParaRPr b="0" lang="en-US" sz="1800" spc="-1" strike="noStrike">
              <a:solidFill>
                <a:srgbClr val="000000"/>
              </a:solidFill>
              <a:latin typeface="Arial"/>
            </a:endParaRPr>
          </a:p>
        </p:txBody>
      </p:sp>
      <p:sp>
        <p:nvSpPr>
          <p:cNvPr id="165" name=""/>
          <p:cNvSpPr/>
          <p:nvPr/>
        </p:nvSpPr>
        <p:spPr>
          <a:xfrm>
            <a:off x="540000" y="6433200"/>
            <a:ext cx="11088000" cy="0"/>
          </a:xfrm>
          <a:prstGeom prst="line">
            <a:avLst/>
          </a:prstGeom>
          <a:ln w="7200">
            <a:solidFill>
              <a:srgbClr val="d8d0c0"/>
            </a:solidFill>
            <a:round/>
          </a:ln>
        </p:spPr>
        <p:style>
          <a:lnRef idx="0"/>
          <a:fillRef idx="0"/>
          <a:effectRef idx="0"/>
          <a:fontRef idx="minor"/>
        </p:style>
        <p:txBody>
          <a:bodyPr lIns="93600" rIns="93600" tIns="-48600" bIns="-48600" anchor="ctr" anchorCtr="1">
            <a:noAutofit/>
          </a:bodyPr>
          <a:p>
            <a:endParaRPr b="0" lang="en-US" sz="1800" spc="-1" strike="noStrike">
              <a:solidFill>
                <a:srgbClr val="000000"/>
              </a:solidFill>
              <a:latin typeface="Arial"/>
            </a:endParaRPr>
          </a:p>
        </p:txBody>
      </p:sp>
      <p:sp>
        <p:nvSpPr>
          <p:cNvPr id="166" name=""/>
          <p:cNvSpPr txBox="1"/>
          <p:nvPr/>
        </p:nvSpPr>
        <p:spPr>
          <a:xfrm>
            <a:off x="540000" y="6451200"/>
            <a:ext cx="3240000" cy="423720"/>
          </a:xfrm>
          <a:prstGeom prst="rect">
            <a:avLst/>
          </a:prstGeom>
          <a:noFill/>
          <a:ln w="0">
            <a:noFill/>
          </a:ln>
        </p:spPr>
        <p:txBody>
          <a:bodyPr lIns="43200" rIns="43200" tIns="43200" bIns="43200" anchor="t">
            <a:noAutofit/>
          </a:bodyPr>
          <a:p>
            <a:r>
              <a:rPr b="0" lang="en-US" sz="800" spc="-1" strike="noStrike">
                <a:solidFill>
                  <a:srgbClr val="626c68"/>
                </a:solidFill>
                <a:latin typeface="Arial"/>
              </a:rPr>
              <a:t>semantic-nav architecture</a:t>
            </a:r>
            <a:endParaRPr b="0" lang="en-US" sz="800" spc="-1" strike="noStrike">
              <a:solidFill>
                <a:srgbClr val="000000"/>
              </a:solidFill>
              <a:latin typeface="Arial"/>
            </a:endParaRPr>
          </a:p>
        </p:txBody>
      </p:sp>
      <p:sp>
        <p:nvSpPr>
          <p:cNvPr id="167" name=""/>
          <p:cNvSpPr txBox="1"/>
          <p:nvPr/>
        </p:nvSpPr>
        <p:spPr>
          <a:xfrm>
            <a:off x="11142000" y="6451200"/>
            <a:ext cx="360000" cy="423720"/>
          </a:xfrm>
          <a:prstGeom prst="rect">
            <a:avLst/>
          </a:prstGeom>
          <a:noFill/>
          <a:ln w="0">
            <a:noFill/>
          </a:ln>
        </p:spPr>
        <p:txBody>
          <a:bodyPr lIns="43200" rIns="43200" tIns="43200" bIns="43200" anchor="t">
            <a:noAutofit/>
          </a:bodyPr>
          <a:p>
            <a:r>
              <a:rPr b="0" lang="en-US" sz="800" spc="-1" strike="noStrike">
                <a:solidFill>
                  <a:srgbClr val="626c68"/>
                </a:solidFill>
                <a:latin typeface="Arial"/>
              </a:rPr>
              <a:t>05</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
          <p:cNvSpPr/>
          <p:nvPr/>
        </p:nvSpPr>
        <p:spPr>
          <a:xfrm>
            <a:off x="0" y="0"/>
            <a:ext cx="12192120" cy="6858000"/>
          </a:xfrm>
          <a:prstGeom prst="rect">
            <a:avLst/>
          </a:prstGeom>
          <a:solidFill>
            <a:srgbClr val="f6f1e8"/>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69" name=""/>
          <p:cNvSpPr txBox="1"/>
          <p:nvPr/>
        </p:nvSpPr>
        <p:spPr>
          <a:xfrm>
            <a:off x="540000" y="306000"/>
            <a:ext cx="3240000" cy="423720"/>
          </a:xfrm>
          <a:prstGeom prst="rect">
            <a:avLst/>
          </a:prstGeom>
          <a:noFill/>
          <a:ln w="0">
            <a:noFill/>
          </a:ln>
        </p:spPr>
        <p:txBody>
          <a:bodyPr lIns="43200" rIns="43200" tIns="43200" bIns="43200" anchor="t">
            <a:noAutofit/>
          </a:bodyPr>
          <a:p>
            <a:r>
              <a:rPr b="1" lang="en-US" sz="1000" spc="-1" strike="noStrike">
                <a:solidFill>
                  <a:srgbClr val="0f6b5d"/>
                </a:solidFill>
                <a:latin typeface="Arial"/>
              </a:rPr>
              <a:t>SEMANTIC NAVIGATION</a:t>
            </a:r>
            <a:endParaRPr b="0" lang="en-US" sz="1000" spc="-1" strike="noStrike">
              <a:solidFill>
                <a:srgbClr val="000000"/>
              </a:solidFill>
              <a:latin typeface="Arial"/>
            </a:endParaRPr>
          </a:p>
        </p:txBody>
      </p:sp>
      <p:sp>
        <p:nvSpPr>
          <p:cNvPr id="170" name=""/>
          <p:cNvSpPr txBox="1"/>
          <p:nvPr/>
        </p:nvSpPr>
        <p:spPr>
          <a:xfrm>
            <a:off x="540000" y="540000"/>
            <a:ext cx="7560000" cy="542520"/>
          </a:xfrm>
          <a:prstGeom prst="rect">
            <a:avLst/>
          </a:prstGeom>
          <a:noFill/>
          <a:ln w="0">
            <a:noFill/>
          </a:ln>
        </p:spPr>
        <p:txBody>
          <a:bodyPr lIns="43200" rIns="43200" tIns="43200" bIns="43200" anchor="t">
            <a:noAutofit/>
          </a:bodyPr>
          <a:p>
            <a:r>
              <a:rPr b="1" lang="en-US" sz="3200" spc="-1" strike="noStrike">
                <a:solidFill>
                  <a:srgbClr val="111917"/>
                </a:solidFill>
                <a:latin typeface="Arial"/>
              </a:rPr>
              <a:t>Relationship mapping</a:t>
            </a:r>
            <a:endParaRPr b="0" lang="en-US" sz="3200" spc="-1" strike="noStrike">
              <a:solidFill>
                <a:srgbClr val="000000"/>
              </a:solidFill>
              <a:latin typeface="Arial"/>
            </a:endParaRPr>
          </a:p>
        </p:txBody>
      </p:sp>
      <p:sp>
        <p:nvSpPr>
          <p:cNvPr id="171" name=""/>
          <p:cNvSpPr txBox="1"/>
          <p:nvPr/>
        </p:nvSpPr>
        <p:spPr>
          <a:xfrm>
            <a:off x="547200" y="1051200"/>
            <a:ext cx="6660000" cy="423720"/>
          </a:xfrm>
          <a:prstGeom prst="rect">
            <a:avLst/>
          </a:prstGeom>
          <a:noFill/>
          <a:ln w="0">
            <a:noFill/>
          </a:ln>
        </p:spPr>
        <p:txBody>
          <a:bodyPr lIns="43200" rIns="43200" tIns="43200" bIns="43200" anchor="t">
            <a:noAutofit/>
          </a:bodyPr>
          <a:p>
            <a:r>
              <a:rPr b="0" lang="en-US" sz="1500" spc="-1" strike="noStrike">
                <a:solidFill>
                  <a:srgbClr val="626c68"/>
                </a:solidFill>
                <a:latin typeface="Arial"/>
              </a:rPr>
              <a:t>The relationship layer turns objects into a navigable scene graph.</a:t>
            </a:r>
            <a:endParaRPr b="0" lang="en-US" sz="1500" spc="-1" strike="noStrike">
              <a:solidFill>
                <a:srgbClr val="000000"/>
              </a:solidFill>
              <a:latin typeface="Arial"/>
            </a:endParaRPr>
          </a:p>
        </p:txBody>
      </p:sp>
      <p:sp>
        <p:nvSpPr>
          <p:cNvPr id="172" name=""/>
          <p:cNvSpPr/>
          <p:nvPr/>
        </p:nvSpPr>
        <p:spPr>
          <a:xfrm>
            <a:off x="3528000" y="2664000"/>
            <a:ext cx="828000" cy="828000"/>
          </a:xfrm>
          <a:prstGeom prst="ellipse">
            <a:avLst/>
          </a:prstGeom>
          <a:solidFill>
            <a:srgbClr val="0f6b5d"/>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73" name=""/>
          <p:cNvSpPr txBox="1"/>
          <p:nvPr/>
        </p:nvSpPr>
        <p:spPr>
          <a:xfrm>
            <a:off x="3610800" y="2944800"/>
            <a:ext cx="666000" cy="423720"/>
          </a:xfrm>
          <a:prstGeom prst="rect">
            <a:avLst/>
          </a:prstGeom>
          <a:noFill/>
          <a:ln w="0">
            <a:noFill/>
          </a:ln>
        </p:spPr>
        <p:txBody>
          <a:bodyPr lIns="43200" rIns="43200" tIns="43200" bIns="43200" anchor="t">
            <a:noAutofit/>
          </a:bodyPr>
          <a:p>
            <a:r>
              <a:rPr b="1" lang="en-US" sz="1300" spc="-1" strike="noStrike">
                <a:solidFill>
                  <a:srgbClr val="ffffff"/>
                </a:solidFill>
                <a:latin typeface="Arial"/>
              </a:rPr>
              <a:t>table</a:t>
            </a:r>
            <a:endParaRPr b="0" lang="en-US" sz="1300" spc="-1" strike="noStrike">
              <a:solidFill>
                <a:srgbClr val="000000"/>
              </a:solidFill>
              <a:latin typeface="Arial"/>
            </a:endParaRPr>
          </a:p>
        </p:txBody>
      </p:sp>
      <p:sp>
        <p:nvSpPr>
          <p:cNvPr id="174" name=""/>
          <p:cNvSpPr/>
          <p:nvPr/>
        </p:nvSpPr>
        <p:spPr>
          <a:xfrm>
            <a:off x="6624000" y="2592000"/>
            <a:ext cx="828000" cy="828000"/>
          </a:xfrm>
          <a:prstGeom prst="ellipse">
            <a:avLst/>
          </a:prstGeom>
          <a:solidFill>
            <a:srgbClr val="315e8a"/>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75" name=""/>
          <p:cNvSpPr txBox="1"/>
          <p:nvPr/>
        </p:nvSpPr>
        <p:spPr>
          <a:xfrm>
            <a:off x="6706800" y="2872800"/>
            <a:ext cx="666000" cy="423720"/>
          </a:xfrm>
          <a:prstGeom prst="rect">
            <a:avLst/>
          </a:prstGeom>
          <a:noFill/>
          <a:ln w="0">
            <a:noFill/>
          </a:ln>
        </p:spPr>
        <p:txBody>
          <a:bodyPr lIns="43200" rIns="43200" tIns="43200" bIns="43200" anchor="t">
            <a:noAutofit/>
          </a:bodyPr>
          <a:p>
            <a:r>
              <a:rPr b="1" lang="en-US" sz="1300" spc="-1" strike="noStrike">
                <a:solidFill>
                  <a:srgbClr val="ffffff"/>
                </a:solidFill>
                <a:latin typeface="Arial"/>
              </a:rPr>
              <a:t>chair</a:t>
            </a:r>
            <a:endParaRPr b="0" lang="en-US" sz="1300" spc="-1" strike="noStrike">
              <a:solidFill>
                <a:srgbClr val="000000"/>
              </a:solidFill>
              <a:latin typeface="Arial"/>
            </a:endParaRPr>
          </a:p>
        </p:txBody>
      </p:sp>
      <p:sp>
        <p:nvSpPr>
          <p:cNvPr id="176" name=""/>
          <p:cNvSpPr/>
          <p:nvPr/>
        </p:nvSpPr>
        <p:spPr>
          <a:xfrm>
            <a:off x="5112000" y="3996000"/>
            <a:ext cx="828000" cy="828000"/>
          </a:xfrm>
          <a:prstGeom prst="ellipse">
            <a:avLst/>
          </a:prstGeom>
          <a:solidFill>
            <a:srgbClr val="c76946"/>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77" name=""/>
          <p:cNvSpPr txBox="1"/>
          <p:nvPr/>
        </p:nvSpPr>
        <p:spPr>
          <a:xfrm>
            <a:off x="5194800" y="4276800"/>
            <a:ext cx="666000" cy="423720"/>
          </a:xfrm>
          <a:prstGeom prst="rect">
            <a:avLst/>
          </a:prstGeom>
          <a:noFill/>
          <a:ln w="0">
            <a:noFill/>
          </a:ln>
        </p:spPr>
        <p:txBody>
          <a:bodyPr lIns="43200" rIns="43200" tIns="43200" bIns="43200" anchor="t">
            <a:noAutofit/>
          </a:bodyPr>
          <a:p>
            <a:r>
              <a:rPr b="1" lang="en-US" sz="1300" spc="-1" strike="noStrike">
                <a:solidFill>
                  <a:srgbClr val="ffffff"/>
                </a:solidFill>
                <a:latin typeface="Arial"/>
              </a:rPr>
              <a:t>person</a:t>
            </a:r>
            <a:endParaRPr b="0" lang="en-US" sz="1300" spc="-1" strike="noStrike">
              <a:solidFill>
                <a:srgbClr val="000000"/>
              </a:solidFill>
              <a:latin typeface="Arial"/>
            </a:endParaRPr>
          </a:p>
        </p:txBody>
      </p:sp>
      <p:sp>
        <p:nvSpPr>
          <p:cNvPr id="178" name=""/>
          <p:cNvSpPr/>
          <p:nvPr/>
        </p:nvSpPr>
        <p:spPr>
          <a:xfrm>
            <a:off x="5112000" y="1620000"/>
            <a:ext cx="828000" cy="828000"/>
          </a:xfrm>
          <a:prstGeom prst="ellipse">
            <a:avLst/>
          </a:prstGeom>
          <a:solidFill>
            <a:srgbClr val="0f6b5d"/>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79" name=""/>
          <p:cNvSpPr txBox="1"/>
          <p:nvPr/>
        </p:nvSpPr>
        <p:spPr>
          <a:xfrm>
            <a:off x="5194800" y="1900800"/>
            <a:ext cx="666000" cy="455400"/>
          </a:xfrm>
          <a:prstGeom prst="rect">
            <a:avLst/>
          </a:prstGeom>
          <a:noFill/>
          <a:ln w="0">
            <a:noFill/>
          </a:ln>
        </p:spPr>
        <p:txBody>
          <a:bodyPr lIns="43200" rIns="43200" tIns="43200" bIns="43200" anchor="t">
            <a:noAutofit/>
          </a:bodyPr>
          <a:p>
            <a:r>
              <a:rPr b="1" lang="en-US" sz="1300" spc="-1" strike="noStrike">
                <a:solidFill>
                  <a:srgbClr val="ffffff"/>
                </a:solidFill>
                <a:latin typeface="Arial"/>
              </a:rPr>
              <a:t>room area</a:t>
            </a:r>
            <a:endParaRPr b="0" lang="en-US" sz="1300" spc="-1" strike="noStrike">
              <a:solidFill>
                <a:srgbClr val="000000"/>
              </a:solidFill>
              <a:latin typeface="Arial"/>
            </a:endParaRPr>
          </a:p>
        </p:txBody>
      </p:sp>
      <p:sp>
        <p:nvSpPr>
          <p:cNvPr id="180" name=""/>
          <p:cNvSpPr/>
          <p:nvPr/>
        </p:nvSpPr>
        <p:spPr>
          <a:xfrm flipV="1">
            <a:off x="4356000" y="3006000"/>
            <a:ext cx="2268000" cy="72000"/>
          </a:xfrm>
          <a:prstGeom prst="line">
            <a:avLst/>
          </a:prstGeom>
          <a:ln w="16200">
            <a:solidFill>
              <a:srgbClr val="315e8a"/>
            </a:solidFill>
            <a:round/>
          </a:ln>
        </p:spPr>
        <p:style>
          <a:lnRef idx="0"/>
          <a:fillRef idx="0"/>
          <a:effectRef idx="0"/>
          <a:fontRef idx="minor"/>
        </p:style>
        <p:txBody>
          <a:bodyPr lIns="97920" rIns="97920" tIns="19080" bIns="19080" anchor="ctr" anchorCtr="1">
            <a:noAutofit/>
          </a:bodyPr>
          <a:p>
            <a:endParaRPr b="0" lang="en-US" sz="1800" spc="-1" strike="noStrike">
              <a:solidFill>
                <a:srgbClr val="000000"/>
              </a:solidFill>
              <a:latin typeface="Arial"/>
            </a:endParaRPr>
          </a:p>
        </p:txBody>
      </p:sp>
      <p:sp>
        <p:nvSpPr>
          <p:cNvPr id="181" name=""/>
          <p:cNvSpPr txBox="1"/>
          <p:nvPr/>
        </p:nvSpPr>
        <p:spPr>
          <a:xfrm>
            <a:off x="4878000" y="2905200"/>
            <a:ext cx="1224000" cy="394920"/>
          </a:xfrm>
          <a:prstGeom prst="rect">
            <a:avLst/>
          </a:prstGeom>
          <a:solidFill>
            <a:srgbClr val="f6f1e8"/>
          </a:solidFill>
          <a:ln w="9000">
            <a:solidFill>
              <a:srgbClr val="f6f1e8"/>
            </a:solidFill>
            <a:round/>
          </a:ln>
        </p:spPr>
        <p:txBody>
          <a:bodyPr lIns="28800" rIns="28800" tIns="28800" bIns="28800" anchor="t">
            <a:noAutofit/>
          </a:bodyPr>
          <a:p>
            <a:r>
              <a:rPr b="0" lang="en-US" sz="900" spc="-1" strike="noStrike">
                <a:solidFill>
                  <a:srgbClr val="626c68"/>
                </a:solidFill>
                <a:latin typeface="Arial"/>
              </a:rPr>
              <a:t>next_to</a:t>
            </a:r>
            <a:endParaRPr b="0" lang="en-US" sz="900" spc="-1" strike="noStrike">
              <a:solidFill>
                <a:srgbClr val="000000"/>
              </a:solidFill>
              <a:latin typeface="Arial"/>
            </a:endParaRPr>
          </a:p>
        </p:txBody>
      </p:sp>
      <p:sp>
        <p:nvSpPr>
          <p:cNvPr id="182" name=""/>
          <p:cNvSpPr/>
          <p:nvPr/>
        </p:nvSpPr>
        <p:spPr>
          <a:xfrm>
            <a:off x="5526000" y="2448000"/>
            <a:ext cx="0" cy="1548000"/>
          </a:xfrm>
          <a:prstGeom prst="line">
            <a:avLst/>
          </a:prstGeom>
          <a:ln w="16200">
            <a:solidFill>
              <a:srgbClr val="0f6b5d"/>
            </a:solidFill>
            <a:round/>
          </a:ln>
        </p:spPr>
        <p:style>
          <a:lnRef idx="0"/>
          <a:fillRef idx="0"/>
          <a:effectRef idx="0"/>
          <a:fontRef idx="minor"/>
        </p:style>
        <p:txBody>
          <a:bodyPr lIns="97920" rIns="97920" tIns="52920" bIns="52920" anchor="ctr" anchorCtr="1">
            <a:noAutofit/>
          </a:bodyPr>
          <a:p>
            <a:endParaRPr b="0" lang="en-US" sz="1800" spc="-1" strike="noStrike">
              <a:solidFill>
                <a:srgbClr val="000000"/>
              </a:solidFill>
              <a:latin typeface="Arial"/>
            </a:endParaRPr>
          </a:p>
        </p:txBody>
      </p:sp>
      <p:sp>
        <p:nvSpPr>
          <p:cNvPr id="183" name=""/>
          <p:cNvSpPr txBox="1"/>
          <p:nvPr/>
        </p:nvSpPr>
        <p:spPr>
          <a:xfrm>
            <a:off x="4914000" y="3085200"/>
            <a:ext cx="1224000" cy="394920"/>
          </a:xfrm>
          <a:prstGeom prst="rect">
            <a:avLst/>
          </a:prstGeom>
          <a:solidFill>
            <a:srgbClr val="f6f1e8"/>
          </a:solidFill>
          <a:ln w="9000">
            <a:solidFill>
              <a:srgbClr val="f6f1e8"/>
            </a:solidFill>
            <a:round/>
          </a:ln>
        </p:spPr>
        <p:txBody>
          <a:bodyPr lIns="28800" rIns="28800" tIns="28800" bIns="28800" anchor="t">
            <a:noAutofit/>
          </a:bodyPr>
          <a:p>
            <a:r>
              <a:rPr b="0" lang="en-US" sz="900" spc="-1" strike="noStrike">
                <a:solidFill>
                  <a:srgbClr val="626c68"/>
                </a:solidFill>
                <a:latin typeface="Arial"/>
              </a:rPr>
              <a:t>contains</a:t>
            </a:r>
            <a:endParaRPr b="0" lang="en-US" sz="900" spc="-1" strike="noStrike">
              <a:solidFill>
                <a:srgbClr val="000000"/>
              </a:solidFill>
              <a:latin typeface="Arial"/>
            </a:endParaRPr>
          </a:p>
        </p:txBody>
      </p:sp>
      <p:sp>
        <p:nvSpPr>
          <p:cNvPr id="184" name=""/>
          <p:cNvSpPr/>
          <p:nvPr/>
        </p:nvSpPr>
        <p:spPr>
          <a:xfrm>
            <a:off x="4356000" y="3240000"/>
            <a:ext cx="756000" cy="864000"/>
          </a:xfrm>
          <a:prstGeom prst="line">
            <a:avLst/>
          </a:prstGeom>
          <a:ln w="16200">
            <a:solidFill>
              <a:srgbClr val="c76946"/>
            </a:solidFill>
            <a:round/>
          </a:ln>
        </p:spPr>
        <p:style>
          <a:lnRef idx="0"/>
          <a:fillRef idx="0"/>
          <a:effectRef idx="0"/>
          <a:fontRef idx="minor"/>
        </p:style>
        <p:txBody>
          <a:bodyPr lIns="97920" rIns="97920" tIns="52920" bIns="52920" anchor="ctr" anchorCtr="1">
            <a:noAutofit/>
          </a:bodyPr>
          <a:p>
            <a:endParaRPr b="0" lang="en-US" sz="1800" spc="-1" strike="noStrike">
              <a:solidFill>
                <a:srgbClr val="000000"/>
              </a:solidFill>
              <a:latin typeface="Arial"/>
            </a:endParaRPr>
          </a:p>
        </p:txBody>
      </p:sp>
      <p:sp>
        <p:nvSpPr>
          <p:cNvPr id="185" name=""/>
          <p:cNvSpPr txBox="1"/>
          <p:nvPr/>
        </p:nvSpPr>
        <p:spPr>
          <a:xfrm>
            <a:off x="4122000" y="3535200"/>
            <a:ext cx="1224000" cy="394920"/>
          </a:xfrm>
          <a:prstGeom prst="rect">
            <a:avLst/>
          </a:prstGeom>
          <a:solidFill>
            <a:srgbClr val="f6f1e8"/>
          </a:solidFill>
          <a:ln w="9000">
            <a:solidFill>
              <a:srgbClr val="f6f1e8"/>
            </a:solidFill>
            <a:round/>
          </a:ln>
        </p:spPr>
        <p:txBody>
          <a:bodyPr lIns="28800" rIns="28800" tIns="28800" bIns="28800" anchor="t">
            <a:noAutofit/>
          </a:bodyPr>
          <a:p>
            <a:r>
              <a:rPr b="0" lang="en-US" sz="900" spc="-1" strike="noStrike">
                <a:solidFill>
                  <a:srgbClr val="626c68"/>
                </a:solidFill>
                <a:latin typeface="Arial"/>
              </a:rPr>
              <a:t>near</a:t>
            </a:r>
            <a:endParaRPr b="0" lang="en-US" sz="900" spc="-1" strike="noStrike">
              <a:solidFill>
                <a:srgbClr val="000000"/>
              </a:solidFill>
              <a:latin typeface="Arial"/>
            </a:endParaRPr>
          </a:p>
        </p:txBody>
      </p:sp>
      <p:sp>
        <p:nvSpPr>
          <p:cNvPr id="186" name=""/>
          <p:cNvSpPr/>
          <p:nvPr/>
        </p:nvSpPr>
        <p:spPr>
          <a:xfrm>
            <a:off x="792000" y="1872000"/>
            <a:ext cx="2160000" cy="2412000"/>
          </a:xfrm>
          <a:prstGeom prst="rect">
            <a:avLst/>
          </a:prstGeom>
          <a:solidFill>
            <a:srgbClr val="ffffff"/>
          </a:solidFill>
          <a:ln w="7920">
            <a:solidFill>
              <a:srgbClr val="d8d0c0"/>
            </a:solidFill>
            <a:round/>
          </a:ln>
        </p:spPr>
        <p:txBody>
          <a:bodyPr lIns="93960" rIns="93960" tIns="48960" bIns="48960" anchor="ctr" anchorCtr="1">
            <a:noAutofit/>
          </a:bodyPr>
          <a:p>
            <a:endParaRPr b="0" lang="en-US" sz="1800" spc="-1" strike="noStrike">
              <a:solidFill>
                <a:srgbClr val="000000"/>
              </a:solidFill>
              <a:latin typeface="Arial"/>
            </a:endParaRPr>
          </a:p>
        </p:txBody>
      </p:sp>
      <p:sp>
        <p:nvSpPr>
          <p:cNvPr id="187" name=""/>
          <p:cNvSpPr/>
          <p:nvPr/>
        </p:nvSpPr>
        <p:spPr>
          <a:xfrm>
            <a:off x="792000" y="1872000"/>
            <a:ext cx="93600" cy="2412000"/>
          </a:xfrm>
          <a:prstGeom prst="rect">
            <a:avLst/>
          </a:prstGeom>
          <a:solidFill>
            <a:srgbClr val="0f6b5d"/>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88" name=""/>
          <p:cNvSpPr txBox="1"/>
          <p:nvPr/>
        </p:nvSpPr>
        <p:spPr>
          <a:xfrm>
            <a:off x="961200" y="1980000"/>
            <a:ext cx="1908000" cy="423720"/>
          </a:xfrm>
          <a:prstGeom prst="rect">
            <a:avLst/>
          </a:prstGeom>
          <a:noFill/>
          <a:ln w="0">
            <a:noFill/>
          </a:ln>
        </p:spPr>
        <p:txBody>
          <a:bodyPr lIns="43200" rIns="43200" tIns="43200" bIns="43200" anchor="t">
            <a:noAutofit/>
          </a:bodyPr>
          <a:p>
            <a:r>
              <a:rPr b="1" lang="en-US" sz="1600" spc="-1" strike="noStrike">
                <a:solidFill>
                  <a:srgbClr val="0f6b5d"/>
                </a:solidFill>
                <a:latin typeface="Arial"/>
              </a:rPr>
              <a:t>Label mapping</a:t>
            </a:r>
            <a:endParaRPr b="0" lang="en-US" sz="1600" spc="-1" strike="noStrike">
              <a:solidFill>
                <a:srgbClr val="000000"/>
              </a:solidFill>
              <a:latin typeface="Arial"/>
            </a:endParaRPr>
          </a:p>
        </p:txBody>
      </p:sp>
      <p:sp>
        <p:nvSpPr>
          <p:cNvPr id="189" name=""/>
          <p:cNvSpPr txBox="1"/>
          <p:nvPr/>
        </p:nvSpPr>
        <p:spPr>
          <a:xfrm>
            <a:off x="961200" y="2167200"/>
            <a:ext cx="1872000" cy="864360"/>
          </a:xfrm>
          <a:prstGeom prst="rect">
            <a:avLst/>
          </a:prstGeom>
          <a:noFill/>
          <a:ln w="0">
            <a:noFill/>
          </a:ln>
        </p:spPr>
        <p:txBody>
          <a:bodyPr lIns="43200" rIns="43200" tIns="43200" bIns="43200" anchor="t">
            <a:noAutofit/>
          </a:bodyPr>
          <a:p>
            <a:r>
              <a:rPr b="0" lang="en-US" sz="1100" spc="-1" strike="noStrike">
                <a:solidFill>
                  <a:srgbClr val="111917"/>
                </a:solidFill>
                <a:latin typeface="Arial"/>
              </a:rPr>
              <a:t>Detector labels stay separate from semantic names. A detector label like bench can resolve to the user-facing concept table.</a:t>
            </a:r>
            <a:endParaRPr b="0" lang="en-US" sz="1100" spc="-1" strike="noStrike">
              <a:solidFill>
                <a:srgbClr val="000000"/>
              </a:solidFill>
              <a:latin typeface="Arial"/>
            </a:endParaRPr>
          </a:p>
        </p:txBody>
      </p:sp>
      <p:sp>
        <p:nvSpPr>
          <p:cNvPr id="190" name=""/>
          <p:cNvSpPr/>
          <p:nvPr/>
        </p:nvSpPr>
        <p:spPr>
          <a:xfrm>
            <a:off x="8640000" y="1872000"/>
            <a:ext cx="2160000" cy="2412000"/>
          </a:xfrm>
          <a:prstGeom prst="rect">
            <a:avLst/>
          </a:prstGeom>
          <a:solidFill>
            <a:srgbClr val="ffffff"/>
          </a:solidFill>
          <a:ln w="7920">
            <a:solidFill>
              <a:srgbClr val="d8d0c0"/>
            </a:solidFill>
            <a:round/>
          </a:ln>
        </p:spPr>
        <p:txBody>
          <a:bodyPr lIns="93960" rIns="93960" tIns="48960" bIns="48960" anchor="ctr" anchorCtr="1">
            <a:noAutofit/>
          </a:bodyPr>
          <a:p>
            <a:endParaRPr b="0" lang="en-US" sz="1800" spc="-1" strike="noStrike">
              <a:solidFill>
                <a:srgbClr val="000000"/>
              </a:solidFill>
              <a:latin typeface="Arial"/>
            </a:endParaRPr>
          </a:p>
        </p:txBody>
      </p:sp>
      <p:sp>
        <p:nvSpPr>
          <p:cNvPr id="191" name=""/>
          <p:cNvSpPr/>
          <p:nvPr/>
        </p:nvSpPr>
        <p:spPr>
          <a:xfrm>
            <a:off x="8640000" y="1872000"/>
            <a:ext cx="93600" cy="2412000"/>
          </a:xfrm>
          <a:prstGeom prst="rect">
            <a:avLst/>
          </a:prstGeom>
          <a:solidFill>
            <a:srgbClr val="315e8a"/>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192" name=""/>
          <p:cNvSpPr txBox="1"/>
          <p:nvPr/>
        </p:nvSpPr>
        <p:spPr>
          <a:xfrm>
            <a:off x="8809200" y="1980000"/>
            <a:ext cx="1908000" cy="423720"/>
          </a:xfrm>
          <a:prstGeom prst="rect">
            <a:avLst/>
          </a:prstGeom>
          <a:noFill/>
          <a:ln w="0">
            <a:noFill/>
          </a:ln>
        </p:spPr>
        <p:txBody>
          <a:bodyPr lIns="43200" rIns="43200" tIns="43200" bIns="43200" anchor="t">
            <a:noAutofit/>
          </a:bodyPr>
          <a:p>
            <a:r>
              <a:rPr b="1" lang="en-US" sz="1600" spc="-1" strike="noStrike">
                <a:solidFill>
                  <a:srgbClr val="315e8a"/>
                </a:solidFill>
                <a:latin typeface="Arial"/>
              </a:rPr>
              <a:t>Vocabulary choice</a:t>
            </a:r>
            <a:endParaRPr b="0" lang="en-US" sz="1600" spc="-1" strike="noStrike">
              <a:solidFill>
                <a:srgbClr val="000000"/>
              </a:solidFill>
              <a:latin typeface="Arial"/>
            </a:endParaRPr>
          </a:p>
        </p:txBody>
      </p:sp>
      <p:sp>
        <p:nvSpPr>
          <p:cNvPr id="193" name=""/>
          <p:cNvSpPr txBox="1"/>
          <p:nvPr/>
        </p:nvSpPr>
        <p:spPr>
          <a:xfrm>
            <a:off x="8809200" y="2167200"/>
            <a:ext cx="1872000" cy="708840"/>
          </a:xfrm>
          <a:prstGeom prst="rect">
            <a:avLst/>
          </a:prstGeom>
          <a:noFill/>
          <a:ln w="0">
            <a:noFill/>
          </a:ln>
        </p:spPr>
        <p:txBody>
          <a:bodyPr lIns="43200" rIns="43200" tIns="43200" bIns="43200" anchor="t">
            <a:noAutofit/>
          </a:bodyPr>
          <a:p>
            <a:r>
              <a:rPr b="0" lang="en-US" sz="1100" spc="-1" strike="noStrike">
                <a:solidFill>
                  <a:srgbClr val="111917"/>
                </a:solidFill>
                <a:latin typeface="Arial"/>
              </a:rPr>
              <a:t>Use robust relations like near and next_to instead of camera-relative left/right where viewpoint is unstable.</a:t>
            </a:r>
            <a:endParaRPr b="0" lang="en-US" sz="1100" spc="-1" strike="noStrike">
              <a:solidFill>
                <a:srgbClr val="000000"/>
              </a:solidFill>
              <a:latin typeface="Arial"/>
            </a:endParaRPr>
          </a:p>
        </p:txBody>
      </p:sp>
      <p:sp>
        <p:nvSpPr>
          <p:cNvPr id="194" name=""/>
          <p:cNvSpPr/>
          <p:nvPr/>
        </p:nvSpPr>
        <p:spPr>
          <a:xfrm>
            <a:off x="540000" y="6433200"/>
            <a:ext cx="11088000" cy="0"/>
          </a:xfrm>
          <a:prstGeom prst="line">
            <a:avLst/>
          </a:prstGeom>
          <a:ln w="7200">
            <a:solidFill>
              <a:srgbClr val="d8d0c0"/>
            </a:solidFill>
            <a:round/>
          </a:ln>
        </p:spPr>
        <p:style>
          <a:lnRef idx="0"/>
          <a:fillRef idx="0"/>
          <a:effectRef idx="0"/>
          <a:fontRef idx="minor"/>
        </p:style>
        <p:txBody>
          <a:bodyPr lIns="93600" rIns="93600" tIns="-48600" bIns="-48600" anchor="ctr" anchorCtr="1">
            <a:noAutofit/>
          </a:bodyPr>
          <a:p>
            <a:endParaRPr b="0" lang="en-US" sz="1800" spc="-1" strike="noStrike">
              <a:solidFill>
                <a:srgbClr val="000000"/>
              </a:solidFill>
              <a:latin typeface="Arial"/>
            </a:endParaRPr>
          </a:p>
        </p:txBody>
      </p:sp>
      <p:sp>
        <p:nvSpPr>
          <p:cNvPr id="195" name=""/>
          <p:cNvSpPr txBox="1"/>
          <p:nvPr/>
        </p:nvSpPr>
        <p:spPr>
          <a:xfrm>
            <a:off x="540000" y="6451200"/>
            <a:ext cx="3240000" cy="423720"/>
          </a:xfrm>
          <a:prstGeom prst="rect">
            <a:avLst/>
          </a:prstGeom>
          <a:noFill/>
          <a:ln w="0">
            <a:noFill/>
          </a:ln>
        </p:spPr>
        <p:txBody>
          <a:bodyPr lIns="43200" rIns="43200" tIns="43200" bIns="43200" anchor="t">
            <a:noAutofit/>
          </a:bodyPr>
          <a:p>
            <a:r>
              <a:rPr b="0" lang="en-US" sz="800" spc="-1" strike="noStrike">
                <a:solidFill>
                  <a:srgbClr val="626c68"/>
                </a:solidFill>
                <a:latin typeface="Arial"/>
              </a:rPr>
              <a:t>semantic-nav architecture</a:t>
            </a:r>
            <a:endParaRPr b="0" lang="en-US" sz="800" spc="-1" strike="noStrike">
              <a:solidFill>
                <a:srgbClr val="000000"/>
              </a:solidFill>
              <a:latin typeface="Arial"/>
            </a:endParaRPr>
          </a:p>
        </p:txBody>
      </p:sp>
      <p:sp>
        <p:nvSpPr>
          <p:cNvPr id="196" name=""/>
          <p:cNvSpPr txBox="1"/>
          <p:nvPr/>
        </p:nvSpPr>
        <p:spPr>
          <a:xfrm>
            <a:off x="11142000" y="6451200"/>
            <a:ext cx="360000" cy="423720"/>
          </a:xfrm>
          <a:prstGeom prst="rect">
            <a:avLst/>
          </a:prstGeom>
          <a:noFill/>
          <a:ln w="0">
            <a:noFill/>
          </a:ln>
        </p:spPr>
        <p:txBody>
          <a:bodyPr lIns="43200" rIns="43200" tIns="43200" bIns="43200" anchor="t">
            <a:noAutofit/>
          </a:bodyPr>
          <a:p>
            <a:r>
              <a:rPr b="0" lang="en-US" sz="800" spc="-1" strike="noStrike">
                <a:solidFill>
                  <a:srgbClr val="626c68"/>
                </a:solidFill>
                <a:latin typeface="Arial"/>
              </a:rPr>
              <a:t>06</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
          <p:cNvSpPr/>
          <p:nvPr/>
        </p:nvSpPr>
        <p:spPr>
          <a:xfrm>
            <a:off x="0" y="0"/>
            <a:ext cx="12192120" cy="6858000"/>
          </a:xfrm>
          <a:prstGeom prst="rect">
            <a:avLst/>
          </a:prstGeom>
          <a:solidFill>
            <a:srgbClr val="f6f1e8"/>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198" name=""/>
          <p:cNvSpPr txBox="1"/>
          <p:nvPr/>
        </p:nvSpPr>
        <p:spPr>
          <a:xfrm>
            <a:off x="540000" y="306000"/>
            <a:ext cx="3240000" cy="423720"/>
          </a:xfrm>
          <a:prstGeom prst="rect">
            <a:avLst/>
          </a:prstGeom>
          <a:noFill/>
          <a:ln w="0">
            <a:noFill/>
          </a:ln>
        </p:spPr>
        <p:txBody>
          <a:bodyPr lIns="43200" rIns="43200" tIns="43200" bIns="43200" anchor="t">
            <a:noAutofit/>
          </a:bodyPr>
          <a:p>
            <a:r>
              <a:rPr b="1" lang="en-US" sz="1000" spc="-1" strike="noStrike">
                <a:solidFill>
                  <a:srgbClr val="0f6b5d"/>
                </a:solidFill>
                <a:latin typeface="Arial"/>
              </a:rPr>
              <a:t>SEMANTIC NAVIGATION</a:t>
            </a:r>
            <a:endParaRPr b="0" lang="en-US" sz="1000" spc="-1" strike="noStrike">
              <a:solidFill>
                <a:srgbClr val="000000"/>
              </a:solidFill>
              <a:latin typeface="Arial"/>
            </a:endParaRPr>
          </a:p>
        </p:txBody>
      </p:sp>
      <p:sp>
        <p:nvSpPr>
          <p:cNvPr id="199" name=""/>
          <p:cNvSpPr txBox="1"/>
          <p:nvPr/>
        </p:nvSpPr>
        <p:spPr>
          <a:xfrm>
            <a:off x="540000" y="540000"/>
            <a:ext cx="7560000" cy="998280"/>
          </a:xfrm>
          <a:prstGeom prst="rect">
            <a:avLst/>
          </a:prstGeom>
          <a:noFill/>
          <a:ln w="0">
            <a:noFill/>
          </a:ln>
        </p:spPr>
        <p:txBody>
          <a:bodyPr lIns="43200" rIns="43200" tIns="43200" bIns="43200" anchor="t">
            <a:noAutofit/>
          </a:bodyPr>
          <a:p>
            <a:r>
              <a:rPr b="1" lang="en-US" sz="3200" spc="-1" strike="noStrike">
                <a:solidFill>
                  <a:srgbClr val="111917"/>
                </a:solidFill>
                <a:latin typeface="Arial"/>
              </a:rPr>
              <a:t>COLMAP enrichment for limited sensors</a:t>
            </a:r>
            <a:endParaRPr b="0" lang="en-US" sz="3200" spc="-1" strike="noStrike">
              <a:solidFill>
                <a:srgbClr val="000000"/>
              </a:solidFill>
              <a:latin typeface="Arial"/>
            </a:endParaRPr>
          </a:p>
        </p:txBody>
      </p:sp>
      <p:sp>
        <p:nvSpPr>
          <p:cNvPr id="200" name=""/>
          <p:cNvSpPr txBox="1"/>
          <p:nvPr/>
        </p:nvSpPr>
        <p:spPr>
          <a:xfrm>
            <a:off x="547200" y="1051200"/>
            <a:ext cx="6660000" cy="510120"/>
          </a:xfrm>
          <a:prstGeom prst="rect">
            <a:avLst/>
          </a:prstGeom>
          <a:noFill/>
          <a:ln w="0">
            <a:noFill/>
          </a:ln>
        </p:spPr>
        <p:txBody>
          <a:bodyPr lIns="43200" rIns="43200" tIns="43200" bIns="43200" anchor="t">
            <a:noAutofit/>
          </a:bodyPr>
          <a:p>
            <a:r>
              <a:rPr b="0" lang="en-US" sz="1500" spc="-1" strike="noStrike">
                <a:solidFill>
                  <a:srgbClr val="626c68"/>
                </a:solidFill>
                <a:latin typeface="Arial"/>
              </a:rPr>
              <a:t>The visual reconstruction layer adds context without replacing robot safety grounding.</a:t>
            </a:r>
            <a:endParaRPr b="0" lang="en-US" sz="1500" spc="-1" strike="noStrike">
              <a:solidFill>
                <a:srgbClr val="000000"/>
              </a:solidFill>
              <a:latin typeface="Arial"/>
            </a:endParaRPr>
          </a:p>
        </p:txBody>
      </p:sp>
      <p:sp>
        <p:nvSpPr>
          <p:cNvPr id="201" name=""/>
          <p:cNvSpPr/>
          <p:nvPr/>
        </p:nvSpPr>
        <p:spPr>
          <a:xfrm>
            <a:off x="2016000" y="1692000"/>
            <a:ext cx="8208000" cy="684000"/>
          </a:xfrm>
          <a:prstGeom prst="rect">
            <a:avLst/>
          </a:prstGeom>
          <a:solidFill>
            <a:srgbClr val="ffffff"/>
          </a:solidFill>
          <a:ln w="7920">
            <a:solidFill>
              <a:srgbClr val="d8d0c0"/>
            </a:solidFill>
            <a:round/>
          </a:ln>
        </p:spPr>
        <p:txBody>
          <a:bodyPr lIns="93960" rIns="93960" tIns="48960" bIns="48960" anchor="ctr" anchorCtr="1">
            <a:noAutofit/>
          </a:bodyPr>
          <a:p>
            <a:endParaRPr b="0" lang="en-US" sz="1800" spc="-1" strike="noStrike">
              <a:solidFill>
                <a:srgbClr val="000000"/>
              </a:solidFill>
              <a:latin typeface="Arial"/>
            </a:endParaRPr>
          </a:p>
        </p:txBody>
      </p:sp>
      <p:sp>
        <p:nvSpPr>
          <p:cNvPr id="202" name=""/>
          <p:cNvSpPr/>
          <p:nvPr/>
        </p:nvSpPr>
        <p:spPr>
          <a:xfrm>
            <a:off x="2016000" y="1692000"/>
            <a:ext cx="8208000" cy="93600"/>
          </a:xfrm>
          <a:prstGeom prst="rect">
            <a:avLst/>
          </a:prstGeom>
          <a:solidFill>
            <a:srgbClr val="0f6b5d"/>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03" name=""/>
          <p:cNvSpPr txBox="1"/>
          <p:nvPr/>
        </p:nvSpPr>
        <p:spPr>
          <a:xfrm>
            <a:off x="2232000" y="1893600"/>
            <a:ext cx="2736000" cy="423720"/>
          </a:xfrm>
          <a:prstGeom prst="rect">
            <a:avLst/>
          </a:prstGeom>
          <a:noFill/>
          <a:ln w="0">
            <a:noFill/>
          </a:ln>
        </p:spPr>
        <p:txBody>
          <a:bodyPr lIns="43200" rIns="43200" tIns="43200" bIns="43200" anchor="t">
            <a:noAutofit/>
          </a:bodyPr>
          <a:p>
            <a:r>
              <a:rPr b="1" lang="en-US" sz="1800" spc="-1" strike="noStrike">
                <a:solidFill>
                  <a:srgbClr val="0f6b5d"/>
                </a:solidFill>
                <a:latin typeface="Arial"/>
              </a:rPr>
              <a:t>Nav safety layer</a:t>
            </a:r>
            <a:endParaRPr b="0" lang="en-US" sz="1800" spc="-1" strike="noStrike">
              <a:solidFill>
                <a:srgbClr val="000000"/>
              </a:solidFill>
              <a:latin typeface="Arial"/>
            </a:endParaRPr>
          </a:p>
        </p:txBody>
      </p:sp>
      <p:sp>
        <p:nvSpPr>
          <p:cNvPr id="204" name=""/>
          <p:cNvSpPr txBox="1"/>
          <p:nvPr/>
        </p:nvSpPr>
        <p:spPr>
          <a:xfrm>
            <a:off x="5328000" y="1915200"/>
            <a:ext cx="4500000" cy="423720"/>
          </a:xfrm>
          <a:prstGeom prst="rect">
            <a:avLst/>
          </a:prstGeom>
          <a:noFill/>
          <a:ln w="0">
            <a:noFill/>
          </a:ln>
        </p:spPr>
        <p:txBody>
          <a:bodyPr lIns="43200" rIns="43200" tIns="43200" bIns="43200" anchor="t">
            <a:noAutofit/>
          </a:bodyPr>
          <a:p>
            <a:r>
              <a:rPr b="0" lang="en-US" sz="1400" spc="-1" strike="noStrike">
                <a:solidFill>
                  <a:srgbClr val="111917"/>
                </a:solidFill>
                <a:latin typeface="Arial"/>
              </a:rPr>
              <a:t>2D LiDAR + costmaps</a:t>
            </a:r>
            <a:endParaRPr b="0" lang="en-US" sz="1400" spc="-1" strike="noStrike">
              <a:solidFill>
                <a:srgbClr val="000000"/>
              </a:solidFill>
              <a:latin typeface="Arial"/>
            </a:endParaRPr>
          </a:p>
        </p:txBody>
      </p:sp>
      <p:sp>
        <p:nvSpPr>
          <p:cNvPr id="205" name=""/>
          <p:cNvSpPr/>
          <p:nvPr/>
        </p:nvSpPr>
        <p:spPr>
          <a:xfrm>
            <a:off x="2016000" y="2808000"/>
            <a:ext cx="8208000" cy="684000"/>
          </a:xfrm>
          <a:prstGeom prst="rect">
            <a:avLst/>
          </a:prstGeom>
          <a:solidFill>
            <a:srgbClr val="ffffff"/>
          </a:solidFill>
          <a:ln w="7920">
            <a:solidFill>
              <a:srgbClr val="d8d0c0"/>
            </a:solidFill>
            <a:round/>
          </a:ln>
        </p:spPr>
        <p:txBody>
          <a:bodyPr lIns="93960" rIns="93960" tIns="48960" bIns="48960" anchor="ctr" anchorCtr="1">
            <a:noAutofit/>
          </a:bodyPr>
          <a:p>
            <a:endParaRPr b="0" lang="en-US" sz="1800" spc="-1" strike="noStrike">
              <a:solidFill>
                <a:srgbClr val="000000"/>
              </a:solidFill>
              <a:latin typeface="Arial"/>
            </a:endParaRPr>
          </a:p>
        </p:txBody>
      </p:sp>
      <p:sp>
        <p:nvSpPr>
          <p:cNvPr id="206" name=""/>
          <p:cNvSpPr/>
          <p:nvPr/>
        </p:nvSpPr>
        <p:spPr>
          <a:xfrm>
            <a:off x="2016000" y="2808000"/>
            <a:ext cx="8208000" cy="93600"/>
          </a:xfrm>
          <a:prstGeom prst="rect">
            <a:avLst/>
          </a:prstGeom>
          <a:solidFill>
            <a:srgbClr val="c76946"/>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07" name=""/>
          <p:cNvSpPr txBox="1"/>
          <p:nvPr/>
        </p:nvSpPr>
        <p:spPr>
          <a:xfrm>
            <a:off x="2232000" y="3009600"/>
            <a:ext cx="2736000" cy="423720"/>
          </a:xfrm>
          <a:prstGeom prst="rect">
            <a:avLst/>
          </a:prstGeom>
          <a:noFill/>
          <a:ln w="0">
            <a:noFill/>
          </a:ln>
        </p:spPr>
        <p:txBody>
          <a:bodyPr lIns="43200" rIns="43200" tIns="43200" bIns="43200" anchor="t">
            <a:noAutofit/>
          </a:bodyPr>
          <a:p>
            <a:r>
              <a:rPr b="1" lang="en-US" sz="1800" spc="-1" strike="noStrike">
                <a:solidFill>
                  <a:srgbClr val="c76946"/>
                </a:solidFill>
                <a:latin typeface="Arial"/>
              </a:rPr>
              <a:t>Semantic layer</a:t>
            </a:r>
            <a:endParaRPr b="0" lang="en-US" sz="1800" spc="-1" strike="noStrike">
              <a:solidFill>
                <a:srgbClr val="000000"/>
              </a:solidFill>
              <a:latin typeface="Arial"/>
            </a:endParaRPr>
          </a:p>
        </p:txBody>
      </p:sp>
      <p:sp>
        <p:nvSpPr>
          <p:cNvPr id="208" name=""/>
          <p:cNvSpPr txBox="1"/>
          <p:nvPr/>
        </p:nvSpPr>
        <p:spPr>
          <a:xfrm>
            <a:off x="5328000" y="3031200"/>
            <a:ext cx="4500000" cy="423720"/>
          </a:xfrm>
          <a:prstGeom prst="rect">
            <a:avLst/>
          </a:prstGeom>
          <a:noFill/>
          <a:ln w="0">
            <a:noFill/>
          </a:ln>
        </p:spPr>
        <p:txBody>
          <a:bodyPr lIns="43200" rIns="43200" tIns="43200" bIns="43200" anchor="t">
            <a:noAutofit/>
          </a:bodyPr>
          <a:p>
            <a:r>
              <a:rPr b="0" lang="en-US" sz="1400" spc="-1" strike="noStrike">
                <a:solidFill>
                  <a:srgbClr val="111917"/>
                </a:solidFill>
                <a:latin typeface="Arial"/>
              </a:rPr>
              <a:t>entities + relationships</a:t>
            </a:r>
            <a:endParaRPr b="0" lang="en-US" sz="1400" spc="-1" strike="noStrike">
              <a:solidFill>
                <a:srgbClr val="000000"/>
              </a:solidFill>
              <a:latin typeface="Arial"/>
            </a:endParaRPr>
          </a:p>
        </p:txBody>
      </p:sp>
      <p:sp>
        <p:nvSpPr>
          <p:cNvPr id="209" name=""/>
          <p:cNvSpPr/>
          <p:nvPr/>
        </p:nvSpPr>
        <p:spPr>
          <a:xfrm>
            <a:off x="2016000" y="3924000"/>
            <a:ext cx="8208000" cy="684000"/>
          </a:xfrm>
          <a:prstGeom prst="rect">
            <a:avLst/>
          </a:prstGeom>
          <a:solidFill>
            <a:srgbClr val="ffffff"/>
          </a:solidFill>
          <a:ln w="7920">
            <a:solidFill>
              <a:srgbClr val="d8d0c0"/>
            </a:solidFill>
            <a:round/>
          </a:ln>
        </p:spPr>
        <p:txBody>
          <a:bodyPr lIns="93960" rIns="93960" tIns="48960" bIns="48960" anchor="ctr" anchorCtr="1">
            <a:noAutofit/>
          </a:bodyPr>
          <a:p>
            <a:endParaRPr b="0" lang="en-US" sz="1800" spc="-1" strike="noStrike">
              <a:solidFill>
                <a:srgbClr val="000000"/>
              </a:solidFill>
              <a:latin typeface="Arial"/>
            </a:endParaRPr>
          </a:p>
        </p:txBody>
      </p:sp>
      <p:sp>
        <p:nvSpPr>
          <p:cNvPr id="210" name=""/>
          <p:cNvSpPr/>
          <p:nvPr/>
        </p:nvSpPr>
        <p:spPr>
          <a:xfrm>
            <a:off x="2016000" y="3924000"/>
            <a:ext cx="8208000" cy="93600"/>
          </a:xfrm>
          <a:prstGeom prst="rect">
            <a:avLst/>
          </a:prstGeom>
          <a:solidFill>
            <a:srgbClr val="315e8a"/>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11" name=""/>
          <p:cNvSpPr txBox="1"/>
          <p:nvPr/>
        </p:nvSpPr>
        <p:spPr>
          <a:xfrm>
            <a:off x="2232000" y="4125600"/>
            <a:ext cx="2736000" cy="423720"/>
          </a:xfrm>
          <a:prstGeom prst="rect">
            <a:avLst/>
          </a:prstGeom>
          <a:noFill/>
          <a:ln w="0">
            <a:noFill/>
          </a:ln>
        </p:spPr>
        <p:txBody>
          <a:bodyPr lIns="43200" rIns="43200" tIns="43200" bIns="43200" anchor="t">
            <a:noAutofit/>
          </a:bodyPr>
          <a:p>
            <a:r>
              <a:rPr b="1" lang="en-US" sz="1800" spc="-1" strike="noStrike">
                <a:solidFill>
                  <a:srgbClr val="315e8a"/>
                </a:solidFill>
                <a:latin typeface="Arial"/>
              </a:rPr>
              <a:t>Visual enrichment</a:t>
            </a:r>
            <a:endParaRPr b="0" lang="en-US" sz="1800" spc="-1" strike="noStrike">
              <a:solidFill>
                <a:srgbClr val="000000"/>
              </a:solidFill>
              <a:latin typeface="Arial"/>
            </a:endParaRPr>
          </a:p>
        </p:txBody>
      </p:sp>
      <p:sp>
        <p:nvSpPr>
          <p:cNvPr id="212" name=""/>
          <p:cNvSpPr txBox="1"/>
          <p:nvPr/>
        </p:nvSpPr>
        <p:spPr>
          <a:xfrm>
            <a:off x="5328000" y="4147200"/>
            <a:ext cx="4500000" cy="423720"/>
          </a:xfrm>
          <a:prstGeom prst="rect">
            <a:avLst/>
          </a:prstGeom>
          <a:noFill/>
          <a:ln w="0">
            <a:noFill/>
          </a:ln>
        </p:spPr>
        <p:txBody>
          <a:bodyPr lIns="43200" rIns="43200" tIns="43200" bIns="43200" anchor="t">
            <a:noAutofit/>
          </a:bodyPr>
          <a:p>
            <a:r>
              <a:rPr b="0" lang="en-US" sz="1400" spc="-1" strike="noStrike">
                <a:solidFill>
                  <a:srgbClr val="111917"/>
                </a:solidFill>
                <a:latin typeface="Arial"/>
              </a:rPr>
              <a:t>COLMAP points / geometry context</a:t>
            </a:r>
            <a:endParaRPr b="0" lang="en-US" sz="1400" spc="-1" strike="noStrike">
              <a:solidFill>
                <a:srgbClr val="000000"/>
              </a:solidFill>
              <a:latin typeface="Arial"/>
            </a:endParaRPr>
          </a:p>
        </p:txBody>
      </p:sp>
      <p:sp>
        <p:nvSpPr>
          <p:cNvPr id="213" name=""/>
          <p:cNvSpPr/>
          <p:nvPr/>
        </p:nvSpPr>
        <p:spPr>
          <a:xfrm flipV="1">
            <a:off x="6120000" y="2484000"/>
            <a:ext cx="0" cy="2124000"/>
          </a:xfrm>
          <a:prstGeom prst="line">
            <a:avLst/>
          </a:prstGeom>
          <a:ln w="16200">
            <a:solidFill>
              <a:srgbClr val="315e8a"/>
            </a:solidFill>
            <a:round/>
          </a:ln>
        </p:spPr>
        <p:style>
          <a:lnRef idx="0"/>
          <a:fillRef idx="0"/>
          <a:effectRef idx="0"/>
          <a:fontRef idx="minor"/>
        </p:style>
        <p:txBody>
          <a:bodyPr lIns="97920" rIns="97920" tIns="52920" bIns="52920" anchor="ctr" anchorCtr="1">
            <a:noAutofit/>
          </a:bodyPr>
          <a:p>
            <a:endParaRPr b="0" lang="en-US" sz="1800" spc="-1" strike="noStrike">
              <a:solidFill>
                <a:srgbClr val="000000"/>
              </a:solidFill>
              <a:latin typeface="Arial"/>
            </a:endParaRPr>
          </a:p>
        </p:txBody>
      </p:sp>
      <p:sp>
        <p:nvSpPr>
          <p:cNvPr id="214" name=""/>
          <p:cNvSpPr txBox="1"/>
          <p:nvPr/>
        </p:nvSpPr>
        <p:spPr>
          <a:xfrm>
            <a:off x="5508000" y="3409200"/>
            <a:ext cx="1224000" cy="394920"/>
          </a:xfrm>
          <a:prstGeom prst="rect">
            <a:avLst/>
          </a:prstGeom>
          <a:solidFill>
            <a:srgbClr val="f6f1e8"/>
          </a:solidFill>
          <a:ln w="9000">
            <a:solidFill>
              <a:srgbClr val="f6f1e8"/>
            </a:solidFill>
            <a:round/>
          </a:ln>
        </p:spPr>
        <p:txBody>
          <a:bodyPr lIns="28800" rIns="28800" tIns="28800" bIns="28800" anchor="t">
            <a:noAutofit/>
          </a:bodyPr>
          <a:p>
            <a:r>
              <a:rPr b="0" lang="en-US" sz="900" spc="-1" strike="noStrike">
                <a:solidFill>
                  <a:srgbClr val="626c68"/>
                </a:solidFill>
                <a:latin typeface="Arial"/>
              </a:rPr>
              <a:t>enrich, do not replace</a:t>
            </a:r>
            <a:endParaRPr b="0" lang="en-US" sz="900" spc="-1" strike="noStrike">
              <a:solidFill>
                <a:srgbClr val="000000"/>
              </a:solidFill>
              <a:latin typeface="Arial"/>
            </a:endParaRPr>
          </a:p>
        </p:txBody>
      </p:sp>
      <p:sp>
        <p:nvSpPr>
          <p:cNvPr id="215" name=""/>
          <p:cNvSpPr txBox="1"/>
          <p:nvPr/>
        </p:nvSpPr>
        <p:spPr>
          <a:xfrm>
            <a:off x="1656000" y="5202000"/>
            <a:ext cx="8856000" cy="538200"/>
          </a:xfrm>
          <a:prstGeom prst="rect">
            <a:avLst/>
          </a:prstGeom>
          <a:noFill/>
          <a:ln w="0">
            <a:noFill/>
          </a:ln>
        </p:spPr>
        <p:txBody>
          <a:bodyPr lIns="43200" rIns="43200" tIns="43200" bIns="43200" anchor="t">
            <a:noAutofit/>
          </a:bodyPr>
          <a:p>
            <a:r>
              <a:rPr b="1" lang="en-US" sz="1600" spc="-1" strike="noStrike">
                <a:solidFill>
                  <a:srgbClr val="111917"/>
                </a:solidFill>
                <a:latin typeface="Arial"/>
              </a:rPr>
              <a:t>For 2D LiDAR robots, COLMAP helps recover visual geometry that the scan plane cannot see, while motion planning remains tied to the robot’s validated obstacle model.</a:t>
            </a:r>
            <a:endParaRPr b="0" lang="en-US" sz="1600" spc="-1" strike="noStrike">
              <a:solidFill>
                <a:srgbClr val="000000"/>
              </a:solidFill>
              <a:latin typeface="Arial"/>
            </a:endParaRPr>
          </a:p>
        </p:txBody>
      </p:sp>
      <p:sp>
        <p:nvSpPr>
          <p:cNvPr id="216" name=""/>
          <p:cNvSpPr/>
          <p:nvPr/>
        </p:nvSpPr>
        <p:spPr>
          <a:xfrm>
            <a:off x="540000" y="6433200"/>
            <a:ext cx="11088000" cy="0"/>
          </a:xfrm>
          <a:prstGeom prst="line">
            <a:avLst/>
          </a:prstGeom>
          <a:ln w="7200">
            <a:solidFill>
              <a:srgbClr val="d8d0c0"/>
            </a:solidFill>
            <a:round/>
          </a:ln>
        </p:spPr>
        <p:style>
          <a:lnRef idx="0"/>
          <a:fillRef idx="0"/>
          <a:effectRef idx="0"/>
          <a:fontRef idx="minor"/>
        </p:style>
        <p:txBody>
          <a:bodyPr lIns="93600" rIns="93600" tIns="-48600" bIns="-48600" anchor="ctr" anchorCtr="1">
            <a:noAutofit/>
          </a:bodyPr>
          <a:p>
            <a:endParaRPr b="0" lang="en-US" sz="1800" spc="-1" strike="noStrike">
              <a:solidFill>
                <a:srgbClr val="000000"/>
              </a:solidFill>
              <a:latin typeface="Arial"/>
            </a:endParaRPr>
          </a:p>
        </p:txBody>
      </p:sp>
      <p:sp>
        <p:nvSpPr>
          <p:cNvPr id="217" name=""/>
          <p:cNvSpPr txBox="1"/>
          <p:nvPr/>
        </p:nvSpPr>
        <p:spPr>
          <a:xfrm>
            <a:off x="540000" y="6451200"/>
            <a:ext cx="3240000" cy="423720"/>
          </a:xfrm>
          <a:prstGeom prst="rect">
            <a:avLst/>
          </a:prstGeom>
          <a:noFill/>
          <a:ln w="0">
            <a:noFill/>
          </a:ln>
        </p:spPr>
        <p:txBody>
          <a:bodyPr lIns="43200" rIns="43200" tIns="43200" bIns="43200" anchor="t">
            <a:noAutofit/>
          </a:bodyPr>
          <a:p>
            <a:r>
              <a:rPr b="0" lang="en-US" sz="800" spc="-1" strike="noStrike">
                <a:solidFill>
                  <a:srgbClr val="626c68"/>
                </a:solidFill>
                <a:latin typeface="Arial"/>
              </a:rPr>
              <a:t>semantic-nav architecture</a:t>
            </a:r>
            <a:endParaRPr b="0" lang="en-US" sz="800" spc="-1" strike="noStrike">
              <a:solidFill>
                <a:srgbClr val="000000"/>
              </a:solidFill>
              <a:latin typeface="Arial"/>
            </a:endParaRPr>
          </a:p>
        </p:txBody>
      </p:sp>
      <p:sp>
        <p:nvSpPr>
          <p:cNvPr id="218" name=""/>
          <p:cNvSpPr txBox="1"/>
          <p:nvPr/>
        </p:nvSpPr>
        <p:spPr>
          <a:xfrm>
            <a:off x="11142000" y="6451200"/>
            <a:ext cx="360000" cy="423720"/>
          </a:xfrm>
          <a:prstGeom prst="rect">
            <a:avLst/>
          </a:prstGeom>
          <a:noFill/>
          <a:ln w="0">
            <a:noFill/>
          </a:ln>
        </p:spPr>
        <p:txBody>
          <a:bodyPr lIns="43200" rIns="43200" tIns="43200" bIns="43200" anchor="t">
            <a:noAutofit/>
          </a:bodyPr>
          <a:p>
            <a:r>
              <a:rPr b="0" lang="en-US" sz="800" spc="-1" strike="noStrike">
                <a:solidFill>
                  <a:srgbClr val="626c68"/>
                </a:solidFill>
                <a:latin typeface="Arial"/>
              </a:rPr>
              <a:t>07</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9" name=""/>
          <p:cNvSpPr/>
          <p:nvPr/>
        </p:nvSpPr>
        <p:spPr>
          <a:xfrm>
            <a:off x="0" y="0"/>
            <a:ext cx="12192120" cy="6858000"/>
          </a:xfrm>
          <a:prstGeom prst="rect">
            <a:avLst/>
          </a:prstGeom>
          <a:solidFill>
            <a:srgbClr val="f6f1e8"/>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20" name=""/>
          <p:cNvSpPr txBox="1"/>
          <p:nvPr/>
        </p:nvSpPr>
        <p:spPr>
          <a:xfrm>
            <a:off x="540000" y="306000"/>
            <a:ext cx="3240000" cy="423720"/>
          </a:xfrm>
          <a:prstGeom prst="rect">
            <a:avLst/>
          </a:prstGeom>
          <a:noFill/>
          <a:ln w="0">
            <a:noFill/>
          </a:ln>
        </p:spPr>
        <p:txBody>
          <a:bodyPr lIns="43200" rIns="43200" tIns="43200" bIns="43200" anchor="t">
            <a:noAutofit/>
          </a:bodyPr>
          <a:p>
            <a:r>
              <a:rPr b="1" lang="en-US" sz="1000" spc="-1" strike="noStrike">
                <a:solidFill>
                  <a:srgbClr val="0f6b5d"/>
                </a:solidFill>
                <a:latin typeface="Arial"/>
              </a:rPr>
              <a:t>SEMANTIC NAVIGATION</a:t>
            </a:r>
            <a:endParaRPr b="0" lang="en-US" sz="1000" spc="-1" strike="noStrike">
              <a:solidFill>
                <a:srgbClr val="000000"/>
              </a:solidFill>
              <a:latin typeface="Arial"/>
            </a:endParaRPr>
          </a:p>
        </p:txBody>
      </p:sp>
      <p:sp>
        <p:nvSpPr>
          <p:cNvPr id="221" name=""/>
          <p:cNvSpPr txBox="1"/>
          <p:nvPr/>
        </p:nvSpPr>
        <p:spPr>
          <a:xfrm>
            <a:off x="540000" y="540000"/>
            <a:ext cx="7560000" cy="542520"/>
          </a:xfrm>
          <a:prstGeom prst="rect">
            <a:avLst/>
          </a:prstGeom>
          <a:noFill/>
          <a:ln w="0">
            <a:noFill/>
          </a:ln>
        </p:spPr>
        <p:txBody>
          <a:bodyPr lIns="43200" rIns="43200" tIns="43200" bIns="43200" anchor="t">
            <a:noAutofit/>
          </a:bodyPr>
          <a:p>
            <a:r>
              <a:rPr b="1" lang="en-US" sz="3200" spc="-1" strike="noStrike">
                <a:solidFill>
                  <a:srgbClr val="111917"/>
                </a:solidFill>
                <a:latin typeface="Arial"/>
              </a:rPr>
              <a:t>Real robot integration</a:t>
            </a:r>
            <a:endParaRPr b="0" lang="en-US" sz="3200" spc="-1" strike="noStrike">
              <a:solidFill>
                <a:srgbClr val="000000"/>
              </a:solidFill>
              <a:latin typeface="Arial"/>
            </a:endParaRPr>
          </a:p>
        </p:txBody>
      </p:sp>
      <p:sp>
        <p:nvSpPr>
          <p:cNvPr id="222" name=""/>
          <p:cNvSpPr txBox="1"/>
          <p:nvPr/>
        </p:nvSpPr>
        <p:spPr>
          <a:xfrm>
            <a:off x="547200" y="1051200"/>
            <a:ext cx="6660000" cy="423720"/>
          </a:xfrm>
          <a:prstGeom prst="rect">
            <a:avLst/>
          </a:prstGeom>
          <a:noFill/>
          <a:ln w="0">
            <a:noFill/>
          </a:ln>
        </p:spPr>
        <p:txBody>
          <a:bodyPr lIns="43200" rIns="43200" tIns="43200" bIns="43200" anchor="t">
            <a:noAutofit/>
          </a:bodyPr>
          <a:p>
            <a:r>
              <a:rPr b="0" lang="en-US" sz="1500" spc="-1" strike="noStrike">
                <a:solidFill>
                  <a:srgbClr val="626c68"/>
                </a:solidFill>
                <a:latin typeface="Arial"/>
              </a:rPr>
              <a:t>The system was prepared for a TurtleBot3-style ROS 2 deployment path.</a:t>
            </a:r>
            <a:endParaRPr b="0" lang="en-US" sz="1500" spc="-1" strike="noStrike">
              <a:solidFill>
                <a:srgbClr val="000000"/>
              </a:solidFill>
              <a:latin typeface="Arial"/>
            </a:endParaRPr>
          </a:p>
        </p:txBody>
      </p:sp>
      <p:sp>
        <p:nvSpPr>
          <p:cNvPr id="223" name=""/>
          <p:cNvSpPr/>
          <p:nvPr/>
        </p:nvSpPr>
        <p:spPr>
          <a:xfrm>
            <a:off x="1080000" y="1620000"/>
            <a:ext cx="4248000" cy="468000"/>
          </a:xfrm>
          <a:prstGeom prst="rect">
            <a:avLst/>
          </a:prstGeom>
          <a:solidFill>
            <a:srgbClr val="ffffff"/>
          </a:solidFill>
          <a:ln w="7920">
            <a:solidFill>
              <a:srgbClr val="d8d0c0"/>
            </a:solidFill>
            <a:round/>
          </a:ln>
        </p:spPr>
        <p:txBody>
          <a:bodyPr lIns="93960" rIns="93960" tIns="48960" bIns="48960" anchor="ctr" anchorCtr="1">
            <a:noAutofit/>
          </a:bodyPr>
          <a:p>
            <a:endParaRPr b="0" lang="en-US" sz="1800" spc="-1" strike="noStrike">
              <a:solidFill>
                <a:srgbClr val="000000"/>
              </a:solidFill>
              <a:latin typeface="Arial"/>
            </a:endParaRPr>
          </a:p>
        </p:txBody>
      </p:sp>
      <p:sp>
        <p:nvSpPr>
          <p:cNvPr id="224" name=""/>
          <p:cNvSpPr/>
          <p:nvPr/>
        </p:nvSpPr>
        <p:spPr>
          <a:xfrm>
            <a:off x="1198800" y="1742400"/>
            <a:ext cx="223200" cy="223200"/>
          </a:xfrm>
          <a:prstGeom prst="ellipse">
            <a:avLst/>
          </a:prstGeom>
          <a:solidFill>
            <a:srgbClr val="0f6b5d"/>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25" name=""/>
          <p:cNvSpPr txBox="1"/>
          <p:nvPr/>
        </p:nvSpPr>
        <p:spPr>
          <a:xfrm>
            <a:off x="1483200" y="1713600"/>
            <a:ext cx="3758400" cy="423720"/>
          </a:xfrm>
          <a:prstGeom prst="rect">
            <a:avLst/>
          </a:prstGeom>
          <a:noFill/>
          <a:ln w="0">
            <a:noFill/>
          </a:ln>
        </p:spPr>
        <p:txBody>
          <a:bodyPr lIns="43200" rIns="43200" tIns="43200" bIns="43200" anchor="t">
            <a:noAutofit/>
          </a:bodyPr>
          <a:p>
            <a:r>
              <a:rPr b="1" lang="en-US" sz="1500" spc="-1" strike="noStrike">
                <a:solidFill>
                  <a:srgbClr val="111917"/>
                </a:solidFill>
                <a:latin typeface="Arial"/>
              </a:rPr>
              <a:t>LDS-02 bringup</a:t>
            </a:r>
            <a:endParaRPr b="0" lang="en-US" sz="1500" spc="-1" strike="noStrike">
              <a:solidFill>
                <a:srgbClr val="000000"/>
              </a:solidFill>
              <a:latin typeface="Arial"/>
            </a:endParaRPr>
          </a:p>
        </p:txBody>
      </p:sp>
      <p:sp>
        <p:nvSpPr>
          <p:cNvPr id="226" name=""/>
          <p:cNvSpPr txBox="1"/>
          <p:nvPr/>
        </p:nvSpPr>
        <p:spPr>
          <a:xfrm>
            <a:off x="1483200" y="1879200"/>
            <a:ext cx="3758400" cy="423720"/>
          </a:xfrm>
          <a:prstGeom prst="rect">
            <a:avLst/>
          </a:prstGeom>
          <a:noFill/>
          <a:ln w="0">
            <a:noFill/>
          </a:ln>
        </p:spPr>
        <p:txBody>
          <a:bodyPr lIns="43200" rIns="43200" tIns="43200" bIns="43200" anchor="t">
            <a:noAutofit/>
          </a:bodyPr>
          <a:p>
            <a:r>
              <a:rPr b="0" lang="en-US" sz="1000" spc="-1" strike="noStrike">
                <a:solidFill>
                  <a:srgbClr val="626c68"/>
                </a:solidFill>
                <a:latin typeface="Arial"/>
              </a:rPr>
              <a:t>real /scan source</a:t>
            </a:r>
            <a:endParaRPr b="0" lang="en-US" sz="1000" spc="-1" strike="noStrike">
              <a:solidFill>
                <a:srgbClr val="000000"/>
              </a:solidFill>
              <a:latin typeface="Arial"/>
            </a:endParaRPr>
          </a:p>
        </p:txBody>
      </p:sp>
      <p:sp>
        <p:nvSpPr>
          <p:cNvPr id="227" name=""/>
          <p:cNvSpPr/>
          <p:nvPr/>
        </p:nvSpPr>
        <p:spPr>
          <a:xfrm>
            <a:off x="3204000" y="2088000"/>
            <a:ext cx="0" cy="126000"/>
          </a:xfrm>
          <a:prstGeom prst="line">
            <a:avLst/>
          </a:prstGeom>
          <a:ln w="16200">
            <a:solidFill>
              <a:srgbClr val="0f6b5d"/>
            </a:solidFill>
            <a:round/>
          </a:ln>
        </p:spPr>
        <p:style>
          <a:lnRef idx="0"/>
          <a:fillRef idx="0"/>
          <a:effectRef idx="0"/>
          <a:fontRef idx="minor"/>
        </p:style>
        <p:txBody>
          <a:bodyPr lIns="97920" rIns="97920" tIns="52920" bIns="52920" anchor="ctr" anchorCtr="1">
            <a:noAutofit/>
          </a:bodyPr>
          <a:p>
            <a:endParaRPr b="0" lang="en-US" sz="1800" spc="-1" strike="noStrike">
              <a:solidFill>
                <a:srgbClr val="000000"/>
              </a:solidFill>
              <a:latin typeface="Arial"/>
            </a:endParaRPr>
          </a:p>
        </p:txBody>
      </p:sp>
      <p:sp>
        <p:nvSpPr>
          <p:cNvPr id="228" name=""/>
          <p:cNvSpPr/>
          <p:nvPr/>
        </p:nvSpPr>
        <p:spPr>
          <a:xfrm>
            <a:off x="1080000" y="2214000"/>
            <a:ext cx="4248000" cy="468000"/>
          </a:xfrm>
          <a:prstGeom prst="rect">
            <a:avLst/>
          </a:prstGeom>
          <a:solidFill>
            <a:srgbClr val="ffffff"/>
          </a:solidFill>
          <a:ln w="7920">
            <a:solidFill>
              <a:srgbClr val="d8d0c0"/>
            </a:solidFill>
            <a:round/>
          </a:ln>
        </p:spPr>
        <p:txBody>
          <a:bodyPr lIns="93960" rIns="93960" tIns="48960" bIns="48960" anchor="ctr" anchorCtr="1">
            <a:noAutofit/>
          </a:bodyPr>
          <a:p>
            <a:endParaRPr b="0" lang="en-US" sz="1800" spc="-1" strike="noStrike">
              <a:solidFill>
                <a:srgbClr val="000000"/>
              </a:solidFill>
              <a:latin typeface="Arial"/>
            </a:endParaRPr>
          </a:p>
        </p:txBody>
      </p:sp>
      <p:sp>
        <p:nvSpPr>
          <p:cNvPr id="229" name=""/>
          <p:cNvSpPr/>
          <p:nvPr/>
        </p:nvSpPr>
        <p:spPr>
          <a:xfrm>
            <a:off x="1198800" y="2336400"/>
            <a:ext cx="223200" cy="223200"/>
          </a:xfrm>
          <a:prstGeom prst="ellipse">
            <a:avLst/>
          </a:prstGeom>
          <a:solidFill>
            <a:srgbClr val="315e8a"/>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30" name=""/>
          <p:cNvSpPr txBox="1"/>
          <p:nvPr/>
        </p:nvSpPr>
        <p:spPr>
          <a:xfrm>
            <a:off x="1483200" y="2307600"/>
            <a:ext cx="3758400" cy="423720"/>
          </a:xfrm>
          <a:prstGeom prst="rect">
            <a:avLst/>
          </a:prstGeom>
          <a:noFill/>
          <a:ln w="0">
            <a:noFill/>
          </a:ln>
        </p:spPr>
        <p:txBody>
          <a:bodyPr lIns="43200" rIns="43200" tIns="43200" bIns="43200" anchor="t">
            <a:noAutofit/>
          </a:bodyPr>
          <a:p>
            <a:r>
              <a:rPr b="1" lang="en-US" sz="1500" spc="-1" strike="noStrike">
                <a:solidFill>
                  <a:srgbClr val="111917"/>
                </a:solidFill>
                <a:latin typeface="Arial"/>
              </a:rPr>
              <a:t>USB camera path</a:t>
            </a:r>
            <a:endParaRPr b="0" lang="en-US" sz="1500" spc="-1" strike="noStrike">
              <a:solidFill>
                <a:srgbClr val="000000"/>
              </a:solidFill>
              <a:latin typeface="Arial"/>
            </a:endParaRPr>
          </a:p>
        </p:txBody>
      </p:sp>
      <p:sp>
        <p:nvSpPr>
          <p:cNvPr id="231" name=""/>
          <p:cNvSpPr txBox="1"/>
          <p:nvPr/>
        </p:nvSpPr>
        <p:spPr>
          <a:xfrm>
            <a:off x="1483200" y="2473200"/>
            <a:ext cx="3758400" cy="423720"/>
          </a:xfrm>
          <a:prstGeom prst="rect">
            <a:avLst/>
          </a:prstGeom>
          <a:noFill/>
          <a:ln w="0">
            <a:noFill/>
          </a:ln>
        </p:spPr>
        <p:txBody>
          <a:bodyPr lIns="43200" rIns="43200" tIns="43200" bIns="43200" anchor="t">
            <a:noAutofit/>
          </a:bodyPr>
          <a:p>
            <a:r>
              <a:rPr b="0" lang="en-US" sz="1000" spc="-1" strike="noStrike">
                <a:solidFill>
                  <a:srgbClr val="626c68"/>
                </a:solidFill>
                <a:latin typeface="Arial"/>
              </a:rPr>
              <a:t>real image stream</a:t>
            </a:r>
            <a:endParaRPr b="0" lang="en-US" sz="1000" spc="-1" strike="noStrike">
              <a:solidFill>
                <a:srgbClr val="000000"/>
              </a:solidFill>
              <a:latin typeface="Arial"/>
            </a:endParaRPr>
          </a:p>
        </p:txBody>
      </p:sp>
      <p:sp>
        <p:nvSpPr>
          <p:cNvPr id="232" name=""/>
          <p:cNvSpPr/>
          <p:nvPr/>
        </p:nvSpPr>
        <p:spPr>
          <a:xfrm>
            <a:off x="3204000" y="2682000"/>
            <a:ext cx="0" cy="126000"/>
          </a:xfrm>
          <a:prstGeom prst="line">
            <a:avLst/>
          </a:prstGeom>
          <a:ln w="16200">
            <a:solidFill>
              <a:srgbClr val="315e8a"/>
            </a:solidFill>
            <a:round/>
          </a:ln>
        </p:spPr>
        <p:style>
          <a:lnRef idx="0"/>
          <a:fillRef idx="0"/>
          <a:effectRef idx="0"/>
          <a:fontRef idx="minor"/>
        </p:style>
        <p:txBody>
          <a:bodyPr lIns="97920" rIns="97920" tIns="52920" bIns="52920" anchor="ctr" anchorCtr="1">
            <a:noAutofit/>
          </a:bodyPr>
          <a:p>
            <a:endParaRPr b="0" lang="en-US" sz="1800" spc="-1" strike="noStrike">
              <a:solidFill>
                <a:srgbClr val="000000"/>
              </a:solidFill>
              <a:latin typeface="Arial"/>
            </a:endParaRPr>
          </a:p>
        </p:txBody>
      </p:sp>
      <p:sp>
        <p:nvSpPr>
          <p:cNvPr id="233" name=""/>
          <p:cNvSpPr/>
          <p:nvPr/>
        </p:nvSpPr>
        <p:spPr>
          <a:xfrm>
            <a:off x="1080000" y="2808000"/>
            <a:ext cx="4248000" cy="468000"/>
          </a:xfrm>
          <a:prstGeom prst="rect">
            <a:avLst/>
          </a:prstGeom>
          <a:solidFill>
            <a:srgbClr val="ffffff"/>
          </a:solidFill>
          <a:ln w="7920">
            <a:solidFill>
              <a:srgbClr val="d8d0c0"/>
            </a:solidFill>
            <a:round/>
          </a:ln>
        </p:spPr>
        <p:txBody>
          <a:bodyPr lIns="93960" rIns="93960" tIns="48960" bIns="48960" anchor="ctr" anchorCtr="1">
            <a:noAutofit/>
          </a:bodyPr>
          <a:p>
            <a:endParaRPr b="0" lang="en-US" sz="1800" spc="-1" strike="noStrike">
              <a:solidFill>
                <a:srgbClr val="000000"/>
              </a:solidFill>
              <a:latin typeface="Arial"/>
            </a:endParaRPr>
          </a:p>
        </p:txBody>
      </p:sp>
      <p:sp>
        <p:nvSpPr>
          <p:cNvPr id="234" name=""/>
          <p:cNvSpPr/>
          <p:nvPr/>
        </p:nvSpPr>
        <p:spPr>
          <a:xfrm>
            <a:off x="1198800" y="2930400"/>
            <a:ext cx="223200" cy="223200"/>
          </a:xfrm>
          <a:prstGeom prst="ellipse">
            <a:avLst/>
          </a:prstGeom>
          <a:solidFill>
            <a:srgbClr val="c76946"/>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35" name=""/>
          <p:cNvSpPr txBox="1"/>
          <p:nvPr/>
        </p:nvSpPr>
        <p:spPr>
          <a:xfrm>
            <a:off x="1483200" y="2901600"/>
            <a:ext cx="3758400" cy="423720"/>
          </a:xfrm>
          <a:prstGeom prst="rect">
            <a:avLst/>
          </a:prstGeom>
          <a:noFill/>
          <a:ln w="0">
            <a:noFill/>
          </a:ln>
        </p:spPr>
        <p:txBody>
          <a:bodyPr lIns="43200" rIns="43200" tIns="43200" bIns="43200" anchor="t">
            <a:noAutofit/>
          </a:bodyPr>
          <a:p>
            <a:r>
              <a:rPr b="1" lang="en-US" sz="1500" spc="-1" strike="noStrike">
                <a:solidFill>
                  <a:srgbClr val="111917"/>
                </a:solidFill>
                <a:latin typeface="Arial"/>
              </a:rPr>
              <a:t>Nav2 lifecycle</a:t>
            </a:r>
            <a:endParaRPr b="0" lang="en-US" sz="1500" spc="-1" strike="noStrike">
              <a:solidFill>
                <a:srgbClr val="000000"/>
              </a:solidFill>
              <a:latin typeface="Arial"/>
            </a:endParaRPr>
          </a:p>
        </p:txBody>
      </p:sp>
      <p:sp>
        <p:nvSpPr>
          <p:cNvPr id="236" name=""/>
          <p:cNvSpPr txBox="1"/>
          <p:nvPr/>
        </p:nvSpPr>
        <p:spPr>
          <a:xfrm>
            <a:off x="1483200" y="3067200"/>
            <a:ext cx="3758400" cy="423720"/>
          </a:xfrm>
          <a:prstGeom prst="rect">
            <a:avLst/>
          </a:prstGeom>
          <a:noFill/>
          <a:ln w="0">
            <a:noFill/>
          </a:ln>
        </p:spPr>
        <p:txBody>
          <a:bodyPr lIns="43200" rIns="43200" tIns="43200" bIns="43200" anchor="t">
            <a:noAutofit/>
          </a:bodyPr>
          <a:p>
            <a:r>
              <a:rPr b="0" lang="en-US" sz="1000" spc="-1" strike="noStrike">
                <a:solidFill>
                  <a:srgbClr val="626c68"/>
                </a:solidFill>
                <a:latin typeface="Arial"/>
              </a:rPr>
              <a:t>active planner/controller/BT</a:t>
            </a:r>
            <a:endParaRPr b="0" lang="en-US" sz="1000" spc="-1" strike="noStrike">
              <a:solidFill>
                <a:srgbClr val="000000"/>
              </a:solidFill>
              <a:latin typeface="Arial"/>
            </a:endParaRPr>
          </a:p>
        </p:txBody>
      </p:sp>
      <p:sp>
        <p:nvSpPr>
          <p:cNvPr id="237" name=""/>
          <p:cNvSpPr/>
          <p:nvPr/>
        </p:nvSpPr>
        <p:spPr>
          <a:xfrm>
            <a:off x="3204000" y="3276000"/>
            <a:ext cx="0" cy="126000"/>
          </a:xfrm>
          <a:prstGeom prst="line">
            <a:avLst/>
          </a:prstGeom>
          <a:ln w="16200">
            <a:solidFill>
              <a:srgbClr val="c76946"/>
            </a:solidFill>
            <a:round/>
          </a:ln>
        </p:spPr>
        <p:style>
          <a:lnRef idx="0"/>
          <a:fillRef idx="0"/>
          <a:effectRef idx="0"/>
          <a:fontRef idx="minor"/>
        </p:style>
        <p:txBody>
          <a:bodyPr lIns="97920" rIns="97920" tIns="52920" bIns="52920" anchor="ctr" anchorCtr="1">
            <a:noAutofit/>
          </a:bodyPr>
          <a:p>
            <a:endParaRPr b="0" lang="en-US" sz="1800" spc="-1" strike="noStrike">
              <a:solidFill>
                <a:srgbClr val="000000"/>
              </a:solidFill>
              <a:latin typeface="Arial"/>
            </a:endParaRPr>
          </a:p>
        </p:txBody>
      </p:sp>
      <p:sp>
        <p:nvSpPr>
          <p:cNvPr id="238" name=""/>
          <p:cNvSpPr/>
          <p:nvPr/>
        </p:nvSpPr>
        <p:spPr>
          <a:xfrm>
            <a:off x="1080000" y="3402000"/>
            <a:ext cx="4248000" cy="468000"/>
          </a:xfrm>
          <a:prstGeom prst="rect">
            <a:avLst/>
          </a:prstGeom>
          <a:solidFill>
            <a:srgbClr val="ffffff"/>
          </a:solidFill>
          <a:ln w="7920">
            <a:solidFill>
              <a:srgbClr val="d8d0c0"/>
            </a:solidFill>
            <a:round/>
          </a:ln>
        </p:spPr>
        <p:txBody>
          <a:bodyPr lIns="93960" rIns="93960" tIns="48960" bIns="48960" anchor="ctr" anchorCtr="1">
            <a:noAutofit/>
          </a:bodyPr>
          <a:p>
            <a:endParaRPr b="0" lang="en-US" sz="1800" spc="-1" strike="noStrike">
              <a:solidFill>
                <a:srgbClr val="000000"/>
              </a:solidFill>
              <a:latin typeface="Arial"/>
            </a:endParaRPr>
          </a:p>
        </p:txBody>
      </p:sp>
      <p:sp>
        <p:nvSpPr>
          <p:cNvPr id="239" name=""/>
          <p:cNvSpPr/>
          <p:nvPr/>
        </p:nvSpPr>
        <p:spPr>
          <a:xfrm>
            <a:off x="1198800" y="3524400"/>
            <a:ext cx="223200" cy="223200"/>
          </a:xfrm>
          <a:prstGeom prst="ellipse">
            <a:avLst/>
          </a:prstGeom>
          <a:solidFill>
            <a:srgbClr val="0f6b5d"/>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40" name=""/>
          <p:cNvSpPr txBox="1"/>
          <p:nvPr/>
        </p:nvSpPr>
        <p:spPr>
          <a:xfrm>
            <a:off x="1483200" y="3495600"/>
            <a:ext cx="3758400" cy="423720"/>
          </a:xfrm>
          <a:prstGeom prst="rect">
            <a:avLst/>
          </a:prstGeom>
          <a:noFill/>
          <a:ln w="0">
            <a:noFill/>
          </a:ln>
        </p:spPr>
        <p:txBody>
          <a:bodyPr lIns="43200" rIns="43200" tIns="43200" bIns="43200" anchor="t">
            <a:noAutofit/>
          </a:bodyPr>
          <a:p>
            <a:r>
              <a:rPr b="1" lang="en-US" sz="1500" spc="-1" strike="noStrike">
                <a:solidFill>
                  <a:srgbClr val="111917"/>
                </a:solidFill>
                <a:latin typeface="Arial"/>
              </a:rPr>
              <a:t>Motion safety</a:t>
            </a:r>
            <a:endParaRPr b="0" lang="en-US" sz="1500" spc="-1" strike="noStrike">
              <a:solidFill>
                <a:srgbClr val="000000"/>
              </a:solidFill>
              <a:latin typeface="Arial"/>
            </a:endParaRPr>
          </a:p>
        </p:txBody>
      </p:sp>
      <p:sp>
        <p:nvSpPr>
          <p:cNvPr id="241" name=""/>
          <p:cNvSpPr txBox="1"/>
          <p:nvPr/>
        </p:nvSpPr>
        <p:spPr>
          <a:xfrm>
            <a:off x="1483200" y="3661200"/>
            <a:ext cx="3758400" cy="423720"/>
          </a:xfrm>
          <a:prstGeom prst="rect">
            <a:avLst/>
          </a:prstGeom>
          <a:noFill/>
          <a:ln w="0">
            <a:noFill/>
          </a:ln>
        </p:spPr>
        <p:txBody>
          <a:bodyPr lIns="43200" rIns="43200" tIns="43200" bIns="43200" anchor="t">
            <a:noAutofit/>
          </a:bodyPr>
          <a:p>
            <a:r>
              <a:rPr b="0" lang="en-US" sz="1000" spc="-1" strike="noStrike">
                <a:solidFill>
                  <a:srgbClr val="626c68"/>
                </a:solidFill>
                <a:latin typeface="Arial"/>
              </a:rPr>
              <a:t>unarmed until explicit test</a:t>
            </a:r>
            <a:endParaRPr b="0" lang="en-US" sz="1000" spc="-1" strike="noStrike">
              <a:solidFill>
                <a:srgbClr val="000000"/>
              </a:solidFill>
              <a:latin typeface="Arial"/>
            </a:endParaRPr>
          </a:p>
        </p:txBody>
      </p:sp>
      <p:sp>
        <p:nvSpPr>
          <p:cNvPr id="242" name=""/>
          <p:cNvSpPr/>
          <p:nvPr/>
        </p:nvSpPr>
        <p:spPr>
          <a:xfrm>
            <a:off x="3204000" y="3870000"/>
            <a:ext cx="0" cy="126000"/>
          </a:xfrm>
          <a:prstGeom prst="line">
            <a:avLst/>
          </a:prstGeom>
          <a:ln w="16200">
            <a:solidFill>
              <a:srgbClr val="0f6b5d"/>
            </a:solidFill>
            <a:round/>
          </a:ln>
        </p:spPr>
        <p:style>
          <a:lnRef idx="0"/>
          <a:fillRef idx="0"/>
          <a:effectRef idx="0"/>
          <a:fontRef idx="minor"/>
        </p:style>
        <p:txBody>
          <a:bodyPr lIns="97920" rIns="97920" tIns="52920" bIns="52920" anchor="ctr" anchorCtr="1">
            <a:noAutofit/>
          </a:bodyPr>
          <a:p>
            <a:endParaRPr b="0" lang="en-US" sz="1800" spc="-1" strike="noStrike">
              <a:solidFill>
                <a:srgbClr val="000000"/>
              </a:solidFill>
              <a:latin typeface="Arial"/>
            </a:endParaRPr>
          </a:p>
        </p:txBody>
      </p:sp>
      <p:sp>
        <p:nvSpPr>
          <p:cNvPr id="243" name=""/>
          <p:cNvSpPr/>
          <p:nvPr/>
        </p:nvSpPr>
        <p:spPr>
          <a:xfrm>
            <a:off x="1080000" y="3996000"/>
            <a:ext cx="4248000" cy="468000"/>
          </a:xfrm>
          <a:prstGeom prst="rect">
            <a:avLst/>
          </a:prstGeom>
          <a:solidFill>
            <a:srgbClr val="ffffff"/>
          </a:solidFill>
          <a:ln w="7920">
            <a:solidFill>
              <a:srgbClr val="d8d0c0"/>
            </a:solidFill>
            <a:round/>
          </a:ln>
        </p:spPr>
        <p:txBody>
          <a:bodyPr lIns="93960" rIns="93960" tIns="48960" bIns="48960" anchor="ctr" anchorCtr="1">
            <a:noAutofit/>
          </a:bodyPr>
          <a:p>
            <a:endParaRPr b="0" lang="en-US" sz="1800" spc="-1" strike="noStrike">
              <a:solidFill>
                <a:srgbClr val="000000"/>
              </a:solidFill>
              <a:latin typeface="Arial"/>
            </a:endParaRPr>
          </a:p>
        </p:txBody>
      </p:sp>
      <p:sp>
        <p:nvSpPr>
          <p:cNvPr id="244" name=""/>
          <p:cNvSpPr/>
          <p:nvPr/>
        </p:nvSpPr>
        <p:spPr>
          <a:xfrm>
            <a:off x="1198800" y="4118400"/>
            <a:ext cx="223200" cy="223200"/>
          </a:xfrm>
          <a:prstGeom prst="ellipse">
            <a:avLst/>
          </a:prstGeom>
          <a:solidFill>
            <a:srgbClr val="315e8a"/>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45" name=""/>
          <p:cNvSpPr txBox="1"/>
          <p:nvPr/>
        </p:nvSpPr>
        <p:spPr>
          <a:xfrm>
            <a:off x="1483200" y="4089600"/>
            <a:ext cx="3758400" cy="423720"/>
          </a:xfrm>
          <a:prstGeom prst="rect">
            <a:avLst/>
          </a:prstGeom>
          <a:noFill/>
          <a:ln w="0">
            <a:noFill/>
          </a:ln>
        </p:spPr>
        <p:txBody>
          <a:bodyPr lIns="43200" rIns="43200" tIns="43200" bIns="43200" anchor="t">
            <a:noAutofit/>
          </a:bodyPr>
          <a:p>
            <a:r>
              <a:rPr b="1" lang="en-US" sz="1500" spc="-1" strike="noStrike">
                <a:solidFill>
                  <a:srgbClr val="111917"/>
                </a:solidFill>
                <a:latin typeface="Arial"/>
              </a:rPr>
              <a:t>Semantic route</a:t>
            </a:r>
            <a:endParaRPr b="0" lang="en-US" sz="1500" spc="-1" strike="noStrike">
              <a:solidFill>
                <a:srgbClr val="000000"/>
              </a:solidFill>
              <a:latin typeface="Arial"/>
            </a:endParaRPr>
          </a:p>
        </p:txBody>
      </p:sp>
      <p:sp>
        <p:nvSpPr>
          <p:cNvPr id="246" name=""/>
          <p:cNvSpPr txBox="1"/>
          <p:nvPr/>
        </p:nvSpPr>
        <p:spPr>
          <a:xfrm>
            <a:off x="1483200" y="4255200"/>
            <a:ext cx="3758400" cy="423720"/>
          </a:xfrm>
          <a:prstGeom prst="rect">
            <a:avLst/>
          </a:prstGeom>
          <a:noFill/>
          <a:ln w="0">
            <a:noFill/>
          </a:ln>
        </p:spPr>
        <p:txBody>
          <a:bodyPr lIns="43200" rIns="43200" tIns="43200" bIns="43200" anchor="t">
            <a:noAutofit/>
          </a:bodyPr>
          <a:p>
            <a:r>
              <a:rPr b="0" lang="en-US" sz="1000" spc="-1" strike="noStrike">
                <a:solidFill>
                  <a:srgbClr val="626c68"/>
                </a:solidFill>
                <a:latin typeface="Arial"/>
              </a:rPr>
              <a:t>memory publishes /semantic_map/state</a:t>
            </a:r>
            <a:endParaRPr b="0" lang="en-US" sz="1000" spc="-1" strike="noStrike">
              <a:solidFill>
                <a:srgbClr val="000000"/>
              </a:solidFill>
              <a:latin typeface="Arial"/>
            </a:endParaRPr>
          </a:p>
        </p:txBody>
      </p:sp>
      <p:sp>
        <p:nvSpPr>
          <p:cNvPr id="247" name=""/>
          <p:cNvSpPr/>
          <p:nvPr/>
        </p:nvSpPr>
        <p:spPr>
          <a:xfrm>
            <a:off x="6660000" y="1908000"/>
            <a:ext cx="4068000" cy="2448000"/>
          </a:xfrm>
          <a:prstGeom prst="rect">
            <a:avLst/>
          </a:prstGeom>
          <a:solidFill>
            <a:srgbClr val="ffffff"/>
          </a:solidFill>
          <a:ln w="7920">
            <a:solidFill>
              <a:srgbClr val="d8d0c0"/>
            </a:solidFill>
            <a:round/>
          </a:ln>
        </p:spPr>
        <p:txBody>
          <a:bodyPr lIns="93960" rIns="93960" tIns="48960" bIns="48960" anchor="ctr" anchorCtr="1">
            <a:noAutofit/>
          </a:bodyPr>
          <a:p>
            <a:endParaRPr b="0" lang="en-US" sz="1800" spc="-1" strike="noStrike">
              <a:solidFill>
                <a:srgbClr val="000000"/>
              </a:solidFill>
              <a:latin typeface="Arial"/>
            </a:endParaRPr>
          </a:p>
        </p:txBody>
      </p:sp>
      <p:sp>
        <p:nvSpPr>
          <p:cNvPr id="248" name=""/>
          <p:cNvSpPr txBox="1"/>
          <p:nvPr/>
        </p:nvSpPr>
        <p:spPr>
          <a:xfrm>
            <a:off x="6912000" y="2196000"/>
            <a:ext cx="3492000" cy="423720"/>
          </a:xfrm>
          <a:prstGeom prst="rect">
            <a:avLst/>
          </a:prstGeom>
          <a:noFill/>
          <a:ln w="0">
            <a:noFill/>
          </a:ln>
        </p:spPr>
        <p:txBody>
          <a:bodyPr lIns="43200" rIns="43200" tIns="43200" bIns="43200" anchor="t">
            <a:noAutofit/>
          </a:bodyPr>
          <a:p>
            <a:r>
              <a:rPr b="1" lang="en-US" sz="2000" spc="-1" strike="noStrike">
                <a:solidFill>
                  <a:srgbClr val="0f6b5d"/>
                </a:solidFill>
                <a:latin typeface="Arial"/>
              </a:rPr>
              <a:t>Important real-world fix</a:t>
            </a:r>
            <a:endParaRPr b="0" lang="en-US" sz="2000" spc="-1" strike="noStrike">
              <a:solidFill>
                <a:srgbClr val="000000"/>
              </a:solidFill>
              <a:latin typeface="Arial"/>
            </a:endParaRPr>
          </a:p>
        </p:txBody>
      </p:sp>
      <p:sp>
        <p:nvSpPr>
          <p:cNvPr id="249" name=""/>
          <p:cNvSpPr txBox="1"/>
          <p:nvPr/>
        </p:nvSpPr>
        <p:spPr>
          <a:xfrm>
            <a:off x="6912000" y="2646000"/>
            <a:ext cx="3456000" cy="1666800"/>
          </a:xfrm>
          <a:prstGeom prst="rect">
            <a:avLst/>
          </a:prstGeom>
          <a:noFill/>
          <a:ln w="0">
            <a:noFill/>
          </a:ln>
        </p:spPr>
        <p:txBody>
          <a:bodyPr lIns="43200" rIns="43200" tIns="43200" bIns="43200" anchor="t">
            <a:noAutofit/>
          </a:bodyPr>
          <a:p>
            <a:r>
              <a:rPr b="0" lang="en-US" sz="1600" spc="-1" strike="noStrike">
                <a:solidFill>
                  <a:srgbClr val="111917"/>
                </a:solidFill>
                <a:latin typeface="Arial"/>
              </a:rPr>
              <a:t>When the detected table/bench was just outside the current SLAM map bounds, the old memory path dropped it. The new path keeps it as a real LiDAR-grounded provisional landmark until map validation catches up.</a:t>
            </a:r>
            <a:endParaRPr b="0" lang="en-US" sz="1600" spc="-1" strike="noStrike">
              <a:solidFill>
                <a:srgbClr val="000000"/>
              </a:solidFill>
              <a:latin typeface="Arial"/>
            </a:endParaRPr>
          </a:p>
        </p:txBody>
      </p:sp>
      <p:sp>
        <p:nvSpPr>
          <p:cNvPr id="250" name=""/>
          <p:cNvSpPr/>
          <p:nvPr/>
        </p:nvSpPr>
        <p:spPr>
          <a:xfrm>
            <a:off x="540000" y="6433200"/>
            <a:ext cx="11088000" cy="0"/>
          </a:xfrm>
          <a:prstGeom prst="line">
            <a:avLst/>
          </a:prstGeom>
          <a:ln w="7200">
            <a:solidFill>
              <a:srgbClr val="d8d0c0"/>
            </a:solidFill>
            <a:round/>
          </a:ln>
        </p:spPr>
        <p:style>
          <a:lnRef idx="0"/>
          <a:fillRef idx="0"/>
          <a:effectRef idx="0"/>
          <a:fontRef idx="minor"/>
        </p:style>
        <p:txBody>
          <a:bodyPr lIns="93600" rIns="93600" tIns="-48600" bIns="-48600" anchor="ctr" anchorCtr="1">
            <a:noAutofit/>
          </a:bodyPr>
          <a:p>
            <a:endParaRPr b="0" lang="en-US" sz="1800" spc="-1" strike="noStrike">
              <a:solidFill>
                <a:srgbClr val="000000"/>
              </a:solidFill>
              <a:latin typeface="Arial"/>
            </a:endParaRPr>
          </a:p>
        </p:txBody>
      </p:sp>
      <p:sp>
        <p:nvSpPr>
          <p:cNvPr id="251" name=""/>
          <p:cNvSpPr txBox="1"/>
          <p:nvPr/>
        </p:nvSpPr>
        <p:spPr>
          <a:xfrm>
            <a:off x="540000" y="6451200"/>
            <a:ext cx="3240000" cy="423720"/>
          </a:xfrm>
          <a:prstGeom prst="rect">
            <a:avLst/>
          </a:prstGeom>
          <a:noFill/>
          <a:ln w="0">
            <a:noFill/>
          </a:ln>
        </p:spPr>
        <p:txBody>
          <a:bodyPr lIns="43200" rIns="43200" tIns="43200" bIns="43200" anchor="t">
            <a:noAutofit/>
          </a:bodyPr>
          <a:p>
            <a:r>
              <a:rPr b="0" lang="en-US" sz="800" spc="-1" strike="noStrike">
                <a:solidFill>
                  <a:srgbClr val="626c68"/>
                </a:solidFill>
                <a:latin typeface="Arial"/>
              </a:rPr>
              <a:t>semantic-nav architecture</a:t>
            </a:r>
            <a:endParaRPr b="0" lang="en-US" sz="800" spc="-1" strike="noStrike">
              <a:solidFill>
                <a:srgbClr val="000000"/>
              </a:solidFill>
              <a:latin typeface="Arial"/>
            </a:endParaRPr>
          </a:p>
        </p:txBody>
      </p:sp>
      <p:sp>
        <p:nvSpPr>
          <p:cNvPr id="252" name=""/>
          <p:cNvSpPr txBox="1"/>
          <p:nvPr/>
        </p:nvSpPr>
        <p:spPr>
          <a:xfrm>
            <a:off x="11142000" y="6451200"/>
            <a:ext cx="360000" cy="423720"/>
          </a:xfrm>
          <a:prstGeom prst="rect">
            <a:avLst/>
          </a:prstGeom>
          <a:noFill/>
          <a:ln w="0">
            <a:noFill/>
          </a:ln>
        </p:spPr>
        <p:txBody>
          <a:bodyPr lIns="43200" rIns="43200" tIns="43200" bIns="43200" anchor="t">
            <a:noAutofit/>
          </a:bodyPr>
          <a:p>
            <a:r>
              <a:rPr b="0" lang="en-US" sz="800" spc="-1" strike="noStrike">
                <a:solidFill>
                  <a:srgbClr val="626c68"/>
                </a:solidFill>
                <a:latin typeface="Arial"/>
              </a:rPr>
              <a:t>08</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
          <p:cNvSpPr/>
          <p:nvPr/>
        </p:nvSpPr>
        <p:spPr>
          <a:xfrm>
            <a:off x="0" y="0"/>
            <a:ext cx="12192120" cy="6858000"/>
          </a:xfrm>
          <a:prstGeom prst="rect">
            <a:avLst/>
          </a:prstGeom>
          <a:solidFill>
            <a:srgbClr val="f6f1e8"/>
          </a:solidFill>
          <a:ln w="0">
            <a:noFill/>
          </a:ln>
        </p:spPr>
        <p:txBody>
          <a:bodyPr lIns="90000" rIns="90000" tIns="45000" bIns="45000" anchor="ctr" anchorCtr="1">
            <a:noAutofit/>
          </a:bodyPr>
          <a:p>
            <a:endParaRPr b="0" lang="en-US" sz="1800" spc="-1" strike="noStrike">
              <a:solidFill>
                <a:srgbClr val="000000"/>
              </a:solidFill>
              <a:latin typeface="Arial"/>
            </a:endParaRPr>
          </a:p>
        </p:txBody>
      </p:sp>
      <p:sp>
        <p:nvSpPr>
          <p:cNvPr id="254" name=""/>
          <p:cNvSpPr txBox="1"/>
          <p:nvPr/>
        </p:nvSpPr>
        <p:spPr>
          <a:xfrm>
            <a:off x="540000" y="306000"/>
            <a:ext cx="3240000" cy="423720"/>
          </a:xfrm>
          <a:prstGeom prst="rect">
            <a:avLst/>
          </a:prstGeom>
          <a:noFill/>
          <a:ln w="0">
            <a:noFill/>
          </a:ln>
        </p:spPr>
        <p:txBody>
          <a:bodyPr lIns="43200" rIns="43200" tIns="43200" bIns="43200" anchor="t">
            <a:noAutofit/>
          </a:bodyPr>
          <a:p>
            <a:r>
              <a:rPr b="1" lang="en-US" sz="1000" spc="-1" strike="noStrike">
                <a:solidFill>
                  <a:srgbClr val="0f6b5d"/>
                </a:solidFill>
                <a:latin typeface="Arial"/>
              </a:rPr>
              <a:t>SEMANTIC NAVIGATION</a:t>
            </a:r>
            <a:endParaRPr b="0" lang="en-US" sz="1000" spc="-1" strike="noStrike">
              <a:solidFill>
                <a:srgbClr val="000000"/>
              </a:solidFill>
              <a:latin typeface="Arial"/>
            </a:endParaRPr>
          </a:p>
        </p:txBody>
      </p:sp>
      <p:sp>
        <p:nvSpPr>
          <p:cNvPr id="255" name=""/>
          <p:cNvSpPr txBox="1"/>
          <p:nvPr/>
        </p:nvSpPr>
        <p:spPr>
          <a:xfrm>
            <a:off x="540000" y="540000"/>
            <a:ext cx="7560000" cy="542520"/>
          </a:xfrm>
          <a:prstGeom prst="rect">
            <a:avLst/>
          </a:prstGeom>
          <a:noFill/>
          <a:ln w="0">
            <a:noFill/>
          </a:ln>
        </p:spPr>
        <p:txBody>
          <a:bodyPr lIns="43200" rIns="43200" tIns="43200" bIns="43200" anchor="t">
            <a:noAutofit/>
          </a:bodyPr>
          <a:p>
            <a:r>
              <a:rPr b="1" lang="en-US" sz="3200" spc="-1" strike="noStrike">
                <a:solidFill>
                  <a:srgbClr val="111917"/>
                </a:solidFill>
                <a:latin typeface="Arial"/>
              </a:rPr>
              <a:t>What changed here</a:t>
            </a:r>
            <a:endParaRPr b="0" lang="en-US" sz="3200" spc="-1" strike="noStrike">
              <a:solidFill>
                <a:srgbClr val="000000"/>
              </a:solidFill>
              <a:latin typeface="Arial"/>
            </a:endParaRPr>
          </a:p>
        </p:txBody>
      </p:sp>
      <p:sp>
        <p:nvSpPr>
          <p:cNvPr id="256" name=""/>
          <p:cNvSpPr txBox="1"/>
          <p:nvPr/>
        </p:nvSpPr>
        <p:spPr>
          <a:xfrm>
            <a:off x="547200" y="1051200"/>
            <a:ext cx="6660000" cy="510120"/>
          </a:xfrm>
          <a:prstGeom prst="rect">
            <a:avLst/>
          </a:prstGeom>
          <a:noFill/>
          <a:ln w="0">
            <a:noFill/>
          </a:ln>
        </p:spPr>
        <p:txBody>
          <a:bodyPr lIns="43200" rIns="43200" tIns="43200" bIns="43200" anchor="t">
            <a:noAutofit/>
          </a:bodyPr>
          <a:p>
            <a:r>
              <a:rPr b="0" lang="en-US" sz="1500" spc="-1" strike="noStrike">
                <a:solidFill>
                  <a:srgbClr val="626c68"/>
                </a:solidFill>
                <a:latin typeface="Arial"/>
              </a:rPr>
              <a:t>The implementation is now organized around real full-stack runs, not demos or fake artifacts.</a:t>
            </a:r>
            <a:endParaRPr b="0" lang="en-US" sz="1500" spc="-1" strike="noStrike">
              <a:solidFill>
                <a:srgbClr val="000000"/>
              </a:solidFill>
              <a:latin typeface="Arial"/>
            </a:endParaRPr>
          </a:p>
        </p:txBody>
      </p:sp>
      <p:sp>
        <p:nvSpPr>
          <p:cNvPr id="257" name=""/>
          <p:cNvSpPr/>
          <p:nvPr/>
        </p:nvSpPr>
        <p:spPr>
          <a:xfrm>
            <a:off x="756000" y="1872000"/>
            <a:ext cx="4968000" cy="1260000"/>
          </a:xfrm>
          <a:prstGeom prst="rect">
            <a:avLst/>
          </a:prstGeom>
          <a:solidFill>
            <a:srgbClr val="ffffff"/>
          </a:solidFill>
          <a:ln w="7920">
            <a:solidFill>
              <a:srgbClr val="d8d0c0"/>
            </a:solidFill>
            <a:round/>
          </a:ln>
        </p:spPr>
        <p:txBody>
          <a:bodyPr lIns="93960" rIns="93960" tIns="48960" bIns="48960" anchor="ctr" anchorCtr="1">
            <a:noAutofit/>
          </a:bodyPr>
          <a:p>
            <a:endParaRPr b="0" lang="en-US" sz="1800" spc="-1" strike="noStrike">
              <a:solidFill>
                <a:srgbClr val="000000"/>
              </a:solidFill>
              <a:latin typeface="Arial"/>
            </a:endParaRPr>
          </a:p>
        </p:txBody>
      </p:sp>
      <p:sp>
        <p:nvSpPr>
          <p:cNvPr id="258" name=""/>
          <p:cNvSpPr/>
          <p:nvPr/>
        </p:nvSpPr>
        <p:spPr>
          <a:xfrm>
            <a:off x="756000" y="1872000"/>
            <a:ext cx="93600" cy="1260000"/>
          </a:xfrm>
          <a:prstGeom prst="rect">
            <a:avLst/>
          </a:prstGeom>
          <a:solidFill>
            <a:srgbClr val="0f6b5d"/>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59" name=""/>
          <p:cNvSpPr txBox="1"/>
          <p:nvPr/>
        </p:nvSpPr>
        <p:spPr>
          <a:xfrm>
            <a:off x="925200" y="1980000"/>
            <a:ext cx="4716000" cy="423720"/>
          </a:xfrm>
          <a:prstGeom prst="rect">
            <a:avLst/>
          </a:prstGeom>
          <a:noFill/>
          <a:ln w="0">
            <a:noFill/>
          </a:ln>
        </p:spPr>
        <p:txBody>
          <a:bodyPr lIns="43200" rIns="43200" tIns="43200" bIns="43200" anchor="t">
            <a:noAutofit/>
          </a:bodyPr>
          <a:p>
            <a:r>
              <a:rPr b="1" lang="en-US" sz="1600" spc="-1" strike="noStrike">
                <a:solidFill>
                  <a:srgbClr val="0f6b5d"/>
                </a:solidFill>
                <a:latin typeface="Arial"/>
              </a:rPr>
              <a:t>Removed mock artifacts</a:t>
            </a:r>
            <a:endParaRPr b="0" lang="en-US" sz="1600" spc="-1" strike="noStrike">
              <a:solidFill>
                <a:srgbClr val="000000"/>
              </a:solidFill>
              <a:latin typeface="Arial"/>
            </a:endParaRPr>
          </a:p>
        </p:txBody>
      </p:sp>
      <p:sp>
        <p:nvSpPr>
          <p:cNvPr id="260" name=""/>
          <p:cNvSpPr txBox="1"/>
          <p:nvPr/>
        </p:nvSpPr>
        <p:spPr>
          <a:xfrm>
            <a:off x="925200" y="2167200"/>
            <a:ext cx="4680000" cy="423720"/>
          </a:xfrm>
          <a:prstGeom prst="rect">
            <a:avLst/>
          </a:prstGeom>
          <a:noFill/>
          <a:ln w="0">
            <a:noFill/>
          </a:ln>
        </p:spPr>
        <p:txBody>
          <a:bodyPr lIns="43200" rIns="43200" tIns="43200" bIns="43200" anchor="t">
            <a:noAutofit/>
          </a:bodyPr>
          <a:p>
            <a:r>
              <a:rPr b="0" lang="en-US" sz="1100" spc="-1" strike="noStrike">
                <a:solidFill>
                  <a:srgbClr val="111917"/>
                </a:solidFill>
                <a:latin typeface="Arial"/>
              </a:rPr>
              <a:t>No fake COLMAP points, bootstrap people, or hardcoded semantic detections.</a:t>
            </a:r>
            <a:endParaRPr b="0" lang="en-US" sz="1100" spc="-1" strike="noStrike">
              <a:solidFill>
                <a:srgbClr val="000000"/>
              </a:solidFill>
              <a:latin typeface="Arial"/>
            </a:endParaRPr>
          </a:p>
        </p:txBody>
      </p:sp>
      <p:sp>
        <p:nvSpPr>
          <p:cNvPr id="261" name=""/>
          <p:cNvSpPr/>
          <p:nvPr/>
        </p:nvSpPr>
        <p:spPr>
          <a:xfrm>
            <a:off x="6372000" y="1872000"/>
            <a:ext cx="4968000" cy="1260000"/>
          </a:xfrm>
          <a:prstGeom prst="rect">
            <a:avLst/>
          </a:prstGeom>
          <a:solidFill>
            <a:srgbClr val="ffffff"/>
          </a:solidFill>
          <a:ln w="7920">
            <a:solidFill>
              <a:srgbClr val="d8d0c0"/>
            </a:solidFill>
            <a:round/>
          </a:ln>
        </p:spPr>
        <p:txBody>
          <a:bodyPr lIns="93960" rIns="93960" tIns="48960" bIns="48960" anchor="ctr" anchorCtr="1">
            <a:noAutofit/>
          </a:bodyPr>
          <a:p>
            <a:endParaRPr b="0" lang="en-US" sz="1800" spc="-1" strike="noStrike">
              <a:solidFill>
                <a:srgbClr val="000000"/>
              </a:solidFill>
              <a:latin typeface="Arial"/>
            </a:endParaRPr>
          </a:p>
        </p:txBody>
      </p:sp>
      <p:sp>
        <p:nvSpPr>
          <p:cNvPr id="262" name=""/>
          <p:cNvSpPr/>
          <p:nvPr/>
        </p:nvSpPr>
        <p:spPr>
          <a:xfrm>
            <a:off x="6372000" y="1872000"/>
            <a:ext cx="93600" cy="1260000"/>
          </a:xfrm>
          <a:prstGeom prst="rect">
            <a:avLst/>
          </a:prstGeom>
          <a:solidFill>
            <a:srgbClr val="315e8a"/>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63" name=""/>
          <p:cNvSpPr txBox="1"/>
          <p:nvPr/>
        </p:nvSpPr>
        <p:spPr>
          <a:xfrm>
            <a:off x="6541200" y="1980000"/>
            <a:ext cx="4716000" cy="423720"/>
          </a:xfrm>
          <a:prstGeom prst="rect">
            <a:avLst/>
          </a:prstGeom>
          <a:noFill/>
          <a:ln w="0">
            <a:noFill/>
          </a:ln>
        </p:spPr>
        <p:txBody>
          <a:bodyPr lIns="43200" rIns="43200" tIns="43200" bIns="43200" anchor="t">
            <a:noAutofit/>
          </a:bodyPr>
          <a:p>
            <a:r>
              <a:rPr b="1" lang="en-US" sz="1600" spc="-1" strike="noStrike">
                <a:solidFill>
                  <a:srgbClr val="315e8a"/>
                </a:solidFill>
                <a:latin typeface="Arial"/>
              </a:rPr>
              <a:t>Routed semantic state</a:t>
            </a:r>
            <a:endParaRPr b="0" lang="en-US" sz="1600" spc="-1" strike="noStrike">
              <a:solidFill>
                <a:srgbClr val="000000"/>
              </a:solidFill>
              <a:latin typeface="Arial"/>
            </a:endParaRPr>
          </a:p>
        </p:txBody>
      </p:sp>
      <p:sp>
        <p:nvSpPr>
          <p:cNvPr id="264" name=""/>
          <p:cNvSpPr txBox="1"/>
          <p:nvPr/>
        </p:nvSpPr>
        <p:spPr>
          <a:xfrm>
            <a:off x="6541200" y="2167200"/>
            <a:ext cx="4680000" cy="423720"/>
          </a:xfrm>
          <a:prstGeom prst="rect">
            <a:avLst/>
          </a:prstGeom>
          <a:noFill/>
          <a:ln w="0">
            <a:noFill/>
          </a:ln>
        </p:spPr>
        <p:txBody>
          <a:bodyPr lIns="43200" rIns="43200" tIns="43200" bIns="43200" anchor="t">
            <a:noAutofit/>
          </a:bodyPr>
          <a:p>
            <a:r>
              <a:rPr b="0" lang="en-US" sz="1100" spc="-1" strike="noStrike">
                <a:solidFill>
                  <a:srgbClr val="111917"/>
                </a:solidFill>
                <a:latin typeface="Arial"/>
              </a:rPr>
              <a:t>Persistent semantic memory now publishes the native SemanticMapState used by query.</a:t>
            </a:r>
            <a:endParaRPr b="0" lang="en-US" sz="1100" spc="-1" strike="noStrike">
              <a:solidFill>
                <a:srgbClr val="000000"/>
              </a:solidFill>
              <a:latin typeface="Arial"/>
            </a:endParaRPr>
          </a:p>
        </p:txBody>
      </p:sp>
      <p:sp>
        <p:nvSpPr>
          <p:cNvPr id="265" name=""/>
          <p:cNvSpPr/>
          <p:nvPr/>
        </p:nvSpPr>
        <p:spPr>
          <a:xfrm>
            <a:off x="756000" y="3564000"/>
            <a:ext cx="4968000" cy="1260000"/>
          </a:xfrm>
          <a:prstGeom prst="rect">
            <a:avLst/>
          </a:prstGeom>
          <a:solidFill>
            <a:srgbClr val="ffffff"/>
          </a:solidFill>
          <a:ln w="7920">
            <a:solidFill>
              <a:srgbClr val="d8d0c0"/>
            </a:solidFill>
            <a:round/>
          </a:ln>
        </p:spPr>
        <p:txBody>
          <a:bodyPr lIns="93960" rIns="93960" tIns="48960" bIns="48960" anchor="ctr" anchorCtr="1">
            <a:noAutofit/>
          </a:bodyPr>
          <a:p>
            <a:endParaRPr b="0" lang="en-US" sz="1800" spc="-1" strike="noStrike">
              <a:solidFill>
                <a:srgbClr val="000000"/>
              </a:solidFill>
              <a:latin typeface="Arial"/>
            </a:endParaRPr>
          </a:p>
        </p:txBody>
      </p:sp>
      <p:sp>
        <p:nvSpPr>
          <p:cNvPr id="266" name=""/>
          <p:cNvSpPr/>
          <p:nvPr/>
        </p:nvSpPr>
        <p:spPr>
          <a:xfrm>
            <a:off x="756000" y="3564000"/>
            <a:ext cx="93600" cy="1260000"/>
          </a:xfrm>
          <a:prstGeom prst="rect">
            <a:avLst/>
          </a:prstGeom>
          <a:solidFill>
            <a:srgbClr val="c76946"/>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67" name=""/>
          <p:cNvSpPr txBox="1"/>
          <p:nvPr/>
        </p:nvSpPr>
        <p:spPr>
          <a:xfrm>
            <a:off x="925200" y="3672000"/>
            <a:ext cx="4716000" cy="423720"/>
          </a:xfrm>
          <a:prstGeom prst="rect">
            <a:avLst/>
          </a:prstGeom>
          <a:noFill/>
          <a:ln w="0">
            <a:noFill/>
          </a:ln>
        </p:spPr>
        <p:txBody>
          <a:bodyPr lIns="43200" rIns="43200" tIns="43200" bIns="43200" anchor="t">
            <a:noAutofit/>
          </a:bodyPr>
          <a:p>
            <a:r>
              <a:rPr b="1" lang="en-US" sz="1600" spc="-1" strike="noStrike">
                <a:solidFill>
                  <a:srgbClr val="c76946"/>
                </a:solidFill>
                <a:latin typeface="Arial"/>
              </a:rPr>
              <a:t>Added provisional landmarks</a:t>
            </a:r>
            <a:endParaRPr b="0" lang="en-US" sz="1600" spc="-1" strike="noStrike">
              <a:solidFill>
                <a:srgbClr val="000000"/>
              </a:solidFill>
              <a:latin typeface="Arial"/>
            </a:endParaRPr>
          </a:p>
        </p:txBody>
      </p:sp>
      <p:sp>
        <p:nvSpPr>
          <p:cNvPr id="268" name=""/>
          <p:cNvSpPr txBox="1"/>
          <p:nvPr/>
        </p:nvSpPr>
        <p:spPr>
          <a:xfrm>
            <a:off x="925200" y="3859200"/>
            <a:ext cx="4680000" cy="423720"/>
          </a:xfrm>
          <a:prstGeom prst="rect">
            <a:avLst/>
          </a:prstGeom>
          <a:noFill/>
          <a:ln w="0">
            <a:noFill/>
          </a:ln>
        </p:spPr>
        <p:txBody>
          <a:bodyPr lIns="43200" rIns="43200" tIns="43200" bIns="43200" anchor="t">
            <a:noAutofit/>
          </a:bodyPr>
          <a:p>
            <a:r>
              <a:rPr b="0" lang="en-US" sz="1100" spc="-1" strike="noStrike">
                <a:solidFill>
                  <a:srgbClr val="111917"/>
                </a:solidFill>
                <a:latin typeface="Arial"/>
              </a:rPr>
              <a:t>Real LiDAR-grounded entities survive temporary occupancy-grid/map-bound gaps.</a:t>
            </a:r>
            <a:endParaRPr b="0" lang="en-US" sz="1100" spc="-1" strike="noStrike">
              <a:solidFill>
                <a:srgbClr val="000000"/>
              </a:solidFill>
              <a:latin typeface="Arial"/>
            </a:endParaRPr>
          </a:p>
        </p:txBody>
      </p:sp>
      <p:sp>
        <p:nvSpPr>
          <p:cNvPr id="269" name=""/>
          <p:cNvSpPr/>
          <p:nvPr/>
        </p:nvSpPr>
        <p:spPr>
          <a:xfrm>
            <a:off x="6372000" y="3564000"/>
            <a:ext cx="4968000" cy="1260000"/>
          </a:xfrm>
          <a:prstGeom prst="rect">
            <a:avLst/>
          </a:prstGeom>
          <a:solidFill>
            <a:srgbClr val="ffffff"/>
          </a:solidFill>
          <a:ln w="7920">
            <a:solidFill>
              <a:srgbClr val="d8d0c0"/>
            </a:solidFill>
            <a:round/>
          </a:ln>
        </p:spPr>
        <p:txBody>
          <a:bodyPr lIns="93960" rIns="93960" tIns="48960" bIns="48960" anchor="ctr" anchorCtr="1">
            <a:noAutofit/>
          </a:bodyPr>
          <a:p>
            <a:endParaRPr b="0" lang="en-US" sz="1800" spc="-1" strike="noStrike">
              <a:solidFill>
                <a:srgbClr val="000000"/>
              </a:solidFill>
              <a:latin typeface="Arial"/>
            </a:endParaRPr>
          </a:p>
        </p:txBody>
      </p:sp>
      <p:sp>
        <p:nvSpPr>
          <p:cNvPr id="270" name=""/>
          <p:cNvSpPr/>
          <p:nvPr/>
        </p:nvSpPr>
        <p:spPr>
          <a:xfrm>
            <a:off x="6372000" y="3564000"/>
            <a:ext cx="93600" cy="1260000"/>
          </a:xfrm>
          <a:prstGeom prst="rect">
            <a:avLst/>
          </a:prstGeom>
          <a:solidFill>
            <a:srgbClr val="0f6b5d"/>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71" name=""/>
          <p:cNvSpPr txBox="1"/>
          <p:nvPr/>
        </p:nvSpPr>
        <p:spPr>
          <a:xfrm>
            <a:off x="6541200" y="3672000"/>
            <a:ext cx="4716000" cy="423720"/>
          </a:xfrm>
          <a:prstGeom prst="rect">
            <a:avLst/>
          </a:prstGeom>
          <a:noFill/>
          <a:ln w="0">
            <a:noFill/>
          </a:ln>
        </p:spPr>
        <p:txBody>
          <a:bodyPr lIns="43200" rIns="43200" tIns="43200" bIns="43200" anchor="t">
            <a:noAutofit/>
          </a:bodyPr>
          <a:p>
            <a:r>
              <a:rPr b="1" lang="en-US" sz="1600" spc="-1" strike="noStrike">
                <a:solidFill>
                  <a:srgbClr val="0f6b5d"/>
                </a:solidFill>
                <a:latin typeface="Arial"/>
              </a:rPr>
              <a:t>Validated packages</a:t>
            </a:r>
            <a:endParaRPr b="0" lang="en-US" sz="1600" spc="-1" strike="noStrike">
              <a:solidFill>
                <a:srgbClr val="000000"/>
              </a:solidFill>
              <a:latin typeface="Arial"/>
            </a:endParaRPr>
          </a:p>
        </p:txBody>
      </p:sp>
      <p:sp>
        <p:nvSpPr>
          <p:cNvPr id="272" name=""/>
          <p:cNvSpPr txBox="1"/>
          <p:nvPr/>
        </p:nvSpPr>
        <p:spPr>
          <a:xfrm>
            <a:off x="6541200" y="3859200"/>
            <a:ext cx="4680000" cy="423720"/>
          </a:xfrm>
          <a:prstGeom prst="rect">
            <a:avLst/>
          </a:prstGeom>
          <a:noFill/>
          <a:ln w="0">
            <a:noFill/>
          </a:ln>
        </p:spPr>
        <p:txBody>
          <a:bodyPr lIns="43200" rIns="43200" tIns="43200" bIns="43200" anchor="t">
            <a:noAutofit/>
          </a:bodyPr>
          <a:p>
            <a:r>
              <a:rPr b="0" lang="en-US" sz="1100" spc="-1" strike="noStrike">
                <a:solidFill>
                  <a:srgbClr val="111917"/>
                </a:solidFill>
                <a:latin typeface="Arial"/>
              </a:rPr>
              <a:t>Coordinator and semantic-map packages build and test cleanly.</a:t>
            </a:r>
            <a:endParaRPr b="0" lang="en-US" sz="1100" spc="-1" strike="noStrike">
              <a:solidFill>
                <a:srgbClr val="000000"/>
              </a:solidFill>
              <a:latin typeface="Arial"/>
            </a:endParaRPr>
          </a:p>
        </p:txBody>
      </p:sp>
      <p:sp>
        <p:nvSpPr>
          <p:cNvPr id="273" name=""/>
          <p:cNvSpPr/>
          <p:nvPr/>
        </p:nvSpPr>
        <p:spPr>
          <a:xfrm>
            <a:off x="540000" y="6433200"/>
            <a:ext cx="11088000" cy="0"/>
          </a:xfrm>
          <a:prstGeom prst="line">
            <a:avLst/>
          </a:prstGeom>
          <a:ln w="7200">
            <a:solidFill>
              <a:srgbClr val="d8d0c0"/>
            </a:solidFill>
            <a:round/>
          </a:ln>
        </p:spPr>
        <p:style>
          <a:lnRef idx="0"/>
          <a:fillRef idx="0"/>
          <a:effectRef idx="0"/>
          <a:fontRef idx="minor"/>
        </p:style>
        <p:txBody>
          <a:bodyPr lIns="93600" rIns="93600" tIns="-48600" bIns="-48600" anchor="ctr" anchorCtr="1">
            <a:noAutofit/>
          </a:bodyPr>
          <a:p>
            <a:endParaRPr b="0" lang="en-US" sz="1800" spc="-1" strike="noStrike">
              <a:solidFill>
                <a:srgbClr val="000000"/>
              </a:solidFill>
              <a:latin typeface="Arial"/>
            </a:endParaRPr>
          </a:p>
        </p:txBody>
      </p:sp>
      <p:sp>
        <p:nvSpPr>
          <p:cNvPr id="274" name=""/>
          <p:cNvSpPr txBox="1"/>
          <p:nvPr/>
        </p:nvSpPr>
        <p:spPr>
          <a:xfrm>
            <a:off x="540000" y="6451200"/>
            <a:ext cx="3240000" cy="423720"/>
          </a:xfrm>
          <a:prstGeom prst="rect">
            <a:avLst/>
          </a:prstGeom>
          <a:noFill/>
          <a:ln w="0">
            <a:noFill/>
          </a:ln>
        </p:spPr>
        <p:txBody>
          <a:bodyPr lIns="43200" rIns="43200" tIns="43200" bIns="43200" anchor="t">
            <a:noAutofit/>
          </a:bodyPr>
          <a:p>
            <a:r>
              <a:rPr b="0" lang="en-US" sz="800" spc="-1" strike="noStrike">
                <a:solidFill>
                  <a:srgbClr val="626c68"/>
                </a:solidFill>
                <a:latin typeface="Arial"/>
              </a:rPr>
              <a:t>semantic-nav architecture</a:t>
            </a:r>
            <a:endParaRPr b="0" lang="en-US" sz="800" spc="-1" strike="noStrike">
              <a:solidFill>
                <a:srgbClr val="000000"/>
              </a:solidFill>
              <a:latin typeface="Arial"/>
            </a:endParaRPr>
          </a:p>
        </p:txBody>
      </p:sp>
      <p:sp>
        <p:nvSpPr>
          <p:cNvPr id="275" name=""/>
          <p:cNvSpPr txBox="1"/>
          <p:nvPr/>
        </p:nvSpPr>
        <p:spPr>
          <a:xfrm>
            <a:off x="11142000" y="6451200"/>
            <a:ext cx="360000" cy="423720"/>
          </a:xfrm>
          <a:prstGeom prst="rect">
            <a:avLst/>
          </a:prstGeom>
          <a:noFill/>
          <a:ln w="0">
            <a:noFill/>
          </a:ln>
        </p:spPr>
        <p:txBody>
          <a:bodyPr lIns="43200" rIns="43200" tIns="43200" bIns="43200" anchor="t">
            <a:noAutofit/>
          </a:bodyPr>
          <a:p>
            <a:r>
              <a:rPr b="0" lang="en-US" sz="800" spc="-1" strike="noStrike">
                <a:solidFill>
                  <a:srgbClr val="626c68"/>
                </a:solidFill>
                <a:latin typeface="Arial"/>
              </a:rPr>
              <a:t>09</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
          <p:cNvSpPr/>
          <p:nvPr/>
        </p:nvSpPr>
        <p:spPr>
          <a:xfrm>
            <a:off x="0" y="0"/>
            <a:ext cx="12192120" cy="6858000"/>
          </a:xfrm>
          <a:prstGeom prst="rect">
            <a:avLst/>
          </a:prstGeom>
          <a:solidFill>
            <a:srgbClr val="17211f"/>
          </a:solidFill>
          <a:ln w="0">
            <a:noFill/>
          </a:ln>
        </p:spPr>
        <p:txBody>
          <a:bodyPr lIns="90000" rIns="90000" tIns="45000" bIns="45000" anchor="ctr" anchorCtr="1">
            <a:noAutofit/>
          </a:bodyPr>
          <a:p>
            <a:endParaRPr b="0" lang="en-US" sz="1800" spc="-1" strike="noStrike">
              <a:solidFill>
                <a:srgbClr val="ffffff"/>
              </a:solidFill>
              <a:latin typeface="Arial"/>
            </a:endParaRPr>
          </a:p>
        </p:txBody>
      </p:sp>
      <p:sp>
        <p:nvSpPr>
          <p:cNvPr id="277" name=""/>
          <p:cNvSpPr txBox="1"/>
          <p:nvPr/>
        </p:nvSpPr>
        <p:spPr>
          <a:xfrm>
            <a:off x="540000" y="306000"/>
            <a:ext cx="3240000" cy="423720"/>
          </a:xfrm>
          <a:prstGeom prst="rect">
            <a:avLst/>
          </a:prstGeom>
          <a:noFill/>
          <a:ln w="0">
            <a:noFill/>
          </a:ln>
        </p:spPr>
        <p:txBody>
          <a:bodyPr lIns="43200" rIns="43200" tIns="43200" bIns="43200" anchor="t">
            <a:noAutofit/>
          </a:bodyPr>
          <a:p>
            <a:r>
              <a:rPr b="1" lang="en-US" sz="1000" spc="-1" strike="noStrike">
                <a:solidFill>
                  <a:srgbClr val="ddeae4"/>
                </a:solidFill>
                <a:latin typeface="Arial"/>
              </a:rPr>
              <a:t>SEMANTIC NAVIGATION</a:t>
            </a:r>
            <a:endParaRPr b="0" lang="en-US" sz="1000" spc="-1" strike="noStrike">
              <a:solidFill>
                <a:srgbClr val="000000"/>
              </a:solidFill>
              <a:latin typeface="Arial"/>
            </a:endParaRPr>
          </a:p>
        </p:txBody>
      </p:sp>
      <p:sp>
        <p:nvSpPr>
          <p:cNvPr id="278" name=""/>
          <p:cNvSpPr txBox="1"/>
          <p:nvPr/>
        </p:nvSpPr>
        <p:spPr>
          <a:xfrm>
            <a:off x="540000" y="540000"/>
            <a:ext cx="7560000" cy="542520"/>
          </a:xfrm>
          <a:prstGeom prst="rect">
            <a:avLst/>
          </a:prstGeom>
          <a:noFill/>
          <a:ln w="0">
            <a:noFill/>
          </a:ln>
        </p:spPr>
        <p:txBody>
          <a:bodyPr lIns="43200" rIns="43200" tIns="43200" bIns="43200" anchor="t">
            <a:noAutofit/>
          </a:bodyPr>
          <a:p>
            <a:r>
              <a:rPr b="1" lang="en-US" sz="3200" spc="-1" strike="noStrike">
                <a:solidFill>
                  <a:srgbClr val="ffffff"/>
                </a:solidFill>
                <a:latin typeface="Arial"/>
              </a:rPr>
              <a:t>Result</a:t>
            </a:r>
            <a:endParaRPr b="0" lang="en-US" sz="3200" spc="-1" strike="noStrike">
              <a:solidFill>
                <a:srgbClr val="000000"/>
              </a:solidFill>
              <a:latin typeface="Arial"/>
            </a:endParaRPr>
          </a:p>
        </p:txBody>
      </p:sp>
      <p:sp>
        <p:nvSpPr>
          <p:cNvPr id="279" name=""/>
          <p:cNvSpPr txBox="1"/>
          <p:nvPr/>
        </p:nvSpPr>
        <p:spPr>
          <a:xfrm>
            <a:off x="547200" y="1051200"/>
            <a:ext cx="6660000" cy="510120"/>
          </a:xfrm>
          <a:prstGeom prst="rect">
            <a:avLst/>
          </a:prstGeom>
          <a:noFill/>
          <a:ln w="0">
            <a:noFill/>
          </a:ln>
        </p:spPr>
        <p:txBody>
          <a:bodyPr lIns="43200" rIns="43200" tIns="43200" bIns="43200" anchor="t">
            <a:noAutofit/>
          </a:bodyPr>
          <a:p>
            <a:r>
              <a:rPr b="0" lang="en-US" sz="1500" spc="-1" strike="noStrike">
                <a:solidFill>
                  <a:srgbClr val="c7d2ce"/>
                </a:solidFill>
                <a:latin typeface="Arial"/>
              </a:rPr>
              <a:t>A semantic navigation stack where meaning is built from live robot observations, not predefined scene knowledge.</a:t>
            </a:r>
            <a:endParaRPr b="0" lang="en-US" sz="1500" spc="-1" strike="noStrike">
              <a:solidFill>
                <a:srgbClr val="000000"/>
              </a:solidFill>
              <a:latin typeface="Arial"/>
            </a:endParaRPr>
          </a:p>
        </p:txBody>
      </p:sp>
      <p:sp>
        <p:nvSpPr>
          <p:cNvPr id="280" name=""/>
          <p:cNvSpPr txBox="1"/>
          <p:nvPr/>
        </p:nvSpPr>
        <p:spPr>
          <a:xfrm>
            <a:off x="612000" y="1872000"/>
            <a:ext cx="7560000" cy="2212560"/>
          </a:xfrm>
          <a:prstGeom prst="rect">
            <a:avLst/>
          </a:prstGeom>
          <a:noFill/>
          <a:ln w="0">
            <a:noFill/>
          </a:ln>
        </p:spPr>
        <p:txBody>
          <a:bodyPr lIns="43200" rIns="43200" tIns="43200" bIns="43200" anchor="t">
            <a:noAutofit/>
          </a:bodyPr>
          <a:p>
            <a:r>
              <a:rPr b="1" lang="en-US" sz="3000" spc="-1" strike="noStrike">
                <a:solidFill>
                  <a:srgbClr val="ffffff"/>
                </a:solidFill>
                <a:latin typeface="Arial"/>
              </a:rPr>
              <a:t>The robot can move from “I see something” to “I understand what it is, where it is, how it relates to the scene, and whether it is safe to navigate toward.”</a:t>
            </a:r>
            <a:endParaRPr b="0" lang="en-US" sz="3000" spc="-1" strike="noStrike">
              <a:solidFill>
                <a:srgbClr val="000000"/>
              </a:solidFill>
              <a:latin typeface="Arial"/>
            </a:endParaRPr>
          </a:p>
        </p:txBody>
      </p:sp>
      <p:sp>
        <p:nvSpPr>
          <p:cNvPr id="281" name=""/>
          <p:cNvSpPr/>
          <p:nvPr/>
        </p:nvSpPr>
        <p:spPr>
          <a:xfrm>
            <a:off x="720000" y="3744000"/>
            <a:ext cx="10512000" cy="972000"/>
          </a:xfrm>
          <a:prstGeom prst="rect">
            <a:avLst/>
          </a:prstGeom>
          <a:solidFill>
            <a:srgbClr val="22312e"/>
          </a:solidFill>
          <a:ln w="7920">
            <a:solidFill>
              <a:srgbClr val="3d4d49"/>
            </a:solidFill>
            <a:round/>
          </a:ln>
        </p:spPr>
        <p:txBody>
          <a:bodyPr lIns="93960" rIns="93960" tIns="48960" bIns="48960" anchor="ctr" anchorCtr="1">
            <a:noAutofit/>
          </a:bodyPr>
          <a:p>
            <a:endParaRPr b="0" lang="en-US" sz="1800" spc="-1" strike="noStrike">
              <a:solidFill>
                <a:srgbClr val="ffffff"/>
              </a:solidFill>
              <a:latin typeface="Arial"/>
            </a:endParaRPr>
          </a:p>
        </p:txBody>
      </p:sp>
      <p:sp>
        <p:nvSpPr>
          <p:cNvPr id="282" name=""/>
          <p:cNvSpPr txBox="1"/>
          <p:nvPr/>
        </p:nvSpPr>
        <p:spPr>
          <a:xfrm>
            <a:off x="972000" y="3996000"/>
            <a:ext cx="9504000" cy="598680"/>
          </a:xfrm>
          <a:prstGeom prst="rect">
            <a:avLst/>
          </a:prstGeom>
          <a:noFill/>
          <a:ln w="0">
            <a:noFill/>
          </a:ln>
        </p:spPr>
        <p:txBody>
          <a:bodyPr lIns="43200" rIns="43200" tIns="43200" bIns="43200" anchor="t">
            <a:noAutofit/>
          </a:bodyPr>
          <a:p>
            <a:r>
              <a:rPr b="1" lang="en-US" sz="1800" spc="-1" strike="noStrike">
                <a:solidFill>
                  <a:srgbClr val="d5dfda"/>
                </a:solidFill>
                <a:latin typeface="Arial"/>
              </a:rPr>
              <a:t>Built around: live perception, LiDAR grounding, persistent semantic memory, relationship mapping, COLMAP enrichment, and ROS 2/Nav2 integration.</a:t>
            </a:r>
            <a:endParaRPr b="0" lang="en-US" sz="1800" spc="-1" strike="noStrike">
              <a:solidFill>
                <a:srgbClr val="000000"/>
              </a:solidFill>
              <a:latin typeface="Arial"/>
            </a:endParaRPr>
          </a:p>
        </p:txBody>
      </p:sp>
      <p:sp>
        <p:nvSpPr>
          <p:cNvPr id="283" name=""/>
          <p:cNvSpPr/>
          <p:nvPr/>
        </p:nvSpPr>
        <p:spPr>
          <a:xfrm>
            <a:off x="540000" y="6433200"/>
            <a:ext cx="11088000" cy="0"/>
          </a:xfrm>
          <a:prstGeom prst="line">
            <a:avLst/>
          </a:prstGeom>
          <a:ln w="7200">
            <a:solidFill>
              <a:srgbClr val="52615e"/>
            </a:solidFill>
            <a:round/>
          </a:ln>
        </p:spPr>
        <p:style>
          <a:lnRef idx="0"/>
          <a:fillRef idx="0"/>
          <a:effectRef idx="0"/>
          <a:fontRef idx="minor"/>
        </p:style>
        <p:txBody>
          <a:bodyPr lIns="93600" rIns="93600" tIns="-48600" bIns="-48600" anchor="ctr" anchorCtr="1">
            <a:noAutofit/>
          </a:bodyPr>
          <a:p>
            <a:endParaRPr b="0" lang="en-US" sz="1800" spc="-1" strike="noStrike">
              <a:solidFill>
                <a:srgbClr val="000000"/>
              </a:solidFill>
              <a:latin typeface="Arial"/>
            </a:endParaRPr>
          </a:p>
        </p:txBody>
      </p:sp>
      <p:sp>
        <p:nvSpPr>
          <p:cNvPr id="284" name=""/>
          <p:cNvSpPr txBox="1"/>
          <p:nvPr/>
        </p:nvSpPr>
        <p:spPr>
          <a:xfrm>
            <a:off x="540000" y="6451200"/>
            <a:ext cx="3240000" cy="423720"/>
          </a:xfrm>
          <a:prstGeom prst="rect">
            <a:avLst/>
          </a:prstGeom>
          <a:noFill/>
          <a:ln w="0">
            <a:noFill/>
          </a:ln>
        </p:spPr>
        <p:txBody>
          <a:bodyPr lIns="43200" rIns="43200" tIns="43200" bIns="43200" anchor="t">
            <a:noAutofit/>
          </a:bodyPr>
          <a:p>
            <a:r>
              <a:rPr b="0" lang="en-US" sz="800" spc="-1" strike="noStrike">
                <a:solidFill>
                  <a:srgbClr val="aab5b1"/>
                </a:solidFill>
                <a:latin typeface="Arial"/>
              </a:rPr>
              <a:t>semantic-nav architecture</a:t>
            </a:r>
            <a:endParaRPr b="0" lang="en-US" sz="800" spc="-1" strike="noStrike">
              <a:solidFill>
                <a:srgbClr val="000000"/>
              </a:solidFill>
              <a:latin typeface="Arial"/>
            </a:endParaRPr>
          </a:p>
        </p:txBody>
      </p:sp>
      <p:sp>
        <p:nvSpPr>
          <p:cNvPr id="285" name=""/>
          <p:cNvSpPr txBox="1"/>
          <p:nvPr/>
        </p:nvSpPr>
        <p:spPr>
          <a:xfrm>
            <a:off x="11142000" y="6451200"/>
            <a:ext cx="360000" cy="423720"/>
          </a:xfrm>
          <a:prstGeom prst="rect">
            <a:avLst/>
          </a:prstGeom>
          <a:noFill/>
          <a:ln w="0">
            <a:noFill/>
          </a:ln>
        </p:spPr>
        <p:txBody>
          <a:bodyPr lIns="43200" rIns="43200" tIns="43200" bIns="43200" anchor="t">
            <a:noAutofit/>
          </a:bodyPr>
          <a:p>
            <a:r>
              <a:rPr b="0" lang="en-US" sz="800" spc="-1" strike="noStrike">
                <a:solidFill>
                  <a:srgbClr val="aab5b1"/>
                </a:solidFill>
                <a:latin typeface="Arial"/>
              </a:rPr>
              <a:t>10</a:t>
            </a:r>
            <a:endParaRPr b="0" lang="en-US" sz="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2026-05-07T09:39:34Z</dcterms:created>
  <dc:creator/>
  <dc:description/>
  <dc:language>en-US</dc:language>
  <cp:lastModifiedBy/>
  <dcterms:modified xsi:type="dcterms:W3CDTF">2026-05-07T09:39:35Z</dcterms:modified>
  <cp:revision>1</cp:revision>
  <dc:subject/>
  <dc:title/>
</cp:coreProperties>
</file>