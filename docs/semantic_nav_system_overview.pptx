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8166FB-4846-4AA5-BA15-71516206BD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FD9290-9010-46BF-9968-B9DF2E8BBB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300CCD1-9516-4AE7-BD74-0A9357EDF06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58000" y="6444000"/>
            <a:ext cx="11070000" cy="0"/>
          </a:xfrm>
          <a:prstGeom prst="line">
            <a:avLst/>
          </a:prstGeom>
          <a:ln w="90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558000" y="6462000"/>
            <a:ext cx="3240000" cy="2149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ROS 2 semantic navigation stack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0980000" y="6462000"/>
            <a:ext cx="576000" cy="2149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01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58000" y="522000"/>
            <a:ext cx="2232000" cy="24228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100" spc="-1" strike="noStrike">
                <a:solidFill>
                  <a:srgbClr val="146c5c"/>
                </a:solidFill>
                <a:latin typeface="Arial"/>
              </a:rPr>
              <a:t>SEMANTIC NAVIGATION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8000" y="918000"/>
            <a:ext cx="6660000" cy="1166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3800" spc="-1" strike="noStrike">
                <a:solidFill>
                  <a:srgbClr val="17211f"/>
                </a:solidFill>
                <a:latin typeface="Arial"/>
              </a:rPr>
              <a:t>Semantic Navigation for ROS 2 Robots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76000" y="1692000"/>
            <a:ext cx="5760000" cy="936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2000" spc="-1" strike="noStrike">
                <a:solidFill>
                  <a:srgbClr val="5e6662"/>
                </a:solidFill>
                <a:latin typeface="Arial"/>
              </a:rPr>
              <a:t>A live perception stack that turns what the robot sees into a structured semantic map for navigation.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920000" y="612000"/>
            <a:ext cx="3024000" cy="4320000"/>
          </a:xfrm>
          <a:prstGeom prst="rect">
            <a:avLst/>
          </a:prstGeom>
          <a:solidFill>
            <a:srgbClr val="e8ef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244000" y="990000"/>
            <a:ext cx="2448000" cy="28656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400" spc="-1" strike="noStrike">
                <a:solidFill>
                  <a:srgbClr val="146c5c"/>
                </a:solidFill>
                <a:latin typeface="Arial"/>
              </a:rPr>
              <a:t>Core 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8244000" y="1404000"/>
            <a:ext cx="2394000" cy="486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352000" y="1461600"/>
            <a:ext cx="2052000" cy="329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700" spc="-1" strike="noStrike">
                <a:solidFill>
                  <a:srgbClr val="17211f"/>
                </a:solidFill>
                <a:latin typeface="Arial"/>
              </a:rPr>
              <a:t>Perceive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8352000" y="1638000"/>
            <a:ext cx="2052000" cy="25740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camera detections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244000" y="2088000"/>
            <a:ext cx="2394000" cy="486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8352000" y="2145600"/>
            <a:ext cx="2052000" cy="329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700" spc="-1" strike="noStrike">
                <a:solidFill>
                  <a:srgbClr val="17211f"/>
                </a:solidFill>
                <a:latin typeface="Arial"/>
              </a:rPr>
              <a:t>Ground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8352000" y="2322000"/>
            <a:ext cx="2052000" cy="25740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2D LiDAR + TF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8244000" y="2772000"/>
            <a:ext cx="2394000" cy="486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8352000" y="2829600"/>
            <a:ext cx="2052000" cy="329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700" spc="-1" strike="noStrike">
                <a:solidFill>
                  <a:srgbClr val="17211f"/>
                </a:solidFill>
                <a:latin typeface="Arial"/>
              </a:rPr>
              <a:t>Remember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352000" y="3006000"/>
            <a:ext cx="2052000" cy="25740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persistent entities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244000" y="3456000"/>
            <a:ext cx="2394000" cy="486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352000" y="3513600"/>
            <a:ext cx="2052000" cy="329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700" spc="-1" strike="noStrike">
                <a:solidFill>
                  <a:srgbClr val="17211f"/>
                </a:solidFill>
                <a:latin typeface="Arial"/>
              </a:rPr>
              <a:t>Navigate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8352000" y="3690000"/>
            <a:ext cx="2052000" cy="25740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queries to goals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58000" y="6444000"/>
            <a:ext cx="11070000" cy="0"/>
          </a:xfrm>
          <a:prstGeom prst="line">
            <a:avLst/>
          </a:prstGeom>
          <a:ln w="90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58000" y="64620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ROS 2 semantic navigation stack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0980000" y="6462000"/>
            <a:ext cx="576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02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58000" y="324000"/>
            <a:ext cx="2448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100" spc="-1" strike="noStrike">
                <a:solidFill>
                  <a:srgbClr val="146c5c"/>
                </a:solidFill>
                <a:latin typeface="Arial"/>
              </a:rPr>
              <a:t>SEMANTIC NAVIGATION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58000" y="576000"/>
            <a:ext cx="6120000" cy="5684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3400" spc="-1" strike="noStrike">
                <a:solidFill>
                  <a:srgbClr val="17211f"/>
                </a:solidFill>
                <a:latin typeface="Arial"/>
              </a:rPr>
              <a:t>What We Built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65200" y="1170000"/>
            <a:ext cx="5400000" cy="59868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800" spc="-1" strike="noStrike">
                <a:solidFill>
                  <a:srgbClr val="5e6662"/>
                </a:solidFill>
                <a:latin typeface="Arial"/>
              </a:rPr>
              <a:t>The stack bridges low-level robot sensing and high-level language-style navigation requests.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76000" y="2448000"/>
            <a:ext cx="3384000" cy="187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76000" y="2448000"/>
            <a:ext cx="3384000" cy="151200"/>
          </a:xfrm>
          <a:prstGeom prst="rect">
            <a:avLst/>
          </a:prstGeom>
          <a:solidFill>
            <a:srgbClr val="e8ef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63200" y="2700000"/>
            <a:ext cx="2952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200" spc="-1" strike="noStrike">
                <a:solidFill>
                  <a:srgbClr val="146c5c"/>
                </a:solidFill>
                <a:latin typeface="Arial"/>
              </a:rPr>
              <a:t>Live perception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63200" y="3096000"/>
            <a:ext cx="2880000" cy="9896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600" spc="-1" strike="noStrike">
                <a:solidFill>
                  <a:srgbClr val="17211f"/>
                </a:solidFill>
                <a:latin typeface="Arial"/>
              </a:rPr>
              <a:t>YOLO camera detections from the robot camera stream, with no mock detections or canned semantic objects.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4284000" y="2448000"/>
            <a:ext cx="3384000" cy="187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284000" y="2448000"/>
            <a:ext cx="3384000" cy="151200"/>
          </a:xfrm>
          <a:prstGeom prst="rect">
            <a:avLst/>
          </a:prstGeom>
          <a:solidFill>
            <a:srgbClr val="e7ed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471200" y="2700000"/>
            <a:ext cx="2952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200" spc="-1" strike="noStrike">
                <a:solidFill>
                  <a:srgbClr val="2e5b88"/>
                </a:solidFill>
                <a:latin typeface="Arial"/>
              </a:rPr>
              <a:t>Robot grounding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471200" y="3096000"/>
            <a:ext cx="2880000" cy="7639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600" spc="-1" strike="noStrike">
                <a:solidFill>
                  <a:srgbClr val="17211f"/>
                </a:solidFill>
                <a:latin typeface="Arial"/>
              </a:rPr>
              <a:t>2D LiDAR, odometry, TF, and the occupancy grid provide the safety-relevant spatial frame.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992000" y="2448000"/>
            <a:ext cx="3384000" cy="187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992000" y="2448000"/>
            <a:ext cx="3384000" cy="151200"/>
          </a:xfrm>
          <a:prstGeom prst="rect">
            <a:avLst/>
          </a:prstGeom>
          <a:solidFill>
            <a:srgbClr val="f3e7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179200" y="2700000"/>
            <a:ext cx="2952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200" spc="-1" strike="noStrike">
                <a:solidFill>
                  <a:srgbClr val="d86f45"/>
                </a:solidFill>
                <a:latin typeface="Arial"/>
              </a:rPr>
              <a:t>Semantic navigation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79200" y="3096000"/>
            <a:ext cx="2880000" cy="9896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600" spc="-1" strike="noStrike">
                <a:solidFill>
                  <a:srgbClr val="17211f"/>
                </a:solidFill>
                <a:latin typeface="Arial"/>
              </a:rPr>
              <a:t>Persistent semantic memory feeds a queryable map that can select targets and hand goals to Nav2.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58000" y="6444000"/>
            <a:ext cx="11070000" cy="0"/>
          </a:xfrm>
          <a:prstGeom prst="line">
            <a:avLst/>
          </a:prstGeom>
          <a:ln w="90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58000" y="64620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ROS 2 semantic navigation stack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980000" y="6462000"/>
            <a:ext cx="576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03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58000" y="324000"/>
            <a:ext cx="2448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100" spc="-1" strike="noStrike">
                <a:solidFill>
                  <a:srgbClr val="146c5c"/>
                </a:solidFill>
                <a:latin typeface="Arial"/>
              </a:rPr>
              <a:t>SEMANTIC NAVIGATION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58000" y="576000"/>
            <a:ext cx="6120000" cy="5684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3400" spc="-1" strike="noStrike">
                <a:solidFill>
                  <a:srgbClr val="17211f"/>
                </a:solidFill>
                <a:latin typeface="Arial"/>
              </a:rPr>
              <a:t>Runtime Architecture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65200" y="1170000"/>
            <a:ext cx="5400000" cy="8546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800" spc="-1" strike="noStrike">
                <a:solidFill>
                  <a:srgbClr val="5e6662"/>
                </a:solidFill>
                <a:latin typeface="Arial"/>
              </a:rPr>
              <a:t>Each stage has a narrow responsibility, so simulation and real robot deployments share the same data contracts.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68000" y="2556000"/>
            <a:ext cx="1728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68000" y="2556000"/>
            <a:ext cx="93600" cy="612000"/>
          </a:xfrm>
          <a:prstGeom prst="rect">
            <a:avLst/>
          </a:prstGeom>
          <a:solidFill>
            <a:srgbClr val="146c5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01200" y="26136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Camera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01200" y="27900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image stream + detector labels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2224800" y="2862000"/>
            <a:ext cx="46800" cy="0"/>
          </a:xfrm>
          <a:prstGeom prst="line">
            <a:avLst/>
          </a:prstGeom>
          <a:ln w="19800">
            <a:solidFill>
              <a:srgbClr val="146c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300400" y="2556000"/>
            <a:ext cx="1728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2300400" y="2556000"/>
            <a:ext cx="93600" cy="612000"/>
          </a:xfrm>
          <a:prstGeom prst="rect">
            <a:avLst/>
          </a:prstGeom>
          <a:solidFill>
            <a:srgbClr val="2e5b8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433600" y="26136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Localizer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2433600" y="27900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pixel bearing + LiDAR range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057200" y="2862000"/>
            <a:ext cx="46800" cy="0"/>
          </a:xfrm>
          <a:prstGeom prst="line">
            <a:avLst/>
          </a:prstGeom>
          <a:ln w="19800">
            <a:solidFill>
              <a:srgbClr val="2e5b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132800" y="2556000"/>
            <a:ext cx="1728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132800" y="2556000"/>
            <a:ext cx="93600" cy="612000"/>
          </a:xfrm>
          <a:prstGeom prst="rect">
            <a:avLst/>
          </a:prstGeom>
          <a:solidFill>
            <a:srgbClr val="d86f4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266000" y="26136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Memory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266000" y="27900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stable object tracks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889600" y="2862000"/>
            <a:ext cx="46800" cy="0"/>
          </a:xfrm>
          <a:prstGeom prst="line">
            <a:avLst/>
          </a:prstGeom>
          <a:ln w="19800">
            <a:solidFill>
              <a:srgbClr val="d86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965200" y="2556000"/>
            <a:ext cx="1728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965200" y="2556000"/>
            <a:ext cx="93600" cy="612000"/>
          </a:xfrm>
          <a:prstGeom prst="rect">
            <a:avLst/>
          </a:prstGeom>
          <a:solidFill>
            <a:srgbClr val="146c5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098400" y="26136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Semantic map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098400" y="27900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entities, places, relations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722000" y="2862000"/>
            <a:ext cx="46800" cy="0"/>
          </a:xfrm>
          <a:prstGeom prst="line">
            <a:avLst/>
          </a:prstGeom>
          <a:ln w="19800">
            <a:solidFill>
              <a:srgbClr val="146c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797600" y="2556000"/>
            <a:ext cx="1728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7797600" y="2556000"/>
            <a:ext cx="93600" cy="612000"/>
          </a:xfrm>
          <a:prstGeom prst="rect">
            <a:avLst/>
          </a:prstGeom>
          <a:solidFill>
            <a:srgbClr val="2e5b8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930800" y="26136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Query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930800" y="27900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user intent to target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554400" y="2862000"/>
            <a:ext cx="46800" cy="0"/>
          </a:xfrm>
          <a:prstGeom prst="line">
            <a:avLst/>
          </a:prstGeom>
          <a:ln w="19800">
            <a:solidFill>
              <a:srgbClr val="2e5b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630000" y="2556000"/>
            <a:ext cx="1728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9630000" y="2556000"/>
            <a:ext cx="93600" cy="612000"/>
          </a:xfrm>
          <a:prstGeom prst="rect">
            <a:avLst/>
          </a:prstGeom>
          <a:solidFill>
            <a:srgbClr val="d86f4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9763200" y="26136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Nav2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9763200" y="2790000"/>
            <a:ext cx="153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validated goal execution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12000" y="3996000"/>
            <a:ext cx="10620000" cy="5713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700" spc="-1" strike="noStrike">
                <a:solidFill>
                  <a:srgbClr val="17211f"/>
                </a:solidFill>
                <a:latin typeface="Arial"/>
              </a:rPr>
              <a:t>The real robot path uses the same interfaces as simulation: detections are transformed into robot-relative objects, promoted into semantic memory, then published as SemanticMapState for query and navigation.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58000" y="6444000"/>
            <a:ext cx="11070000" cy="0"/>
          </a:xfrm>
          <a:prstGeom prst="line">
            <a:avLst/>
          </a:prstGeom>
          <a:ln w="90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58000" y="64620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ROS 2 semantic navigation stack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0980000" y="6462000"/>
            <a:ext cx="576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04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58000" y="324000"/>
            <a:ext cx="2448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100" spc="-1" strike="noStrike">
                <a:solidFill>
                  <a:srgbClr val="146c5c"/>
                </a:solidFill>
                <a:latin typeface="Arial"/>
              </a:rPr>
              <a:t>SEMANTIC NAVIGATION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58000" y="576000"/>
            <a:ext cx="6120000" cy="5684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3400" spc="-1" strike="noStrike">
                <a:solidFill>
                  <a:srgbClr val="17211f"/>
                </a:solidFill>
                <a:latin typeface="Arial"/>
              </a:rPr>
              <a:t>Semantic Map Structure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65200" y="1170000"/>
            <a:ext cx="5400000" cy="59868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800" spc="-1" strike="noStrike">
                <a:solidFill>
                  <a:srgbClr val="5e6662"/>
                </a:solidFill>
                <a:latin typeface="Arial"/>
              </a:rPr>
              <a:t>The semantic map is a hierarchy, not a flat list of detections.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936000" y="2070000"/>
            <a:ext cx="4500000" cy="378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936000" y="2070000"/>
            <a:ext cx="86400" cy="378000"/>
          </a:xfrm>
          <a:prstGeom prst="rect">
            <a:avLst/>
          </a:prstGeom>
          <a:solidFill>
            <a:srgbClr val="146c5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080000" y="2116800"/>
            <a:ext cx="162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46c5c"/>
                </a:solidFill>
                <a:latin typeface="Arial"/>
              </a:rPr>
              <a:t>SemanticEntity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736000" y="2124000"/>
            <a:ext cx="2592000" cy="428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object identity, label mapping, confidence, provenance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242000" y="2682000"/>
            <a:ext cx="4500000" cy="378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242000" y="2682000"/>
            <a:ext cx="86400" cy="378000"/>
          </a:xfrm>
          <a:prstGeom prst="rect">
            <a:avLst/>
          </a:prstGeom>
          <a:solidFill>
            <a:srgbClr val="2e5b8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386000" y="2728800"/>
            <a:ext cx="162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2e5b88"/>
                </a:solidFill>
                <a:latin typeface="Arial"/>
              </a:rPr>
              <a:t>SemanticPlace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042000" y="2736000"/>
            <a:ext cx="2592000" cy="428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clusters of entities that form navigable regions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548000" y="3294000"/>
            <a:ext cx="4500000" cy="378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548000" y="3294000"/>
            <a:ext cx="86400" cy="378000"/>
          </a:xfrm>
          <a:prstGeom prst="rect">
            <a:avLst/>
          </a:prstGeom>
          <a:solidFill>
            <a:srgbClr val="d86f4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692000" y="3340800"/>
            <a:ext cx="1620000" cy="53820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d86f45"/>
                </a:solidFill>
                <a:latin typeface="Arial"/>
              </a:rPr>
              <a:t>SemanticAnchor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348000" y="3348000"/>
            <a:ext cx="2592000" cy="428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stable reference points for navigation and commands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854000" y="3906000"/>
            <a:ext cx="4500000" cy="378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854000" y="3906000"/>
            <a:ext cx="86400" cy="378000"/>
          </a:xfrm>
          <a:prstGeom prst="rect">
            <a:avLst/>
          </a:prstGeom>
          <a:solidFill>
            <a:srgbClr val="146c5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998000" y="3952800"/>
            <a:ext cx="1620000" cy="53820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46c5c"/>
                </a:solidFill>
                <a:latin typeface="Arial"/>
              </a:rPr>
              <a:t>SemanticRelation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654000" y="3960000"/>
            <a:ext cx="2592000" cy="428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spatial structure between entities and places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160000" y="4518000"/>
            <a:ext cx="4500000" cy="378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160000" y="4518000"/>
            <a:ext cx="86400" cy="378000"/>
          </a:xfrm>
          <a:prstGeom prst="rect">
            <a:avLst/>
          </a:prstGeom>
          <a:solidFill>
            <a:srgbClr val="2e5b8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304000" y="4564800"/>
            <a:ext cx="1620000" cy="53820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2e5b88"/>
                </a:solidFill>
                <a:latin typeface="Arial"/>
              </a:rPr>
              <a:t>SemanticMapState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960000" y="4572000"/>
            <a:ext cx="2592000" cy="4280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200" spc="-1" strike="noStrike">
                <a:solidFill>
                  <a:srgbClr val="5e6662"/>
                </a:solidFill>
                <a:latin typeface="Arial"/>
              </a:rPr>
              <a:t>single queryable snapshot consumed by downstream nodes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7488000" y="2196000"/>
            <a:ext cx="3132000" cy="2232000"/>
          </a:xfrm>
          <a:prstGeom prst="rect">
            <a:avLst/>
          </a:prstGeom>
          <a:solidFill>
            <a:srgbClr val="e8ef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776000" y="2448000"/>
            <a:ext cx="266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000" spc="-1" strike="noStrike">
                <a:solidFill>
                  <a:srgbClr val="146c5c"/>
                </a:solidFill>
                <a:latin typeface="Arial"/>
              </a:rPr>
              <a:t>Why this matters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776000" y="2844000"/>
            <a:ext cx="2592000" cy="15685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The robot can reason over meaning and structure while still preserving sensor provenance. A target is not just a point; it is an object with identity, confidence, source, and relationships.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58000" y="6444000"/>
            <a:ext cx="11070000" cy="0"/>
          </a:xfrm>
          <a:prstGeom prst="line">
            <a:avLst/>
          </a:prstGeom>
          <a:ln w="90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58000" y="64620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ROS 2 semantic navigation stack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0980000" y="6462000"/>
            <a:ext cx="576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05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58000" y="324000"/>
            <a:ext cx="2448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100" spc="-1" strike="noStrike">
                <a:solidFill>
                  <a:srgbClr val="146c5c"/>
                </a:solidFill>
                <a:latin typeface="Arial"/>
              </a:rPr>
              <a:t>SEMANTIC NAVIGATION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58000" y="576000"/>
            <a:ext cx="6120000" cy="10501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3400" spc="-1" strike="noStrike">
                <a:solidFill>
                  <a:srgbClr val="17211f"/>
                </a:solidFill>
                <a:latin typeface="Arial"/>
              </a:rPr>
              <a:t>Grounding, Memory, and Validation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65200" y="1170000"/>
            <a:ext cx="5400000" cy="59868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800" spc="-1" strike="noStrike">
                <a:solidFill>
                  <a:srgbClr val="5e6662"/>
                </a:solidFill>
                <a:latin typeface="Arial"/>
              </a:rPr>
              <a:t>The semantic system is built from live robot observations, then marked by validation state.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792000" y="2376000"/>
            <a:ext cx="2232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792000" y="2376000"/>
            <a:ext cx="93600" cy="612000"/>
          </a:xfrm>
          <a:prstGeom prst="rect">
            <a:avLst/>
          </a:prstGeom>
          <a:solidFill>
            <a:srgbClr val="146c5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925200" y="2433600"/>
            <a:ext cx="203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Detection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925200" y="2610000"/>
            <a:ext cx="203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class + image box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3052800" y="2682000"/>
            <a:ext cx="140400" cy="0"/>
          </a:xfrm>
          <a:prstGeom prst="line">
            <a:avLst/>
          </a:prstGeom>
          <a:ln w="19800">
            <a:solidFill>
              <a:srgbClr val="146c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222000" y="2376000"/>
            <a:ext cx="2232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3222000" y="2376000"/>
            <a:ext cx="93600" cy="612000"/>
          </a:xfrm>
          <a:prstGeom prst="rect">
            <a:avLst/>
          </a:prstGeom>
          <a:solidFill>
            <a:srgbClr val="2e5b8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355200" y="2433600"/>
            <a:ext cx="203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LiDAR grounding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355200" y="2610000"/>
            <a:ext cx="203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bearing + range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482800" y="2682000"/>
            <a:ext cx="140400" cy="0"/>
          </a:xfrm>
          <a:prstGeom prst="line">
            <a:avLst/>
          </a:prstGeom>
          <a:ln w="19800">
            <a:solidFill>
              <a:srgbClr val="2e5b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652000" y="2376000"/>
            <a:ext cx="2232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652000" y="2376000"/>
            <a:ext cx="93600" cy="612000"/>
          </a:xfrm>
          <a:prstGeom prst="rect">
            <a:avLst/>
          </a:prstGeom>
          <a:solidFill>
            <a:srgbClr val="d86f4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785200" y="2433600"/>
            <a:ext cx="203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TF/map frame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785200" y="2610000"/>
            <a:ext cx="203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robot pose context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912800" y="2682000"/>
            <a:ext cx="140400" cy="0"/>
          </a:xfrm>
          <a:prstGeom prst="line">
            <a:avLst/>
          </a:prstGeom>
          <a:ln w="19800">
            <a:solidFill>
              <a:srgbClr val="d86f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082000" y="2376000"/>
            <a:ext cx="2232000" cy="6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8082000" y="2376000"/>
            <a:ext cx="93600" cy="612000"/>
          </a:xfrm>
          <a:prstGeom prst="rect">
            <a:avLst/>
          </a:prstGeom>
          <a:solidFill>
            <a:srgbClr val="146c5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215200" y="2433600"/>
            <a:ext cx="203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600" spc="-1" strike="noStrike">
                <a:solidFill>
                  <a:srgbClr val="17211f"/>
                </a:solidFill>
                <a:latin typeface="Arial"/>
              </a:rPr>
              <a:t>Memory gate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8215200" y="2610000"/>
            <a:ext cx="203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100" spc="-1" strike="noStrike">
                <a:solidFill>
                  <a:srgbClr val="5e6662"/>
                </a:solidFill>
                <a:latin typeface="Arial"/>
              </a:rPr>
              <a:t>merge + promote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116000" y="4014000"/>
            <a:ext cx="9864000" cy="11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332000" y="4248000"/>
            <a:ext cx="2232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800" spc="-1" strike="noStrike">
                <a:solidFill>
                  <a:srgbClr val="17211f"/>
                </a:solidFill>
                <a:latin typeface="Arial"/>
              </a:rPr>
              <a:t>Provenance states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332000" y="4572000"/>
            <a:ext cx="2628000" cy="423720"/>
          </a:xfrm>
          <a:prstGeom prst="rect">
            <a:avLst/>
          </a:prstGeom>
          <a:solidFill>
            <a:srgbClr val="e8efea"/>
          </a:solidFill>
          <a:ln w="10800">
            <a:solidFill>
              <a:srgbClr val="e8efea"/>
            </a:solidFill>
            <a:round/>
          </a:ln>
        </p:spPr>
        <p:txBody>
          <a:bodyPr lIns="57600" rIns="57600" tIns="43200" bIns="43200" anchor="t">
            <a:noAutofit/>
          </a:bodyPr>
          <a:p>
            <a:r>
              <a:rPr b="1" lang="en-US" sz="1300" spc="-1" strike="noStrike">
                <a:solidFill>
                  <a:srgbClr val="146c5c"/>
                </a:solidFill>
                <a:latin typeface="Arial"/>
              </a:rPr>
              <a:t>occupancy_grid_validated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4212000" y="4572000"/>
            <a:ext cx="2628000" cy="423720"/>
          </a:xfrm>
          <a:prstGeom prst="rect">
            <a:avLst/>
          </a:prstGeom>
          <a:solidFill>
            <a:srgbClr val="f3e7de"/>
          </a:solidFill>
          <a:ln w="10800">
            <a:solidFill>
              <a:srgbClr val="f3e7de"/>
            </a:solidFill>
            <a:round/>
          </a:ln>
        </p:spPr>
        <p:txBody>
          <a:bodyPr lIns="57600" rIns="57600" tIns="43200" bIns="43200" anchor="t">
            <a:noAutofit/>
          </a:bodyPr>
          <a:p>
            <a:r>
              <a:rPr b="1" lang="en-US" sz="1300" spc="-1" strike="noStrike">
                <a:solidFill>
                  <a:srgbClr val="d86f45"/>
                </a:solidFill>
                <a:latin typeface="Arial"/>
              </a:rPr>
              <a:t>occupancy_grid_pending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092000" y="4572000"/>
            <a:ext cx="2628000" cy="423720"/>
          </a:xfrm>
          <a:prstGeom prst="rect">
            <a:avLst/>
          </a:prstGeom>
          <a:solidFill>
            <a:srgbClr val="e7edf4"/>
          </a:solidFill>
          <a:ln w="10800">
            <a:solidFill>
              <a:srgbClr val="e7edf4"/>
            </a:solidFill>
            <a:round/>
          </a:ln>
        </p:spPr>
        <p:txBody>
          <a:bodyPr lIns="57600" rIns="57600" tIns="43200" bIns="43200" anchor="t">
            <a:noAutofit/>
          </a:bodyPr>
          <a:p>
            <a:r>
              <a:rPr b="1" lang="en-US" sz="1300" spc="-1" strike="noStrike">
                <a:solidFill>
                  <a:srgbClr val="2e5b88"/>
                </a:solidFill>
                <a:latin typeface="Arial"/>
              </a:rPr>
              <a:t>map_bounds_pending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332000" y="4968000"/>
            <a:ext cx="9000000" cy="45540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300" spc="-1" strike="noStrike">
                <a:solidFill>
                  <a:srgbClr val="5e6662"/>
                </a:solidFill>
                <a:latin typeface="Arial"/>
              </a:rPr>
              <a:t>This lets the map use real LiDAR-grounded objects even when SLAM has not expanded far enough yet, without pretending they are fully grid-validated.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58000" y="6444000"/>
            <a:ext cx="11070000" cy="0"/>
          </a:xfrm>
          <a:prstGeom prst="line">
            <a:avLst/>
          </a:prstGeom>
          <a:ln w="90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58000" y="64620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ROS 2 semantic navigation stack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0980000" y="6462000"/>
            <a:ext cx="576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06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58000" y="324000"/>
            <a:ext cx="2448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100" spc="-1" strike="noStrike">
                <a:solidFill>
                  <a:srgbClr val="146c5c"/>
                </a:solidFill>
                <a:latin typeface="Arial"/>
              </a:rPr>
              <a:t>SEMANTIC NAVIGATION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58000" y="576000"/>
            <a:ext cx="6120000" cy="5684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3400" spc="-1" strike="noStrike">
                <a:solidFill>
                  <a:srgbClr val="17211f"/>
                </a:solidFill>
                <a:latin typeface="Arial"/>
              </a:rPr>
              <a:t>Language-to-Map Reasoning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65200" y="1170000"/>
            <a:ext cx="5400000" cy="59868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800" spc="-1" strike="noStrike">
                <a:solidFill>
                  <a:srgbClr val="5e6662"/>
                </a:solidFill>
                <a:latin typeface="Arial"/>
              </a:rPr>
              <a:t>The query layer maps human intent onto the semantic map without coupling it to detector quirks.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756000" y="2160000"/>
            <a:ext cx="4500000" cy="21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972000" y="2412000"/>
            <a:ext cx="378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000" spc="-1" strike="noStrike">
                <a:solidFill>
                  <a:srgbClr val="146c5c"/>
                </a:solidFill>
                <a:latin typeface="Arial"/>
              </a:rPr>
              <a:t>Label mapping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972000" y="2844000"/>
            <a:ext cx="3780000" cy="121536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600" spc="-1" strike="noStrike">
                <a:solidFill>
                  <a:srgbClr val="17211f"/>
                </a:solidFill>
                <a:latin typeface="Arial"/>
              </a:rPr>
              <a:t>Detector labels remain separate from semantic labels. For example, a model output such as bench can satisfy a user command for table when that better matches the environment.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972000" y="3708000"/>
            <a:ext cx="3780000" cy="423720"/>
          </a:xfrm>
          <a:prstGeom prst="rect">
            <a:avLst/>
          </a:prstGeom>
          <a:solidFill>
            <a:srgbClr val="e8efea"/>
          </a:solidFill>
          <a:ln w="10800">
            <a:solidFill>
              <a:srgbClr val="e8efea"/>
            </a:solidFill>
            <a:round/>
          </a:ln>
        </p:spPr>
        <p:txBody>
          <a:bodyPr lIns="57600" rIns="57600" tIns="43200" bIns="43200" anchor="t">
            <a:noAutofit/>
          </a:bodyPr>
          <a:p>
            <a:r>
              <a:rPr b="0" lang="en-US" sz="1300" spc="-1" strike="noStrike">
                <a:solidFill>
                  <a:srgbClr val="5e6662"/>
                </a:solidFill>
                <a:latin typeface="Arial"/>
              </a:rPr>
              <a:t>detector_label: bench    semantic_name: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588000" y="2160000"/>
            <a:ext cx="4500000" cy="21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804000" y="2412000"/>
            <a:ext cx="378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000" spc="-1" strike="noStrike">
                <a:solidFill>
                  <a:srgbClr val="2e5b88"/>
                </a:solidFill>
                <a:latin typeface="Arial"/>
              </a:rPr>
              <a:t>Relationship vocabulary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804000" y="2844000"/>
            <a:ext cx="3780000" cy="7639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600" spc="-1" strike="noStrike">
                <a:solidFill>
                  <a:srgbClr val="17211f"/>
                </a:solidFill>
                <a:latin typeface="Arial"/>
              </a:rPr>
              <a:t>Spatial structure uses robust concepts like near and next to instead of brittle camera-relative left/right assumptions.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804000" y="3708000"/>
            <a:ext cx="3780000" cy="423720"/>
          </a:xfrm>
          <a:prstGeom prst="rect">
            <a:avLst/>
          </a:prstGeom>
          <a:solidFill>
            <a:srgbClr val="e7edf4"/>
          </a:solidFill>
          <a:ln w="10800">
            <a:solidFill>
              <a:srgbClr val="e7edf4"/>
            </a:solidFill>
            <a:round/>
          </a:ln>
        </p:spPr>
        <p:txBody>
          <a:bodyPr lIns="57600" rIns="57600" tIns="43200" bIns="43200" anchor="t">
            <a:noAutofit/>
          </a:bodyPr>
          <a:p>
            <a:r>
              <a:rPr b="0" lang="en-US" sz="1300" spc="-1" strike="noStrike">
                <a:solidFill>
                  <a:srgbClr val="5e6662"/>
                </a:solidFill>
                <a:latin typeface="Arial"/>
              </a:rPr>
              <a:t>entity A next_to entity B    place contains entity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558000" y="6444000"/>
            <a:ext cx="11070000" cy="0"/>
          </a:xfrm>
          <a:prstGeom prst="line">
            <a:avLst/>
          </a:prstGeom>
          <a:ln w="90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58000" y="64620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ROS 2 semantic navigation stack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0980000" y="6462000"/>
            <a:ext cx="576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07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58000" y="324000"/>
            <a:ext cx="2448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100" spc="-1" strike="noStrike">
                <a:solidFill>
                  <a:srgbClr val="146c5c"/>
                </a:solidFill>
                <a:latin typeface="Arial"/>
              </a:rPr>
              <a:t>SEMANTIC NAVIGATION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58000" y="576000"/>
            <a:ext cx="6120000" cy="10501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3400" spc="-1" strike="noStrike">
                <a:solidFill>
                  <a:srgbClr val="17211f"/>
                </a:solidFill>
                <a:latin typeface="Arial"/>
              </a:rPr>
              <a:t>COLMAP as Visual Enrichment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65200" y="1170000"/>
            <a:ext cx="5400000" cy="59868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800" spc="-1" strike="noStrike">
                <a:solidFill>
                  <a:srgbClr val="5e6662"/>
                </a:solidFill>
                <a:latin typeface="Arial"/>
              </a:rPr>
              <a:t>Visual reconstruction is treated as enrichment, not as the safety authority.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76000" y="2196000"/>
            <a:ext cx="3384000" cy="234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774000" y="2484000"/>
            <a:ext cx="284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000" spc="-1" strike="noStrike">
                <a:solidFill>
                  <a:srgbClr val="146c5c"/>
                </a:solidFill>
                <a:latin typeface="Arial"/>
              </a:rPr>
              <a:t>Primary grounding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774000" y="2898000"/>
            <a:ext cx="2844000" cy="13568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Robot-native sensors remain authoritative for safety and navigation. On the TurtleBot3 path, that means LDS-02 scan, odometry, TF, and Nav2 costmaps.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4284000" y="2196000"/>
            <a:ext cx="3384000" cy="234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482000" y="2484000"/>
            <a:ext cx="284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000" spc="-1" strike="noStrike">
                <a:solidFill>
                  <a:srgbClr val="2e5b88"/>
                </a:solidFill>
                <a:latin typeface="Arial"/>
              </a:rPr>
              <a:t>Visual enrichment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4482000" y="2898000"/>
            <a:ext cx="2844000" cy="93348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COLMAP-style reconstruction can add geometric context when LiDAR is sparse, 2D-only, or misses vertical structure.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992000" y="2196000"/>
            <a:ext cx="3384000" cy="234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8190000" y="2484000"/>
            <a:ext cx="2844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000" spc="-1" strike="noStrike">
                <a:solidFill>
                  <a:srgbClr val="d86f45"/>
                </a:solidFill>
                <a:latin typeface="Arial"/>
              </a:rPr>
              <a:t>Sim-to-real fit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8190000" y="2898000"/>
            <a:ext cx="2844000" cy="114516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The stack keeps the same interfaces whether enrichment is enabled or not, so robot deployments do not need to be restructured.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756000" y="5004000"/>
            <a:ext cx="1026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500" spc="-1" strike="noStrike">
                <a:solidFill>
                  <a:srgbClr val="5e6662"/>
                </a:solidFill>
                <a:latin typeface="Arial"/>
              </a:rPr>
              <a:t>Design principle: use COLMAP to enrich spatial understanding, not to replace the robot validated obstacle model.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5e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58000" y="6444000"/>
            <a:ext cx="11070000" cy="0"/>
          </a:xfrm>
          <a:prstGeom prst="line">
            <a:avLst/>
          </a:prstGeom>
          <a:ln w="9000">
            <a:solidFill>
              <a:srgbClr val="d8d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58000" y="64620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ROS 2 semantic navigation stack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0980000" y="6462000"/>
            <a:ext cx="576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900" spc="-1" strike="noStrike">
                <a:solidFill>
                  <a:srgbClr val="5e6662"/>
                </a:solidFill>
                <a:latin typeface="Arial"/>
              </a:rPr>
              <a:t>08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58000" y="324000"/>
            <a:ext cx="2448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1100" spc="-1" strike="noStrike">
                <a:solidFill>
                  <a:srgbClr val="146c5c"/>
                </a:solidFill>
                <a:latin typeface="Arial"/>
              </a:rPr>
              <a:t>SEMANTIC NAVIGATION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558000" y="576000"/>
            <a:ext cx="6120000" cy="5684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3400" spc="-1" strike="noStrike">
                <a:solidFill>
                  <a:srgbClr val="17211f"/>
                </a:solidFill>
                <a:latin typeface="Arial"/>
              </a:rPr>
              <a:t>Sim-to-Real Integration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65200" y="1170000"/>
            <a:ext cx="5400000" cy="59868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800" spc="-1" strike="noStrike">
                <a:solidFill>
                  <a:srgbClr val="5e6662"/>
                </a:solidFill>
                <a:latin typeface="Arial"/>
              </a:rPr>
              <a:t>The implementation was prepared and tested against a real TurtleBot3-style deployment path.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48000" y="2052000"/>
            <a:ext cx="5220000" cy="3024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900000" y="2340000"/>
            <a:ext cx="4500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100" spc="-1" strike="noStrike">
                <a:solidFill>
                  <a:srgbClr val="146c5c"/>
                </a:solidFill>
                <a:latin typeface="Arial"/>
              </a:rPr>
              <a:t>Integration work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900000" y="2736000"/>
            <a:ext cx="4536000" cy="135684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ROS 2 Humble launch stack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TurtleBot3 Waffle configuration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LDS-02 LiDAR bringup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USB camera detector path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Nav2 lifecycle + plugin compatibility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Motion safety gate for real robot testing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6408000" y="2052000"/>
            <a:ext cx="4860000" cy="30240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3c7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660000" y="2340000"/>
            <a:ext cx="4248000" cy="42372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1" lang="en-US" sz="2100" spc="-1" strike="noStrike">
                <a:solidFill>
                  <a:srgbClr val="2e5b88"/>
                </a:solidFill>
                <a:latin typeface="Arial"/>
              </a:rPr>
              <a:t>Validation outcome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660000" y="2736000"/>
            <a:ext cx="4176000" cy="1145160"/>
          </a:xfrm>
          <a:prstGeom prst="rect">
            <a:avLst/>
          </a:prstGeom>
          <a:noFill/>
          <a:ln w="0">
            <a:noFill/>
          </a:ln>
        </p:spPr>
        <p:txBody>
          <a:bodyPr lIns="57600" rIns="57600" tIns="43200" bIns="43200" anchor="t">
            <a:noAutofit/>
          </a:bodyPr>
          <a:p>
            <a:r>
              <a:rPr b="0" lang="en-US" sz="1500" spc="-1" strike="noStrike">
                <a:solidFill>
                  <a:srgbClr val="17211f"/>
                </a:solidFill>
                <a:latin typeface="Arial"/>
              </a:rPr>
              <a:t>Real detections flowed through localization and memory. SemanticMapState is routed through persistent semantic memory. Provisional entities handle map-edge cases without introducing fake data.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660000" y="4356000"/>
            <a:ext cx="4176000" cy="455400"/>
          </a:xfrm>
          <a:prstGeom prst="rect">
            <a:avLst/>
          </a:prstGeom>
          <a:solidFill>
            <a:srgbClr val="e7edf4"/>
          </a:solidFill>
          <a:ln w="10800">
            <a:solidFill>
              <a:srgbClr val="e7edf4"/>
            </a:solidFill>
            <a:round/>
          </a:ln>
        </p:spPr>
        <p:txBody>
          <a:bodyPr lIns="57600" rIns="57600" tIns="43200" bIns="43200" anchor="t">
            <a:noAutofit/>
          </a:bodyPr>
          <a:p>
            <a:r>
              <a:rPr b="0" lang="en-US" sz="1300" spc="-1" strike="noStrike">
                <a:solidFill>
                  <a:srgbClr val="5e6662"/>
                </a:solidFill>
                <a:latin typeface="Arial"/>
              </a:rPr>
              <a:t>Next: floor-space runs, calibration refinement, and longer mapping sessions.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2026-05-07T09:14:40Z</dcterms:created>
  <dc:creator/>
  <dc:description/>
  <dc:language>en-US</dc:language>
  <cp:lastModifiedBy/>
  <dcterms:modified xsi:type="dcterms:W3CDTF">2026-05-07T09:14:40Z</dcterms:modified>
  <cp:revision>1</cp:revision>
  <dc:subject/>
  <dc:title/>
</cp:coreProperties>
</file>