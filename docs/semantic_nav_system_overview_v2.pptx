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519DB-68CB-4A68-8742-BDFB9C6E3E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32E08E-CF5B-4B87-B182-DF4FF5D07B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31F77EA-24E9-4B5E-8165-73F26E81881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d27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7668000" y="0"/>
            <a:ext cx="4524120" cy="6858000"/>
          </a:xfrm>
          <a:prstGeom prst="rect">
            <a:avLst/>
          </a:prstGeom>
          <a:solidFill>
            <a:srgbClr val="22312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668000" y="0"/>
            <a:ext cx="0" cy="6858000"/>
          </a:xfrm>
          <a:prstGeom prst="line">
            <a:avLst/>
          </a:prstGeom>
          <a:ln w="28800">
            <a:solidFill>
              <a:srgbClr val="0f6b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0000" y="504000"/>
            <a:ext cx="3240000" cy="228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dce8e2"/>
                </a:solidFill>
                <a:latin typeface="Arial"/>
              </a:rPr>
              <a:t>ROS 2 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40000" y="990000"/>
            <a:ext cx="6408000" cy="1166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800" spc="-1" strike="noStrike">
                <a:solidFill>
                  <a:srgbClr val="ffffff"/>
                </a:solidFill>
                <a:latin typeface="Arial"/>
              </a:rPr>
              <a:t>Navigation over meaning, not just geometry.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8000" y="1962000"/>
            <a:ext cx="5616000" cy="8546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800" spc="-1" strike="noStrike">
                <a:solidFill>
                  <a:srgbClr val="c9d2ce"/>
                </a:solidFill>
                <a:latin typeface="Arial"/>
              </a:rPr>
              <a:t>A real robot stack that turns camera detections, 2D LiDAR, TF, and memory into a queryable semantic map.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40000" y="2736000"/>
            <a:ext cx="1800000" cy="291600"/>
          </a:xfrm>
          <a:prstGeom prst="rect">
            <a:avLst/>
          </a:prstGeom>
          <a:solidFill>
            <a:srgbClr val="2b4741"/>
          </a:solidFill>
          <a:ln w="9000">
            <a:solidFill>
              <a:srgbClr val="2b4741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live perception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592000" y="2736000"/>
            <a:ext cx="1800000" cy="291600"/>
          </a:xfrm>
          <a:prstGeom prst="rect">
            <a:avLst/>
          </a:prstGeom>
          <a:solidFill>
            <a:srgbClr val="2b3f52"/>
          </a:solidFill>
          <a:ln w="9000">
            <a:solidFill>
              <a:srgbClr val="2b3f52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semantic memory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4752000" y="2736000"/>
            <a:ext cx="1800000" cy="291600"/>
          </a:xfrm>
          <a:prstGeom prst="rect">
            <a:avLst/>
          </a:prstGeom>
          <a:solidFill>
            <a:srgbClr val="51362e"/>
          </a:solidFill>
          <a:ln w="9000">
            <a:solidFill>
              <a:srgbClr val="51362e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Nav2 goals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8388000" y="1116000"/>
            <a:ext cx="2772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517600" y="1249200"/>
            <a:ext cx="252000" cy="2520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812800" y="1216800"/>
            <a:ext cx="2250000" cy="31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Sense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812800" y="1404000"/>
            <a:ext cx="2250000" cy="242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camera + LDS-02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9774000" y="1674000"/>
            <a:ext cx="0" cy="396000"/>
          </a:xfrm>
          <a:prstGeom prst="line">
            <a:avLst/>
          </a:prstGeom>
          <a:ln w="16200">
            <a:solidFill>
              <a:srgbClr val="5d6e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8388000" y="2106000"/>
            <a:ext cx="2772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517600" y="2239200"/>
            <a:ext cx="252000" cy="252000"/>
          </a:xfrm>
          <a:prstGeom prst="ellipse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8812800" y="2206800"/>
            <a:ext cx="2250000" cy="31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Ground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812800" y="2394000"/>
            <a:ext cx="2250000" cy="242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LiDAR + TF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774000" y="2664000"/>
            <a:ext cx="0" cy="396000"/>
          </a:xfrm>
          <a:prstGeom prst="line">
            <a:avLst/>
          </a:prstGeom>
          <a:ln w="16200">
            <a:solidFill>
              <a:srgbClr val="5d6e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388000" y="3096000"/>
            <a:ext cx="2772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517600" y="3229200"/>
            <a:ext cx="252000" cy="252000"/>
          </a:xfrm>
          <a:prstGeom prst="ellipse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812800" y="3196800"/>
            <a:ext cx="2250000" cy="31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Remember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812800" y="3384000"/>
            <a:ext cx="2250000" cy="242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persistent entities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774000" y="3654000"/>
            <a:ext cx="0" cy="396000"/>
          </a:xfrm>
          <a:prstGeom prst="line">
            <a:avLst/>
          </a:prstGeom>
          <a:ln w="16200">
            <a:solidFill>
              <a:srgbClr val="5d6e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388000" y="4086000"/>
            <a:ext cx="2772000" cy="540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517600" y="4219200"/>
            <a:ext cx="252000" cy="2520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8812800" y="4186800"/>
            <a:ext cx="2250000" cy="3124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Navigate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812800" y="4374000"/>
            <a:ext cx="2250000" cy="242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query to goal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5261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40000" y="6454800"/>
            <a:ext cx="3240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a7b4af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1124000" y="6454800"/>
            <a:ext cx="432000" cy="201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a7b4af"/>
                </a:solidFill>
                <a:latin typeface="Arial"/>
              </a:rPr>
              <a:t>01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40000" y="558000"/>
            <a:ext cx="7020000" cy="54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What the system does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12000" y="1548000"/>
            <a:ext cx="7560000" cy="16232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700" spc="-1" strike="noStrike">
                <a:solidFill>
                  <a:srgbClr val="101817"/>
                </a:solidFill>
                <a:latin typeface="Arial"/>
              </a:rPr>
              <a:t>It converts live robot observations into semantic objects with identity, confidence, provenance, and relationships, then exposes that structure to navigation.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84000" y="2952000"/>
            <a:ext cx="3240000" cy="154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84000" y="2952000"/>
            <a:ext cx="93600" cy="1548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856800" y="3103200"/>
            <a:ext cx="293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No fake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56800" y="3376800"/>
            <a:ext cx="2934000" cy="10083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The real robot path removes mock detections and bootstrap points. Semantic state comes from camera perception and robot-grounded memory.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464000" y="2952000"/>
            <a:ext cx="3240000" cy="154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464000" y="2952000"/>
            <a:ext cx="93600" cy="1548000"/>
          </a:xfrm>
          <a:prstGeom prst="rect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36800" y="3103200"/>
            <a:ext cx="293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315e8a"/>
                </a:solidFill>
                <a:latin typeface="Arial"/>
              </a:rPr>
              <a:t>Structured memory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636800" y="3376800"/>
            <a:ext cx="2934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Objects are merged over time, promoted after repeated observations, and published as SemanticMapState.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244000" y="2952000"/>
            <a:ext cx="3240000" cy="154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244000" y="2952000"/>
            <a:ext cx="93600" cy="1548000"/>
          </a:xfrm>
          <a:prstGeom prst="rect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416800" y="3103200"/>
            <a:ext cx="293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c76946"/>
                </a:solidFill>
                <a:latin typeface="Arial"/>
              </a:rPr>
              <a:t>Navigation-ready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416800" y="3376800"/>
            <a:ext cx="2934000" cy="824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Queries resolve to semantic targets and feed goal generation while Nav2 keeps motion bounded by the robot costmaps.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40000" y="558000"/>
            <a:ext cx="7020000" cy="54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Runtime architecture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32000" y="2340000"/>
            <a:ext cx="1800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61600" y="2473200"/>
            <a:ext cx="252000" cy="2520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56800" y="24408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Camera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56800" y="26280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RGB stream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2250000" y="2646000"/>
            <a:ext cx="144000" cy="0"/>
          </a:xfrm>
          <a:prstGeom prst="line">
            <a:avLst/>
          </a:prstGeom>
          <a:ln w="18000">
            <a:solidFill>
              <a:srgbClr val="0f6b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394000" y="2340000"/>
            <a:ext cx="1800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523600" y="2473200"/>
            <a:ext cx="252000" cy="2520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818800" y="24408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Detector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818800" y="26280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YOLO labels + boxes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212000" y="2646000"/>
            <a:ext cx="144000" cy="0"/>
          </a:xfrm>
          <a:prstGeom prst="line">
            <a:avLst/>
          </a:prstGeom>
          <a:ln w="18000">
            <a:solidFill>
              <a:srgbClr val="0f6b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4356000" y="2340000"/>
            <a:ext cx="1800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485600" y="2473200"/>
            <a:ext cx="252000" cy="252000"/>
          </a:xfrm>
          <a:prstGeom prst="ellipse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780800" y="24408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Localizer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780800" y="26280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bearing + scan range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174000" y="2646000"/>
            <a:ext cx="144000" cy="0"/>
          </a:xfrm>
          <a:prstGeom prst="line">
            <a:avLst/>
          </a:prstGeom>
          <a:ln w="18000">
            <a:solidFill>
              <a:srgbClr val="315e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318000" y="2340000"/>
            <a:ext cx="1800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447600" y="2473200"/>
            <a:ext cx="252000" cy="252000"/>
          </a:xfrm>
          <a:prstGeom prst="ellipse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742800" y="24408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Memory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742800" y="26280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stable tracks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8136000" y="2646000"/>
            <a:ext cx="144000" cy="0"/>
          </a:xfrm>
          <a:prstGeom prst="line">
            <a:avLst/>
          </a:prstGeom>
          <a:ln w="18000">
            <a:solidFill>
              <a:srgbClr val="c76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280000" y="2340000"/>
            <a:ext cx="1800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409600" y="2473200"/>
            <a:ext cx="252000" cy="2520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704800" y="2440800"/>
            <a:ext cx="1278000" cy="538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SemanticMapState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704800" y="26280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entities / places / relations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0098000" y="2646000"/>
            <a:ext cx="144000" cy="0"/>
          </a:xfrm>
          <a:prstGeom prst="line">
            <a:avLst/>
          </a:prstGeom>
          <a:ln w="18000">
            <a:solidFill>
              <a:srgbClr val="0f6b5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0242000" y="2340000"/>
            <a:ext cx="1800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0371600" y="2473200"/>
            <a:ext cx="252000" cy="252000"/>
          </a:xfrm>
          <a:prstGeom prst="ellipse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0666800" y="2440800"/>
            <a:ext cx="1278000" cy="538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101817"/>
                </a:solidFill>
                <a:latin typeface="Arial"/>
              </a:rPr>
              <a:t>Query + Nav2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0666800" y="2628000"/>
            <a:ext cx="12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target to goal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84000" y="3708000"/>
            <a:ext cx="10548000" cy="598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800" spc="-1" strike="noStrike">
                <a:solidFill>
                  <a:srgbClr val="101817"/>
                </a:solidFill>
                <a:latin typeface="Arial"/>
              </a:rPr>
              <a:t>Each module owns one conversion: pixels to detections, detections to 2D grounded points, points to persistent entities, entities to navigable intent.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936000" y="4554000"/>
            <a:ext cx="10296000" cy="900000"/>
          </a:xfrm>
          <a:prstGeom prst="rect">
            <a:avLst/>
          </a:prstGeom>
          <a:solidFill>
            <a:srgbClr val="faf8f2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88000" y="4788000"/>
            <a:ext cx="9720000" cy="598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Design constraint: the same message contracts work in simulation and on the real TurtleBot3 deployment path.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40000" y="558000"/>
            <a:ext cx="7020000" cy="54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Semantic hierarchy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94000" y="1260000"/>
            <a:ext cx="5400000" cy="571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68706d"/>
                </a:solidFill>
                <a:latin typeface="Arial"/>
              </a:rPr>
              <a:t>The semantic map is not a flat detection list. It is a layered structure the robot can query and reason over.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872000" y="1404000"/>
            <a:ext cx="7560000" cy="324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872000" y="1404000"/>
            <a:ext cx="115200" cy="324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059200" y="1458000"/>
            <a:ext cx="187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500" spc="-1" strike="noStrike">
                <a:solidFill>
                  <a:srgbClr val="0f6b5d"/>
                </a:solidFill>
                <a:latin typeface="Arial"/>
              </a:rPr>
              <a:t>SemanticMapState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032000" y="1458000"/>
            <a:ext cx="5256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queryable snapshot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196000" y="1818000"/>
            <a:ext cx="6912000" cy="324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196000" y="1818000"/>
            <a:ext cx="115200" cy="324000"/>
          </a:xfrm>
          <a:prstGeom prst="rect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383200" y="1872000"/>
            <a:ext cx="187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500" spc="-1" strike="noStrike">
                <a:solidFill>
                  <a:srgbClr val="315e8a"/>
                </a:solidFill>
                <a:latin typeface="Arial"/>
              </a:rPr>
              <a:t>Relations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356000" y="1872000"/>
            <a:ext cx="460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near, next_to, contains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520000" y="2232000"/>
            <a:ext cx="6264000" cy="324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520000" y="2232000"/>
            <a:ext cx="115200" cy="324000"/>
          </a:xfrm>
          <a:prstGeom prst="rect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707200" y="2286000"/>
            <a:ext cx="187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500" spc="-1" strike="noStrike">
                <a:solidFill>
                  <a:srgbClr val="c76946"/>
                </a:solidFill>
                <a:latin typeface="Arial"/>
              </a:rPr>
              <a:t>Places + Anchors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680000" y="2286000"/>
            <a:ext cx="39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regions and stable references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844000" y="2646000"/>
            <a:ext cx="5616000" cy="324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844000" y="2646000"/>
            <a:ext cx="115200" cy="324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031200" y="2700000"/>
            <a:ext cx="187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500" spc="-1" strike="noStrike">
                <a:solidFill>
                  <a:srgbClr val="0f6b5d"/>
                </a:solidFill>
                <a:latin typeface="Arial"/>
              </a:rPr>
              <a:t>Entities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004000" y="2700000"/>
            <a:ext cx="331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objects with labels, pose, confidence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168000" y="3060000"/>
            <a:ext cx="4968000" cy="324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168000" y="3060000"/>
            <a:ext cx="115200" cy="324000"/>
          </a:xfrm>
          <a:prstGeom prst="rect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355200" y="3114000"/>
            <a:ext cx="187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500" spc="-1" strike="noStrike">
                <a:solidFill>
                  <a:srgbClr val="315e8a"/>
                </a:solidFill>
                <a:latin typeface="Arial"/>
              </a:rPr>
              <a:t>Observations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328000" y="3114000"/>
            <a:ext cx="266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100" spc="-1" strike="noStrike">
                <a:solidFill>
                  <a:srgbClr val="68706d"/>
                </a:solidFill>
                <a:latin typeface="Arial"/>
              </a:rPr>
              <a:t>camera detections grounded by robot sensors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380000" y="4176000"/>
            <a:ext cx="3780000" cy="118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380000" y="4176000"/>
            <a:ext cx="93600" cy="1188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552800" y="4327200"/>
            <a:ext cx="347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Why it matters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552800" y="4600800"/>
            <a:ext cx="3474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The map preserves meaning and source quality. A target is an object with provenance, not just a coordinate.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40000" y="558000"/>
            <a:ext cx="7020000" cy="54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Grounding and validation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12000" y="1242000"/>
            <a:ext cx="5940000" cy="813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68706d"/>
                </a:solidFill>
                <a:latin typeface="Arial"/>
              </a:rPr>
              <a:t>Camera-only detections are not enough. The stack grounds them in the robot frame before they can become navigation targets.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12000" y="2232000"/>
            <a:ext cx="2484000" cy="154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12000" y="2232000"/>
            <a:ext cx="93600" cy="1548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84800" y="2383200"/>
            <a:ext cx="21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1. Visual detection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84800" y="2656800"/>
            <a:ext cx="21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class + image-space box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420000" y="2232000"/>
            <a:ext cx="2484000" cy="154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420000" y="2232000"/>
            <a:ext cx="93600" cy="1548000"/>
          </a:xfrm>
          <a:prstGeom prst="rect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592800" y="2383200"/>
            <a:ext cx="2178000" cy="598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315e8a"/>
                </a:solidFill>
                <a:latin typeface="Arial"/>
              </a:rPr>
              <a:t>2. LiDAR association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592800" y="2656800"/>
            <a:ext cx="21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bearing to scan range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228000" y="2232000"/>
            <a:ext cx="2484000" cy="154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228000" y="2232000"/>
            <a:ext cx="93600" cy="1548000"/>
          </a:xfrm>
          <a:prstGeom prst="rect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400800" y="2383200"/>
            <a:ext cx="21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c76946"/>
                </a:solidFill>
                <a:latin typeface="Arial"/>
              </a:rPr>
              <a:t>3. TF transform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400800" y="2656800"/>
            <a:ext cx="217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base_link into map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9036000" y="2232000"/>
            <a:ext cx="2484000" cy="1548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9036000" y="2232000"/>
            <a:ext cx="93600" cy="1548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9208800" y="2383200"/>
            <a:ext cx="2178000" cy="598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4. Memory promotion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9208800" y="2656800"/>
            <a:ext cx="2178000" cy="4554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repeated observations become entities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900000" y="4536000"/>
            <a:ext cx="10368000" cy="864000"/>
          </a:xfrm>
          <a:prstGeom prst="rect">
            <a:avLst/>
          </a:prstGeom>
          <a:solidFill>
            <a:srgbClr val="1d27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152000" y="4752000"/>
            <a:ext cx="2880000" cy="598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Provenance-aware output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176000" y="4744800"/>
            <a:ext cx="2340000" cy="445320"/>
          </a:xfrm>
          <a:prstGeom prst="rect">
            <a:avLst/>
          </a:prstGeom>
          <a:solidFill>
            <a:srgbClr val="29443f"/>
          </a:solidFill>
          <a:ln w="9000">
            <a:solidFill>
              <a:srgbClr val="29443f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occupancy_grid_validated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660000" y="4744800"/>
            <a:ext cx="2196000" cy="445320"/>
          </a:xfrm>
          <a:prstGeom prst="rect">
            <a:avLst/>
          </a:prstGeom>
          <a:solidFill>
            <a:srgbClr val="4e3a31"/>
          </a:solidFill>
          <a:ln w="9000">
            <a:solidFill>
              <a:srgbClr val="4e3a31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occupancy_grid_pending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9000000" y="4744800"/>
            <a:ext cx="2016000" cy="445320"/>
          </a:xfrm>
          <a:prstGeom prst="rect">
            <a:avLst/>
          </a:prstGeom>
          <a:solidFill>
            <a:srgbClr val="2c4058"/>
          </a:solidFill>
          <a:ln w="9000">
            <a:solidFill>
              <a:srgbClr val="2c4058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map_bounds_pending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40000" y="558000"/>
            <a:ext cx="7020000" cy="54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Language-to-map reasoning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84000" y="2016000"/>
            <a:ext cx="4932000" cy="2196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84000" y="2016000"/>
            <a:ext cx="93600" cy="2196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856800" y="2167200"/>
            <a:ext cx="4626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Label mapping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856800" y="2440800"/>
            <a:ext cx="4626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Detector labels and human-facing semantic names are separate. A detector output like bench can still satisfy “go to the table” when that is the correct task-level concept.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408000" y="2016000"/>
            <a:ext cx="4932000" cy="2196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408000" y="2016000"/>
            <a:ext cx="93600" cy="2196000"/>
          </a:xfrm>
          <a:prstGeom prst="rect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580800" y="2167200"/>
            <a:ext cx="4626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315e8a"/>
                </a:solidFill>
                <a:latin typeface="Arial"/>
              </a:rPr>
              <a:t>Relationship mapping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580800" y="2440800"/>
            <a:ext cx="4626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The relation layer favors stable spatial vocabulary such as near and next_to, avoiding brittle camera-relative left/right assumptions.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800000" y="4536000"/>
            <a:ext cx="8568000" cy="684000"/>
          </a:xfrm>
          <a:prstGeom prst="rect">
            <a:avLst/>
          </a:prstGeom>
          <a:solidFill>
            <a:srgbClr val="faf8f2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052000" y="4770000"/>
            <a:ext cx="8136000" cy="5101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500" spc="-1" strike="noStrike">
                <a:solidFill>
                  <a:srgbClr val="101817"/>
                </a:solidFill>
                <a:latin typeface="Arial"/>
              </a:rPr>
              <a:t>command: “go to the table”  -&gt;  semantic_name: table  -&gt;  detector_label: bench  -&gt;  selected entity pose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40000" y="558000"/>
            <a:ext cx="7020000" cy="54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COLMAP enrichment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612000" y="1242000"/>
            <a:ext cx="6300000" cy="5713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700" spc="-1" strike="noStrike">
                <a:solidFill>
                  <a:srgbClr val="68706d"/>
                </a:solidFill>
                <a:latin typeface="Arial"/>
              </a:rPr>
              <a:t>For 2D LiDAR robots, visual reconstruction is useful context, but it should not replace robot-native safety grounding.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638000" y="3168000"/>
            <a:ext cx="8874000" cy="0"/>
          </a:xfrm>
          <a:prstGeom prst="line">
            <a:avLst/>
          </a:prstGeom>
          <a:ln w="1620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900000" y="2736000"/>
            <a:ext cx="864000" cy="8640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432000" y="3744000"/>
            <a:ext cx="180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Safety source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288000" y="4050000"/>
            <a:ext cx="2088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LDS-02 scan, odom, TF, and Nav2 costmaps stay authoritative.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500000" y="2736000"/>
            <a:ext cx="864000" cy="864000"/>
          </a:xfrm>
          <a:prstGeom prst="ellipse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032000" y="3744000"/>
            <a:ext cx="180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315e8a"/>
                </a:solidFill>
                <a:latin typeface="Arial"/>
              </a:rPr>
              <a:t>Visual context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888000" y="4050000"/>
            <a:ext cx="2088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COLMAP can add geometry where 2D LiDAR lacks vertical structure.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8100000" y="2736000"/>
            <a:ext cx="864000" cy="864000"/>
          </a:xfrm>
          <a:prstGeom prst="ellipse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632000" y="3744000"/>
            <a:ext cx="1800000" cy="5986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c76946"/>
                </a:solidFill>
                <a:latin typeface="Arial"/>
              </a:rPr>
              <a:t>Enrichment layer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488000" y="4050000"/>
            <a:ext cx="2088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Semantic entities can be refined without changing robot interfaces.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260000" y="5184000"/>
            <a:ext cx="9648000" cy="396000"/>
          </a:xfrm>
          <a:prstGeom prst="rect">
            <a:avLst/>
          </a:prstGeom>
          <a:solidFill>
            <a:srgbClr val="1d27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512000" y="5292000"/>
            <a:ext cx="9216000" cy="5382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Principle: enrich semantics with reconstruction; keep navigation safety tied to robot capabilities.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540000" y="558000"/>
            <a:ext cx="7020000" cy="54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Sim-to-real deployment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684000" y="2016000"/>
            <a:ext cx="3240000" cy="2196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84000" y="2016000"/>
            <a:ext cx="93600" cy="2196000"/>
          </a:xfrm>
          <a:prstGeom prst="rect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56800" y="2167200"/>
            <a:ext cx="293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0f6b5d"/>
                </a:solidFill>
                <a:latin typeface="Arial"/>
              </a:rPr>
              <a:t>Robot target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856800" y="2440800"/>
            <a:ext cx="2934000" cy="639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TurtleBot3 Waffle-style ROS 2 Humble stack with LDS-02 LiDAR and USB camera perception.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4464000" y="2016000"/>
            <a:ext cx="3240000" cy="2196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4464000" y="2016000"/>
            <a:ext cx="93600" cy="2196000"/>
          </a:xfrm>
          <a:prstGeom prst="rect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636800" y="2167200"/>
            <a:ext cx="293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315e8a"/>
                </a:solidFill>
                <a:latin typeface="Arial"/>
              </a:rPr>
              <a:t>Launch discipline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636800" y="2440800"/>
            <a:ext cx="2934000" cy="824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One real stack launch path, no fake detections, no bootstrap semantic objects, and motion initially gated for safety.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8244000" y="2016000"/>
            <a:ext cx="3240000" cy="2196000"/>
          </a:xfrm>
          <a:prstGeom prst="rect">
            <a:avLst/>
          </a:prstGeom>
          <a:solidFill>
            <a:srgbClr val="ffffff"/>
          </a:solidFill>
          <a:ln w="7920">
            <a:solidFill>
              <a:srgbClr val="d9d1c2"/>
            </a:solidFill>
            <a:round/>
          </a:ln>
        </p:spPr>
        <p:txBody>
          <a:bodyPr lIns="93960" rIns="93960" tIns="48960" bIns="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8244000" y="2016000"/>
            <a:ext cx="93600" cy="2196000"/>
          </a:xfrm>
          <a:prstGeom prst="rect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8416800" y="2167200"/>
            <a:ext cx="293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800" spc="-1" strike="noStrike">
                <a:solidFill>
                  <a:srgbClr val="c76946"/>
                </a:solidFill>
                <a:latin typeface="Arial"/>
              </a:rPr>
              <a:t>Validated flow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416800" y="2440800"/>
            <a:ext cx="2934000" cy="82404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300" spc="-1" strike="noStrike">
                <a:solidFill>
                  <a:srgbClr val="101817"/>
                </a:solidFill>
                <a:latin typeface="Arial"/>
              </a:rPr>
              <a:t>Camera detection -&gt; localizer -&gt; semantic memory -&gt; SemanticMapState -&gt; query/Nav2 integration.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900000" y="4752000"/>
            <a:ext cx="10260000" cy="6231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900" spc="-1" strike="noStrike">
                <a:solidFill>
                  <a:srgbClr val="101817"/>
                </a:solidFill>
                <a:latin typeface="Arial"/>
              </a:rPr>
              <a:t>Key fix from real testing: semantic landmarks can remain provisional when SLAM bounds lag behind LiDAR-grounded observations.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6f1e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540000" y="306000"/>
            <a:ext cx="30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0f6b5d"/>
                </a:solidFill>
                <a:latin typeface="Arial"/>
              </a:rPr>
              <a:t>SEMANTIC NAVIGATION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40000" y="558000"/>
            <a:ext cx="7020000" cy="99828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200" spc="-1" strike="noStrike">
                <a:solidFill>
                  <a:srgbClr val="101817"/>
                </a:solidFill>
                <a:latin typeface="Arial"/>
              </a:rPr>
              <a:t>What changed in this implementation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936000" y="1872000"/>
            <a:ext cx="10296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116000" y="2026800"/>
            <a:ext cx="295200" cy="2952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548000" y="1994400"/>
            <a:ext cx="248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0f6b5d"/>
                </a:solidFill>
                <a:latin typeface="Arial"/>
              </a:rPr>
              <a:t>Clean real stack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068000" y="2001600"/>
            <a:ext cx="66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00" spc="-1" strike="noStrike">
                <a:solidFill>
                  <a:srgbClr val="101817"/>
                </a:solidFill>
                <a:latin typeface="Arial"/>
              </a:rPr>
              <a:t>Removed mock artifacts and routed semantic state through persistent memory.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936000" y="2700000"/>
            <a:ext cx="10296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116000" y="2854800"/>
            <a:ext cx="295200" cy="295200"/>
          </a:xfrm>
          <a:prstGeom prst="ellipse">
            <a:avLst/>
          </a:prstGeom>
          <a:solidFill>
            <a:srgbClr val="315e8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548000" y="2822400"/>
            <a:ext cx="248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315e8a"/>
                </a:solidFill>
                <a:latin typeface="Arial"/>
              </a:rPr>
              <a:t>ROS 2 compatibility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068000" y="2829600"/>
            <a:ext cx="66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00" spc="-1" strike="noStrike">
                <a:solidFill>
                  <a:srgbClr val="101817"/>
                </a:solidFill>
                <a:latin typeface="Arial"/>
              </a:rPr>
              <a:t>Fixed launch/config details for Humble, Nav2 lifecycle, and LDS-02 bringup.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936000" y="3528000"/>
            <a:ext cx="10296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116000" y="3682800"/>
            <a:ext cx="295200" cy="295200"/>
          </a:xfrm>
          <a:prstGeom prst="ellipse">
            <a:avLst/>
          </a:prstGeom>
          <a:solidFill>
            <a:srgbClr val="c7694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548000" y="3650400"/>
            <a:ext cx="248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c76946"/>
                </a:solidFill>
                <a:latin typeface="Arial"/>
              </a:rPr>
              <a:t>SemanticMapState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068000" y="3657600"/>
            <a:ext cx="66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00" spc="-1" strike="noStrike">
                <a:solidFill>
                  <a:srgbClr val="101817"/>
                </a:solidFill>
                <a:latin typeface="Arial"/>
              </a:rPr>
              <a:t>Published persistent memory as the native semantic map consumed by query.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936000" y="4356000"/>
            <a:ext cx="10296000" cy="612000"/>
          </a:xfrm>
          <a:prstGeom prst="rect">
            <a:avLst/>
          </a:prstGeom>
          <a:solidFill>
            <a:srgbClr val="ffffff"/>
          </a:solidFill>
          <a:ln w="7200">
            <a:solidFill>
              <a:srgbClr val="d9d1c2"/>
            </a:solidFill>
            <a:round/>
          </a:ln>
        </p:spPr>
        <p:txBody>
          <a:bodyPr lIns="93600" rIns="93600" tIns="48600" bIns="486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1116000" y="4510800"/>
            <a:ext cx="295200" cy="295200"/>
          </a:xfrm>
          <a:prstGeom prst="ellipse">
            <a:avLst/>
          </a:prstGeom>
          <a:solidFill>
            <a:srgbClr val="0f6b5d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548000" y="4478400"/>
            <a:ext cx="248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700" spc="-1" strike="noStrike">
                <a:solidFill>
                  <a:srgbClr val="0f6b5d"/>
                </a:solidFill>
                <a:latin typeface="Arial"/>
              </a:rPr>
              <a:t>Provisional landmarks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4068000" y="4485600"/>
            <a:ext cx="666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400" spc="-1" strike="noStrike">
                <a:solidFill>
                  <a:srgbClr val="101817"/>
                </a:solidFill>
                <a:latin typeface="Arial"/>
              </a:rPr>
              <a:t>Allowed real LiDAR-grounded entities to survive temporary map-edge conditions.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d9d1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68706d"/>
                </a:solidFill>
                <a:latin typeface="Arial"/>
              </a:rPr>
              <a:t>09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d27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d272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12000" y="540000"/>
            <a:ext cx="2808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1000" spc="-1" strike="noStrike">
                <a:solidFill>
                  <a:srgbClr val="dce8e2"/>
                </a:solidFill>
                <a:latin typeface="Arial"/>
              </a:rPr>
              <a:t>TAKEAWAY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12000" y="1116000"/>
            <a:ext cx="8820000" cy="111060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</a:rPr>
              <a:t>The robot builds a semantic operating model from live perception.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30000" y="2196000"/>
            <a:ext cx="8136000" cy="62316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900" spc="-1" strike="noStrike">
                <a:solidFill>
                  <a:srgbClr val="c9d2ce"/>
                </a:solidFill>
                <a:latin typeface="Arial"/>
              </a:rPr>
              <a:t>Not a scripted map. Not fake detections. A layered, provenance-aware semantic map tied to the robot’s actual sensing and navigation stack.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12000" y="3060000"/>
            <a:ext cx="1404000" cy="445320"/>
          </a:xfrm>
          <a:prstGeom prst="rect">
            <a:avLst/>
          </a:prstGeom>
          <a:solidFill>
            <a:srgbClr val="28443f"/>
          </a:solidFill>
          <a:ln w="9000">
            <a:solidFill>
              <a:srgbClr val="28443f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objects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232000" y="3060000"/>
            <a:ext cx="1404000" cy="445320"/>
          </a:xfrm>
          <a:prstGeom prst="rect">
            <a:avLst/>
          </a:prstGeom>
          <a:solidFill>
            <a:srgbClr val="2c4058"/>
          </a:solidFill>
          <a:ln w="9000">
            <a:solidFill>
              <a:srgbClr val="2c4058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places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852000" y="3060000"/>
            <a:ext cx="1404000" cy="445320"/>
          </a:xfrm>
          <a:prstGeom prst="rect">
            <a:avLst/>
          </a:prstGeom>
          <a:solidFill>
            <a:srgbClr val="533b32"/>
          </a:solidFill>
          <a:ln w="9000">
            <a:solidFill>
              <a:srgbClr val="533b32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relations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472000" y="3060000"/>
            <a:ext cx="1404000" cy="445320"/>
          </a:xfrm>
          <a:prstGeom prst="rect">
            <a:avLst/>
          </a:prstGeom>
          <a:solidFill>
            <a:srgbClr val="28443f"/>
          </a:solidFill>
          <a:ln w="9000">
            <a:solidFill>
              <a:srgbClr val="28443f"/>
            </a:solidFill>
            <a:round/>
          </a:ln>
        </p:spPr>
        <p:txBody>
          <a:bodyPr lIns="54000" rIns="54000" tIns="54000" bIns="5400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Arial"/>
              </a:rPr>
              <a:t>goals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920000" y="1080000"/>
            <a:ext cx="2916000" cy="2808000"/>
          </a:xfrm>
          <a:prstGeom prst="rect">
            <a:avLst/>
          </a:prstGeom>
          <a:solidFill>
            <a:srgbClr val="22312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8208000" y="1404000"/>
            <a:ext cx="2304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1" lang="en-US" sz="2000" spc="-1" strike="noStrike">
                <a:solidFill>
                  <a:srgbClr val="dce8e2"/>
                </a:solidFill>
                <a:latin typeface="Arial"/>
              </a:rPr>
              <a:t>Next steps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8208000" y="1836000"/>
            <a:ext cx="2304000" cy="18925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Longer floor runs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Camera calibration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Richer relation vocabulary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COLMAP enrichment jobs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Query-driven exploration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540000" y="6436800"/>
            <a:ext cx="11106000" cy="0"/>
          </a:xfrm>
          <a:prstGeom prst="line">
            <a:avLst/>
          </a:prstGeom>
          <a:ln w="7920">
            <a:solidFill>
              <a:srgbClr val="5261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960" rIns="93960" tIns="-48960" bIns="-4896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540000" y="6454800"/>
            <a:ext cx="3240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a7b4af"/>
                </a:solidFill>
                <a:latin typeface="Arial"/>
              </a:rPr>
              <a:t>semantic-nav / ROS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1124000" y="6454800"/>
            <a:ext cx="432000" cy="423720"/>
          </a:xfrm>
          <a:prstGeom prst="rect">
            <a:avLst/>
          </a:prstGeom>
          <a:noFill/>
          <a:ln w="0">
            <a:noFill/>
          </a:ln>
        </p:spPr>
        <p:txBody>
          <a:bodyPr lIns="43200" rIns="43200" tIns="43200" bIns="43200" anchor="t">
            <a:noAutofit/>
          </a:bodyPr>
          <a:p>
            <a:r>
              <a:rPr b="0" lang="en-US" sz="800" spc="-1" strike="noStrike">
                <a:solidFill>
                  <a:srgbClr val="a7b4af"/>
                </a:solidFill>
                <a:latin typeface="Arial"/>
              </a:rPr>
              <a:t>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2026-05-07T09:37:32Z</dcterms:created>
  <dc:creator/>
  <dc:description/>
  <dc:language>en-US</dc:language>
  <cp:lastModifiedBy/>
  <dcterms:modified xsi:type="dcterms:W3CDTF">2026-05-07T09:37:33Z</dcterms:modified>
  <cp:revision>1</cp:revision>
  <dc:subject/>
  <dc:title/>
</cp:coreProperties>
</file>